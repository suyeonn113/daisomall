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67" r:id="rId3"/>
    <p:sldId id="265" r:id="rId4"/>
    <p:sldId id="268" r:id="rId5"/>
    <p:sldId id="269" r:id="rId6"/>
    <p:sldId id="299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64" r:id="rId17"/>
    <p:sldId id="287" r:id="rId18"/>
  </p:sldIdLst>
  <p:sldSz cx="18288000" cy="10287000"/>
  <p:notesSz cx="6858000" cy="9144000"/>
  <p:embeddedFontLst>
    <p:embeddedFont>
      <p:font typeface="Noto Sans KR" panose="020B0200000000000000" pitchFamily="50" charset="-127"/>
      <p:regular r:id="rId2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5AD4"/>
    <a:srgbClr val="EDEDED"/>
    <a:srgbClr val="4A4A4A"/>
    <a:srgbClr val="FFFFFF"/>
    <a:srgbClr val="323232"/>
    <a:srgbClr val="837B54"/>
    <a:srgbClr val="EEEDED"/>
    <a:srgbClr val="F630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0695" autoAdjust="0"/>
  </p:normalViewPr>
  <p:slideViewPr>
    <p:cSldViewPr>
      <p:cViewPr varScale="1">
        <p:scale>
          <a:sx n="66" d="100"/>
          <a:sy n="66" d="100"/>
        </p:scale>
        <p:origin x="18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173F7-5A5E-4A50-89C0-EDAEB472E720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0AE18-7535-4683-A0C5-4484B10640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671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0AE18-7535-4683-A0C5-4484B106400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888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0AE18-7535-4683-A0C5-4484B106400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076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5A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8796" y="2085590"/>
            <a:ext cx="7276107" cy="476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ko-KR" altLang="en-US" sz="3000" spc="60">
                <a:solidFill>
                  <a:srgbClr val="F3F8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팀 프로젝트</a:t>
            </a:r>
            <a:endParaRPr lang="en-US" sz="3000" spc="60">
              <a:solidFill>
                <a:srgbClr val="F3F8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6522" y="2572605"/>
            <a:ext cx="12637452" cy="229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6"/>
              </a:lnSpc>
              <a:spcBef>
                <a:spcPct val="0"/>
              </a:spcBef>
            </a:pPr>
            <a:r>
              <a:rPr lang="ko-KR" altLang="en-US" sz="11000" b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AFF8FF">
                        <a:alpha val="100000"/>
                      </a:srgbClr>
                    </a:gs>
                  </a:gsLst>
                  <a:lin ang="0"/>
                </a:gradFill>
                <a:latin typeface="Noto Sans KR" panose="020B0200000000000000" pitchFamily="50" charset="-127"/>
                <a:ea typeface="Noto Sans KR" panose="020B0200000000000000" pitchFamily="50" charset="-127"/>
                <a:cs typeface="Garet Bold"/>
                <a:sym typeface="Garet Bold"/>
              </a:rPr>
              <a:t>다이소몰 리뉴얼</a:t>
            </a:r>
            <a:endParaRPr lang="en-US" sz="11000" b="1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AFF8FF">
                      <a:alpha val="100000"/>
                    </a:srgbClr>
                  </a:gs>
                </a:gsLst>
                <a:lin ang="0"/>
              </a:gradFill>
              <a:latin typeface="Noto Sans KR" panose="020B0200000000000000" pitchFamily="50" charset="-127"/>
              <a:ea typeface="Noto Sans KR" panose="020B0200000000000000" pitchFamily="50" charset="-127"/>
              <a:cs typeface="Garet Bold"/>
              <a:sym typeface="Garet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1706097" y="4591069"/>
            <a:ext cx="986391" cy="986391"/>
          </a:xfrm>
          <a:custGeom>
            <a:avLst/>
            <a:gdLst/>
            <a:ahLst/>
            <a:cxnLst/>
            <a:rect l="l" t="t" r="r" b="b"/>
            <a:pathLst>
              <a:path w="986391" h="986391">
                <a:moveTo>
                  <a:pt x="0" y="0"/>
                </a:moveTo>
                <a:lnTo>
                  <a:pt x="986391" y="0"/>
                </a:lnTo>
                <a:lnTo>
                  <a:pt x="986391" y="986391"/>
                </a:lnTo>
                <a:lnTo>
                  <a:pt x="0" y="986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7D30B8F8-CA54-4C1B-A546-EB71E2CB79E1}"/>
              </a:ext>
            </a:extLst>
          </p:cNvPr>
          <p:cNvSpPr txBox="1"/>
          <p:nvPr/>
        </p:nvSpPr>
        <p:spPr>
          <a:xfrm>
            <a:off x="1616522" y="8801100"/>
            <a:ext cx="7276107" cy="419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ko-KR" altLang="en-US" sz="2400" spc="60">
                <a:solidFill>
                  <a:srgbClr val="F3F8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팀 리더 조수연 </a:t>
            </a:r>
            <a:r>
              <a:rPr lang="en-US" altLang="ko-KR" sz="2400" spc="60">
                <a:solidFill>
                  <a:srgbClr val="F3F8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/ </a:t>
            </a:r>
            <a:r>
              <a:rPr lang="ko-KR" altLang="en-US" sz="2400" spc="60">
                <a:solidFill>
                  <a:srgbClr val="F3F8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팀원 오희경  </a:t>
            </a:r>
            <a:r>
              <a:rPr lang="en-US" altLang="ko-KR" sz="2400" spc="60">
                <a:solidFill>
                  <a:srgbClr val="F3F8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/ </a:t>
            </a:r>
            <a:r>
              <a:rPr lang="ko-KR" altLang="en-US" sz="2400" spc="60">
                <a:solidFill>
                  <a:srgbClr val="F3F8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팀원 성아인  </a:t>
            </a:r>
            <a:endParaRPr lang="en-US" sz="2400" spc="60">
              <a:solidFill>
                <a:srgbClr val="F3F8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6590545" y="1013288"/>
            <a:ext cx="5106911" cy="100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14"/>
              </a:lnSpc>
            </a:pPr>
            <a:r>
              <a:rPr lang="en-US" altLang="ko-KR" sz="6511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rPr>
              <a:t>Index</a:t>
            </a:r>
            <a:endParaRPr lang="en-US" sz="6511" b="1">
              <a:solidFill>
                <a:srgbClr val="425AD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Bold"/>
              <a:sym typeface="프리젠테이션 Bold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106E712-87B9-4449-80A4-488EC4C0DAEA}"/>
              </a:ext>
            </a:extLst>
          </p:cNvPr>
          <p:cNvGrpSpPr/>
          <p:nvPr/>
        </p:nvGrpSpPr>
        <p:grpSpPr>
          <a:xfrm>
            <a:off x="1424666" y="3009899"/>
            <a:ext cx="6021804" cy="5761095"/>
            <a:chOff x="1143000" y="2287545"/>
            <a:chExt cx="6021804" cy="5761095"/>
          </a:xfrm>
        </p:grpSpPr>
        <p:sp>
          <p:nvSpPr>
            <p:cNvPr id="5" name="AutoShape 5"/>
            <p:cNvSpPr/>
            <p:nvPr/>
          </p:nvSpPr>
          <p:spPr>
            <a:xfrm>
              <a:off x="1143000" y="2287545"/>
              <a:ext cx="4187619" cy="0"/>
            </a:xfrm>
            <a:prstGeom prst="line">
              <a:avLst/>
            </a:prstGeom>
            <a:ln w="9525" cap="flat">
              <a:solidFill>
                <a:srgbClr val="A3A3A3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A0894E9-668E-47FE-8529-C22B7728AB11}"/>
                </a:ext>
              </a:extLst>
            </p:cNvPr>
            <p:cNvGrpSpPr/>
            <p:nvPr/>
          </p:nvGrpSpPr>
          <p:grpSpPr>
            <a:xfrm>
              <a:off x="1143000" y="2595886"/>
              <a:ext cx="5974912" cy="795014"/>
              <a:chOff x="1527381" y="2595886"/>
              <a:chExt cx="5974912" cy="795014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0B9F1A0-1292-42CE-8E54-C08D2143C680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팀 소개 및 역할 분담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01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96" name="AutoShape 5">
                <a:extLst>
                  <a:ext uri="{FF2B5EF4-FFF2-40B4-BE49-F238E27FC236}">
                    <a16:creationId xmlns:a16="http://schemas.microsoft.com/office/drawing/2014/main" id="{1949518A-2ED9-427F-BF53-30A1EB7631D0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0C17BB7A-3F07-43A8-A487-B26AED7F3BE0}"/>
                </a:ext>
              </a:extLst>
            </p:cNvPr>
            <p:cNvGrpSpPr/>
            <p:nvPr/>
          </p:nvGrpSpPr>
          <p:grpSpPr>
            <a:xfrm>
              <a:off x="1143000" y="3760321"/>
              <a:ext cx="5974912" cy="795014"/>
              <a:chOff x="1527381" y="2595886"/>
              <a:chExt cx="5974912" cy="795014"/>
            </a:xfrm>
          </p:grpSpPr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9EAEFE23-6411-457E-B279-3C078F946EC3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00" name="TextBox 12">
                  <a:extLst>
                    <a:ext uri="{FF2B5EF4-FFF2-40B4-BE49-F238E27FC236}">
                      <a16:creationId xmlns:a16="http://schemas.microsoft.com/office/drawing/2014/main" id="{DAEA879C-40C3-4B71-A4D7-4154B0A9F3D5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기획 배경 및 의도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01" name="TextBox 18">
                  <a:extLst>
                    <a:ext uri="{FF2B5EF4-FFF2-40B4-BE49-F238E27FC236}">
                      <a16:creationId xmlns:a16="http://schemas.microsoft.com/office/drawing/2014/main" id="{E27226B9-55B1-452D-8A17-AE87E682A222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02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99" name="AutoShape 5">
                <a:extLst>
                  <a:ext uri="{FF2B5EF4-FFF2-40B4-BE49-F238E27FC236}">
                    <a16:creationId xmlns:a16="http://schemas.microsoft.com/office/drawing/2014/main" id="{A2C3501C-E517-4801-A395-6C5DD291D966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44C884DF-9050-4CA1-8518-89EA746C433B}"/>
                </a:ext>
              </a:extLst>
            </p:cNvPr>
            <p:cNvGrpSpPr/>
            <p:nvPr/>
          </p:nvGrpSpPr>
          <p:grpSpPr>
            <a:xfrm>
              <a:off x="1143000" y="4924756"/>
              <a:ext cx="5974912" cy="795014"/>
              <a:chOff x="1527381" y="2595886"/>
              <a:chExt cx="5974912" cy="795014"/>
            </a:xfrm>
          </p:grpSpPr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2E804734-E375-4BA6-B4E4-18893D286C63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05" name="TextBox 12">
                  <a:extLst>
                    <a:ext uri="{FF2B5EF4-FFF2-40B4-BE49-F238E27FC236}">
                      <a16:creationId xmlns:a16="http://schemas.microsoft.com/office/drawing/2014/main" id="{46340D7A-361A-4B3F-8837-3AB81773F22E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사이트 분석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06" name="TextBox 18">
                  <a:extLst>
                    <a:ext uri="{FF2B5EF4-FFF2-40B4-BE49-F238E27FC236}">
                      <a16:creationId xmlns:a16="http://schemas.microsoft.com/office/drawing/2014/main" id="{EDE94904-FC47-4E44-A35C-952B9D42BBD1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03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104" name="AutoShape 5">
                <a:extLst>
                  <a:ext uri="{FF2B5EF4-FFF2-40B4-BE49-F238E27FC236}">
                    <a16:creationId xmlns:a16="http://schemas.microsoft.com/office/drawing/2014/main" id="{1216E25A-AE02-4B13-993C-6DD08D2D21CE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4C88750F-9162-4171-8B6E-202A821E1A37}"/>
                </a:ext>
              </a:extLst>
            </p:cNvPr>
            <p:cNvGrpSpPr/>
            <p:nvPr/>
          </p:nvGrpSpPr>
          <p:grpSpPr>
            <a:xfrm>
              <a:off x="1180514" y="6089191"/>
              <a:ext cx="5974912" cy="795014"/>
              <a:chOff x="1527381" y="2595886"/>
              <a:chExt cx="5974912" cy="795014"/>
            </a:xfrm>
          </p:grpSpPr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7BA2E374-735D-4AD9-BEFF-B7583287D7FC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10" name="TextBox 12">
                  <a:extLst>
                    <a:ext uri="{FF2B5EF4-FFF2-40B4-BE49-F238E27FC236}">
                      <a16:creationId xmlns:a16="http://schemas.microsoft.com/office/drawing/2014/main" id="{052BF95B-95D5-4802-A17B-4F8D9C7350E7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벤치마킹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11" name="TextBox 18">
                  <a:extLst>
                    <a:ext uri="{FF2B5EF4-FFF2-40B4-BE49-F238E27FC236}">
                      <a16:creationId xmlns:a16="http://schemas.microsoft.com/office/drawing/2014/main" id="{D83BAA24-874C-4311-95E4-819487B90CD7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04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109" name="AutoShape 5">
                <a:extLst>
                  <a:ext uri="{FF2B5EF4-FFF2-40B4-BE49-F238E27FC236}">
                    <a16:creationId xmlns:a16="http://schemas.microsoft.com/office/drawing/2014/main" id="{06B47C7F-A6F4-439A-B19A-34E345B9CD78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0068CD9A-3392-4DB8-9C09-1562E8EDA25C}"/>
                </a:ext>
              </a:extLst>
            </p:cNvPr>
            <p:cNvGrpSpPr/>
            <p:nvPr/>
          </p:nvGrpSpPr>
          <p:grpSpPr>
            <a:xfrm>
              <a:off x="1189892" y="7253626"/>
              <a:ext cx="5974912" cy="795014"/>
              <a:chOff x="1527381" y="2595886"/>
              <a:chExt cx="5974912" cy="795014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694D719C-AB75-41F9-BC67-D791306DE687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15" name="TextBox 12">
                  <a:extLst>
                    <a:ext uri="{FF2B5EF4-FFF2-40B4-BE49-F238E27FC236}">
                      <a16:creationId xmlns:a16="http://schemas.microsoft.com/office/drawing/2014/main" id="{1D456155-3BCB-4393-BB63-096AEB3F80CC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페르소나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16" name="TextBox 18">
                  <a:extLst>
                    <a:ext uri="{FF2B5EF4-FFF2-40B4-BE49-F238E27FC236}">
                      <a16:creationId xmlns:a16="http://schemas.microsoft.com/office/drawing/2014/main" id="{A0CEEAFB-B48A-4920-AFEB-341B1038A7EE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05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114" name="AutoShape 5">
                <a:extLst>
                  <a:ext uri="{FF2B5EF4-FFF2-40B4-BE49-F238E27FC236}">
                    <a16:creationId xmlns:a16="http://schemas.microsoft.com/office/drawing/2014/main" id="{AC8F2368-FBE1-428D-A2A8-EAB3A0448F5F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07017430-094E-428B-876A-233D1CD40E86}"/>
              </a:ext>
            </a:extLst>
          </p:cNvPr>
          <p:cNvGrpSpPr/>
          <p:nvPr/>
        </p:nvGrpSpPr>
        <p:grpSpPr>
          <a:xfrm>
            <a:off x="6845431" y="3009899"/>
            <a:ext cx="6021804" cy="5761095"/>
            <a:chOff x="1143000" y="2287545"/>
            <a:chExt cx="6021804" cy="5761095"/>
          </a:xfrm>
        </p:grpSpPr>
        <p:sp>
          <p:nvSpPr>
            <p:cNvPr id="118" name="AutoShape 5">
              <a:extLst>
                <a:ext uri="{FF2B5EF4-FFF2-40B4-BE49-F238E27FC236}">
                  <a16:creationId xmlns:a16="http://schemas.microsoft.com/office/drawing/2014/main" id="{11F51D0C-AAF6-4153-9100-5B18606764FD}"/>
                </a:ext>
              </a:extLst>
            </p:cNvPr>
            <p:cNvSpPr/>
            <p:nvPr/>
          </p:nvSpPr>
          <p:spPr>
            <a:xfrm>
              <a:off x="1143000" y="2287545"/>
              <a:ext cx="4187619" cy="0"/>
            </a:xfrm>
            <a:prstGeom prst="line">
              <a:avLst/>
            </a:prstGeom>
            <a:ln w="9525" cap="flat">
              <a:solidFill>
                <a:srgbClr val="A3A3A3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51D6BFBD-00D3-4C83-B6FC-7AA3D4E4B2A0}"/>
                </a:ext>
              </a:extLst>
            </p:cNvPr>
            <p:cNvGrpSpPr/>
            <p:nvPr/>
          </p:nvGrpSpPr>
          <p:grpSpPr>
            <a:xfrm>
              <a:off x="1143000" y="2595886"/>
              <a:ext cx="5974912" cy="795014"/>
              <a:chOff x="1527381" y="2595886"/>
              <a:chExt cx="5974912" cy="795014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4039B179-8EC2-4AF5-ABB9-64D484D0E05A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83" name="TextBox 12">
                  <a:extLst>
                    <a:ext uri="{FF2B5EF4-FFF2-40B4-BE49-F238E27FC236}">
                      <a16:creationId xmlns:a16="http://schemas.microsoft.com/office/drawing/2014/main" id="{809C00E8-16C7-4766-AFED-DC6023C032E0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리뉴얼 방향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84" name="TextBox 18">
                  <a:extLst>
                    <a:ext uri="{FF2B5EF4-FFF2-40B4-BE49-F238E27FC236}">
                      <a16:creationId xmlns:a16="http://schemas.microsoft.com/office/drawing/2014/main" id="{B70291CE-C949-4851-B22D-C0B41F45868F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06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182" name="AutoShape 5">
                <a:extLst>
                  <a:ext uri="{FF2B5EF4-FFF2-40B4-BE49-F238E27FC236}">
                    <a16:creationId xmlns:a16="http://schemas.microsoft.com/office/drawing/2014/main" id="{2D821A5F-A618-4306-948A-4F525993F6A3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9EE9EBF9-0B8E-43B6-B902-E4694604E0A0}"/>
                </a:ext>
              </a:extLst>
            </p:cNvPr>
            <p:cNvGrpSpPr/>
            <p:nvPr/>
          </p:nvGrpSpPr>
          <p:grpSpPr>
            <a:xfrm>
              <a:off x="1143000" y="3760321"/>
              <a:ext cx="5974912" cy="795014"/>
              <a:chOff x="1527381" y="2595886"/>
              <a:chExt cx="5974912" cy="795014"/>
            </a:xfrm>
          </p:grpSpPr>
          <p:grpSp>
            <p:nvGrpSpPr>
              <p:cNvPr id="177" name="그룹 176">
                <a:extLst>
                  <a:ext uri="{FF2B5EF4-FFF2-40B4-BE49-F238E27FC236}">
                    <a16:creationId xmlns:a16="http://schemas.microsoft.com/office/drawing/2014/main" id="{F8D8F1CE-BBCD-4261-B978-4E6ECF312FD0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79" name="TextBox 12">
                  <a:extLst>
                    <a:ext uri="{FF2B5EF4-FFF2-40B4-BE49-F238E27FC236}">
                      <a16:creationId xmlns:a16="http://schemas.microsoft.com/office/drawing/2014/main" id="{751E6DAA-3CC3-48B4-956A-3A5F69C6C7F1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메인 화면 구성 전략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80" name="TextBox 18">
                  <a:extLst>
                    <a:ext uri="{FF2B5EF4-FFF2-40B4-BE49-F238E27FC236}">
                      <a16:creationId xmlns:a16="http://schemas.microsoft.com/office/drawing/2014/main" id="{80F5F1D1-1450-4BB0-BE1F-82E0A2D19671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07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178" name="AutoShape 5">
                <a:extLst>
                  <a:ext uri="{FF2B5EF4-FFF2-40B4-BE49-F238E27FC236}">
                    <a16:creationId xmlns:a16="http://schemas.microsoft.com/office/drawing/2014/main" id="{C7D0314F-CE18-4D2A-AEFD-DA36F1277EA3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9F26F247-56A4-4E5F-B5AF-323BEBCAC8DD}"/>
                </a:ext>
              </a:extLst>
            </p:cNvPr>
            <p:cNvGrpSpPr/>
            <p:nvPr/>
          </p:nvGrpSpPr>
          <p:grpSpPr>
            <a:xfrm>
              <a:off x="1143000" y="4924756"/>
              <a:ext cx="5974912" cy="795014"/>
              <a:chOff x="1527381" y="2595886"/>
              <a:chExt cx="5974912" cy="795014"/>
            </a:xfrm>
          </p:grpSpPr>
          <p:grpSp>
            <p:nvGrpSpPr>
              <p:cNvPr id="173" name="그룹 172">
                <a:extLst>
                  <a:ext uri="{FF2B5EF4-FFF2-40B4-BE49-F238E27FC236}">
                    <a16:creationId xmlns:a16="http://schemas.microsoft.com/office/drawing/2014/main" id="{BF566D26-C5A4-4795-A5EB-A437C0EC9F5B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75" name="TextBox 12">
                  <a:extLst>
                    <a:ext uri="{FF2B5EF4-FFF2-40B4-BE49-F238E27FC236}">
                      <a16:creationId xmlns:a16="http://schemas.microsoft.com/office/drawing/2014/main" id="{682B175B-FDC6-483A-A23F-7880C0DB970F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스타일 가이드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76" name="TextBox 18">
                  <a:extLst>
                    <a:ext uri="{FF2B5EF4-FFF2-40B4-BE49-F238E27FC236}">
                      <a16:creationId xmlns:a16="http://schemas.microsoft.com/office/drawing/2014/main" id="{1AB1B7FB-4430-4DB2-ADF1-485C2666D02E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08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174" name="AutoShape 5">
                <a:extLst>
                  <a:ext uri="{FF2B5EF4-FFF2-40B4-BE49-F238E27FC236}">
                    <a16:creationId xmlns:a16="http://schemas.microsoft.com/office/drawing/2014/main" id="{F20F117A-3B29-4458-9366-81CCE4C75984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A2A306DB-53EE-45A8-BF60-AC827CBEC0B8}"/>
                </a:ext>
              </a:extLst>
            </p:cNvPr>
            <p:cNvGrpSpPr/>
            <p:nvPr/>
          </p:nvGrpSpPr>
          <p:grpSpPr>
            <a:xfrm>
              <a:off x="1180514" y="6089191"/>
              <a:ext cx="5974912" cy="795014"/>
              <a:chOff x="1527381" y="2595886"/>
              <a:chExt cx="5974912" cy="795014"/>
            </a:xfrm>
          </p:grpSpPr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5821CCF3-8D78-493B-AA18-26743724B275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71" name="TextBox 12">
                  <a:extLst>
                    <a:ext uri="{FF2B5EF4-FFF2-40B4-BE49-F238E27FC236}">
                      <a16:creationId xmlns:a16="http://schemas.microsoft.com/office/drawing/2014/main" id="{1FC17B94-35E2-43D2-8551-C86AEE6C4770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정보 구조 설계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72" name="TextBox 18">
                  <a:extLst>
                    <a:ext uri="{FF2B5EF4-FFF2-40B4-BE49-F238E27FC236}">
                      <a16:creationId xmlns:a16="http://schemas.microsoft.com/office/drawing/2014/main" id="{56DD2A27-E20C-48D6-91C9-D4A294170B63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09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170" name="AutoShape 5">
                <a:extLst>
                  <a:ext uri="{FF2B5EF4-FFF2-40B4-BE49-F238E27FC236}">
                    <a16:creationId xmlns:a16="http://schemas.microsoft.com/office/drawing/2014/main" id="{3D4C0047-53F9-406F-B41A-BF0A5B24E7D6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2B95061B-EE79-4B55-B009-070BF1843E97}"/>
                </a:ext>
              </a:extLst>
            </p:cNvPr>
            <p:cNvGrpSpPr/>
            <p:nvPr/>
          </p:nvGrpSpPr>
          <p:grpSpPr>
            <a:xfrm>
              <a:off x="1189892" y="7253626"/>
              <a:ext cx="5974912" cy="795014"/>
              <a:chOff x="1527381" y="2595886"/>
              <a:chExt cx="5974912" cy="795014"/>
            </a:xfrm>
          </p:grpSpPr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151A34A4-A69B-488B-9F86-5D1BA6698647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67" name="TextBox 12">
                  <a:extLst>
                    <a:ext uri="{FF2B5EF4-FFF2-40B4-BE49-F238E27FC236}">
                      <a16:creationId xmlns:a16="http://schemas.microsoft.com/office/drawing/2014/main" id="{DD05BCC1-80FE-4019-B318-033EC230DD4F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워크플로우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68" name="TextBox 18">
                  <a:extLst>
                    <a:ext uri="{FF2B5EF4-FFF2-40B4-BE49-F238E27FC236}">
                      <a16:creationId xmlns:a16="http://schemas.microsoft.com/office/drawing/2014/main" id="{76756491-33E7-4A11-99D7-375B139FF4D0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10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138" name="AutoShape 5">
                <a:extLst>
                  <a:ext uri="{FF2B5EF4-FFF2-40B4-BE49-F238E27FC236}">
                    <a16:creationId xmlns:a16="http://schemas.microsoft.com/office/drawing/2014/main" id="{35F25084-B301-4341-AD83-53532803D0CD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0193939A-5943-457C-9CDF-474D35A9EB21}"/>
              </a:ext>
            </a:extLst>
          </p:cNvPr>
          <p:cNvGrpSpPr/>
          <p:nvPr/>
        </p:nvGrpSpPr>
        <p:grpSpPr>
          <a:xfrm>
            <a:off x="12266196" y="3009899"/>
            <a:ext cx="6021804" cy="5761095"/>
            <a:chOff x="1143000" y="2287545"/>
            <a:chExt cx="6021804" cy="5761095"/>
          </a:xfrm>
        </p:grpSpPr>
        <p:sp>
          <p:nvSpPr>
            <p:cNvPr id="186" name="AutoShape 5">
              <a:extLst>
                <a:ext uri="{FF2B5EF4-FFF2-40B4-BE49-F238E27FC236}">
                  <a16:creationId xmlns:a16="http://schemas.microsoft.com/office/drawing/2014/main" id="{5968FFCD-ED93-436C-91A7-5FAF2223DAC1}"/>
                </a:ext>
              </a:extLst>
            </p:cNvPr>
            <p:cNvSpPr/>
            <p:nvPr/>
          </p:nvSpPr>
          <p:spPr>
            <a:xfrm>
              <a:off x="1143000" y="2287545"/>
              <a:ext cx="4187619" cy="0"/>
            </a:xfrm>
            <a:prstGeom prst="line">
              <a:avLst/>
            </a:prstGeom>
            <a:ln w="9525" cap="flat">
              <a:solidFill>
                <a:srgbClr val="A3A3A3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66D9F1E1-1D17-45A3-A2F8-A71E5CECFBC2}"/>
                </a:ext>
              </a:extLst>
            </p:cNvPr>
            <p:cNvGrpSpPr/>
            <p:nvPr/>
          </p:nvGrpSpPr>
          <p:grpSpPr>
            <a:xfrm>
              <a:off x="1143000" y="2595886"/>
              <a:ext cx="5974912" cy="795014"/>
              <a:chOff x="1527381" y="2595886"/>
              <a:chExt cx="5974912" cy="795014"/>
            </a:xfrm>
          </p:grpSpPr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23F6CF10-D0EC-4493-AC20-08AB9F3B807E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210" name="TextBox 12">
                  <a:extLst>
                    <a:ext uri="{FF2B5EF4-FFF2-40B4-BE49-F238E27FC236}">
                      <a16:creationId xmlns:a16="http://schemas.microsoft.com/office/drawing/2014/main" id="{6D82DE9B-1187-4D76-99AC-C771E94E361E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와이어프레임 및 디자인 진행 과정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211" name="TextBox 18">
                  <a:extLst>
                    <a:ext uri="{FF2B5EF4-FFF2-40B4-BE49-F238E27FC236}">
                      <a16:creationId xmlns:a16="http://schemas.microsoft.com/office/drawing/2014/main" id="{B4F6F19F-7A2C-411E-B96B-CCE950243D5E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11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209" name="AutoShape 5">
                <a:extLst>
                  <a:ext uri="{FF2B5EF4-FFF2-40B4-BE49-F238E27FC236}">
                    <a16:creationId xmlns:a16="http://schemas.microsoft.com/office/drawing/2014/main" id="{52420AEB-9270-4F2B-B880-B3E7106505F8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FB5DF4EC-CA83-40E6-85AB-57AEB8717393}"/>
                </a:ext>
              </a:extLst>
            </p:cNvPr>
            <p:cNvGrpSpPr/>
            <p:nvPr/>
          </p:nvGrpSpPr>
          <p:grpSpPr>
            <a:xfrm>
              <a:off x="1143000" y="3760321"/>
              <a:ext cx="5974912" cy="795014"/>
              <a:chOff x="1527381" y="2595886"/>
              <a:chExt cx="5974912" cy="795014"/>
            </a:xfrm>
          </p:grpSpPr>
          <p:grpSp>
            <p:nvGrpSpPr>
              <p:cNvPr id="204" name="그룹 203">
                <a:extLst>
                  <a:ext uri="{FF2B5EF4-FFF2-40B4-BE49-F238E27FC236}">
                    <a16:creationId xmlns:a16="http://schemas.microsoft.com/office/drawing/2014/main" id="{6F10E01A-35C4-4577-ADAF-59D082F806A1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206" name="TextBox 12">
                  <a:extLst>
                    <a:ext uri="{FF2B5EF4-FFF2-40B4-BE49-F238E27FC236}">
                      <a16:creationId xmlns:a16="http://schemas.microsoft.com/office/drawing/2014/main" id="{5769C905-7BEE-4B99-AE3A-AFC707640075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개발 환경 및 사용 툴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207" name="TextBox 18">
                  <a:extLst>
                    <a:ext uri="{FF2B5EF4-FFF2-40B4-BE49-F238E27FC236}">
                      <a16:creationId xmlns:a16="http://schemas.microsoft.com/office/drawing/2014/main" id="{349AB232-CE18-4AFB-939E-1696949FAF45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12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205" name="AutoShape 5">
                <a:extLst>
                  <a:ext uri="{FF2B5EF4-FFF2-40B4-BE49-F238E27FC236}">
                    <a16:creationId xmlns:a16="http://schemas.microsoft.com/office/drawing/2014/main" id="{17C1F249-1CF1-4D73-9CDC-73CA063DF24F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9827274A-1F34-48C4-B2A9-14686CAF6FD5}"/>
                </a:ext>
              </a:extLst>
            </p:cNvPr>
            <p:cNvGrpSpPr/>
            <p:nvPr/>
          </p:nvGrpSpPr>
          <p:grpSpPr>
            <a:xfrm>
              <a:off x="1143000" y="4924756"/>
              <a:ext cx="5974912" cy="795014"/>
              <a:chOff x="1527381" y="2595886"/>
              <a:chExt cx="5974912" cy="795014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570C3C1C-7900-450B-B46A-B2A35F6CA0A5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202" name="TextBox 12">
                  <a:extLst>
                    <a:ext uri="{FF2B5EF4-FFF2-40B4-BE49-F238E27FC236}">
                      <a16:creationId xmlns:a16="http://schemas.microsoft.com/office/drawing/2014/main" id="{5BD0D8F2-E0DC-48DD-B574-ADAB4F1436E4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en-US" altLang="ko-KR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React </a:t>
                  </a: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구조 및 데이터 설계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203" name="TextBox 18">
                  <a:extLst>
                    <a:ext uri="{FF2B5EF4-FFF2-40B4-BE49-F238E27FC236}">
                      <a16:creationId xmlns:a16="http://schemas.microsoft.com/office/drawing/2014/main" id="{A1645827-AE72-4162-B0D5-AD8D2A17C70C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13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201" name="AutoShape 5">
                <a:extLst>
                  <a:ext uri="{FF2B5EF4-FFF2-40B4-BE49-F238E27FC236}">
                    <a16:creationId xmlns:a16="http://schemas.microsoft.com/office/drawing/2014/main" id="{BDAB811F-BF21-4B76-8056-16598B1C2BF3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7E75E7DE-F03F-44E3-B57C-09FED6B46525}"/>
                </a:ext>
              </a:extLst>
            </p:cNvPr>
            <p:cNvGrpSpPr/>
            <p:nvPr/>
          </p:nvGrpSpPr>
          <p:grpSpPr>
            <a:xfrm>
              <a:off x="1180514" y="6089191"/>
              <a:ext cx="5974912" cy="795014"/>
              <a:chOff x="1527381" y="2595886"/>
              <a:chExt cx="5974912" cy="795014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E6C539CE-C3E6-4173-A052-7BF1475FAD3D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98" name="TextBox 12">
                  <a:extLst>
                    <a:ext uri="{FF2B5EF4-FFF2-40B4-BE49-F238E27FC236}">
                      <a16:creationId xmlns:a16="http://schemas.microsoft.com/office/drawing/2014/main" id="{9D55BDB8-F009-4C67-AEB0-64E0CAEC4ADB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결과물 분석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99" name="TextBox 18">
                  <a:extLst>
                    <a:ext uri="{FF2B5EF4-FFF2-40B4-BE49-F238E27FC236}">
                      <a16:creationId xmlns:a16="http://schemas.microsoft.com/office/drawing/2014/main" id="{6885F93A-9F4F-45A2-8382-5263E39792A0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14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197" name="AutoShape 5">
                <a:extLst>
                  <a:ext uri="{FF2B5EF4-FFF2-40B4-BE49-F238E27FC236}">
                    <a16:creationId xmlns:a16="http://schemas.microsoft.com/office/drawing/2014/main" id="{4F9BCF05-E931-4FAC-AEB2-E0334CEB15CC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F2FBDC79-61AA-4D1F-A986-76DAF5FD133E}"/>
                </a:ext>
              </a:extLst>
            </p:cNvPr>
            <p:cNvGrpSpPr/>
            <p:nvPr/>
          </p:nvGrpSpPr>
          <p:grpSpPr>
            <a:xfrm>
              <a:off x="1189892" y="7253626"/>
              <a:ext cx="5974912" cy="795014"/>
              <a:chOff x="1527381" y="2595886"/>
              <a:chExt cx="5974912" cy="795014"/>
            </a:xfrm>
          </p:grpSpPr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3CBB9393-C400-40CC-B1E0-81DEAD29C0CE}"/>
                  </a:ext>
                </a:extLst>
              </p:cNvPr>
              <p:cNvGrpSpPr/>
              <p:nvPr/>
            </p:nvGrpSpPr>
            <p:grpSpPr>
              <a:xfrm>
                <a:off x="1727874" y="2595886"/>
                <a:ext cx="5774419" cy="479523"/>
                <a:chOff x="1775641" y="3605298"/>
                <a:chExt cx="5774419" cy="479523"/>
              </a:xfrm>
            </p:grpSpPr>
            <p:sp>
              <p:nvSpPr>
                <p:cNvPr id="194" name="TextBox 12">
                  <a:extLst>
                    <a:ext uri="{FF2B5EF4-FFF2-40B4-BE49-F238E27FC236}">
                      <a16:creationId xmlns:a16="http://schemas.microsoft.com/office/drawing/2014/main" id="{53983331-FD5C-4376-A7B7-D24BBE5F94C6}"/>
                    </a:ext>
                  </a:extLst>
                </p:cNvPr>
                <p:cNvSpPr txBox="1"/>
                <p:nvPr/>
              </p:nvSpPr>
              <p:spPr>
                <a:xfrm>
                  <a:off x="2520860" y="3612448"/>
                  <a:ext cx="5029200" cy="47237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018"/>
                    </a:lnSpc>
                    <a:spcBef>
                      <a:spcPct val="0"/>
                    </a:spcBef>
                  </a:pPr>
                  <a:r>
                    <a:rPr lang="ko-KR" altLang="en-US" sz="2400" u="none" strike="noStrike">
                      <a:solidFill>
                        <a:srgbClr val="323232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프리젠테이션"/>
                      <a:sym typeface="프리젠테이션"/>
                    </a:rPr>
                    <a:t>향후 계획</a:t>
                  </a:r>
                  <a:endParaRPr lang="en-US" sz="2400" u="none" strike="noStrike">
                    <a:solidFill>
                      <a:srgbClr val="323232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프리젠테이션"/>
                    <a:sym typeface="프리젠테이션"/>
                  </a:endParaRPr>
                </a:p>
              </p:txBody>
            </p:sp>
            <p:sp>
              <p:nvSpPr>
                <p:cNvPr id="195" name="TextBox 18">
                  <a:extLst>
                    <a:ext uri="{FF2B5EF4-FFF2-40B4-BE49-F238E27FC236}">
                      <a16:creationId xmlns:a16="http://schemas.microsoft.com/office/drawing/2014/main" id="{4A0B1B54-E2E0-41BC-A4CF-2A42B363AC93}"/>
                    </a:ext>
                  </a:extLst>
                </p:cNvPr>
                <p:cNvSpPr txBox="1"/>
                <p:nvPr/>
              </p:nvSpPr>
              <p:spPr>
                <a:xfrm>
                  <a:off x="1775641" y="3605298"/>
                  <a:ext cx="745219" cy="467757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148"/>
                    </a:lnSpc>
                    <a:spcBef>
                      <a:spcPct val="0"/>
                    </a:spcBef>
                  </a:pPr>
                  <a:r>
                    <a:rPr lang="en-US" altLang="ko-KR" sz="2400">
                      <a:solidFill>
                        <a:srgbClr val="425AD4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Garet"/>
                      <a:sym typeface="Garet"/>
                    </a:rPr>
                    <a:t>15</a:t>
                  </a:r>
                  <a:endParaRPr lang="en-US" sz="2400">
                    <a:solidFill>
                      <a:srgbClr val="425AD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Garet"/>
                    <a:sym typeface="Garet"/>
                  </a:endParaRPr>
                </a:p>
              </p:txBody>
            </p:sp>
          </p:grpSp>
          <p:sp>
            <p:nvSpPr>
              <p:cNvPr id="193" name="AutoShape 5">
                <a:extLst>
                  <a:ext uri="{FF2B5EF4-FFF2-40B4-BE49-F238E27FC236}">
                    <a16:creationId xmlns:a16="http://schemas.microsoft.com/office/drawing/2014/main" id="{469E4381-16EF-479D-89E2-19AEEB034905}"/>
                  </a:ext>
                </a:extLst>
              </p:cNvPr>
              <p:cNvSpPr/>
              <p:nvPr/>
            </p:nvSpPr>
            <p:spPr>
              <a:xfrm>
                <a:off x="1527381" y="3390900"/>
                <a:ext cx="4187619" cy="0"/>
              </a:xfrm>
              <a:prstGeom prst="line">
                <a:avLst/>
              </a:prstGeom>
              <a:ln w="9525" cap="flat">
                <a:solidFill>
                  <a:srgbClr val="A3A3A3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</p:spTree>
    <p:extLst>
      <p:ext uri="{BB962C8B-B14F-4D97-AF65-F5344CB8AC3E}">
        <p14:creationId xmlns:p14="http://schemas.microsoft.com/office/powerpoint/2010/main" val="20320460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FC7E39F0-67D9-4935-974B-5A8B791740A6}"/>
              </a:ext>
            </a:extLst>
          </p:cNvPr>
          <p:cNvGrpSpPr/>
          <p:nvPr/>
        </p:nvGrpSpPr>
        <p:grpSpPr>
          <a:xfrm>
            <a:off x="3390069" y="6667500"/>
            <a:ext cx="11507863" cy="1602031"/>
            <a:chOff x="1472091" y="6022390"/>
            <a:chExt cx="11507863" cy="1602031"/>
          </a:xfrm>
        </p:grpSpPr>
        <p:sp>
          <p:nvSpPr>
            <p:cNvPr id="10" name="TextBox 10"/>
            <p:cNvSpPr txBox="1"/>
            <p:nvPr/>
          </p:nvSpPr>
          <p:spPr>
            <a:xfrm>
              <a:off x="1965837" y="6022390"/>
              <a:ext cx="2848462" cy="324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9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프로젝트 리더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37746" y="6022390"/>
              <a:ext cx="2848462" cy="324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9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프로젝트 </a:t>
              </a:r>
              <a:r>
                <a:rPr lang="ko-KR" altLang="en-US" sz="1800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팀원</a:t>
              </a:r>
              <a:endParaRPr lang="en-US" sz="1800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01792" y="6022390"/>
              <a:ext cx="2848462" cy="324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9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프로젝트 </a:t>
              </a:r>
              <a:r>
                <a:rPr lang="ko-KR" altLang="en-US" sz="1800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팀원</a:t>
              </a:r>
              <a:endParaRPr lang="en-US" sz="1800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72091" y="7265027"/>
              <a:ext cx="3835954" cy="359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6060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작업 총괄 및 프로젝트 기획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44000" y="7265027"/>
              <a:ext cx="3835954" cy="359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6060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작업 총괄 및 프로젝트 기획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08046" y="7265027"/>
              <a:ext cx="3835954" cy="359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6060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작업 총괄 및 프로젝트 기획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43880" y="6361447"/>
              <a:ext cx="3092377" cy="562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ko-KR" altLang="en-US" sz="3399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Bold"/>
                  <a:sym typeface="프리젠테이션 Bold"/>
                </a:rPr>
                <a:t>조수연</a:t>
              </a:r>
              <a:endParaRPr lang="en-US" sz="3399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15789" y="6361447"/>
              <a:ext cx="3092377" cy="562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ko-KR" altLang="en-US" sz="3399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Bold"/>
                  <a:sym typeface="프리젠테이션 Bold"/>
                </a:rPr>
                <a:t>성아인</a:t>
              </a:r>
              <a:endParaRPr lang="en-US" sz="3399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79834" y="6361447"/>
              <a:ext cx="3092377" cy="562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ko-KR" altLang="en-US" sz="3399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Bold"/>
                  <a:sym typeface="프리젠테이션 Bold"/>
                </a:rPr>
                <a:t>오희경</a:t>
              </a:r>
              <a:endParaRPr lang="en-US" sz="3399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184BEC2-E434-4C21-A9D3-A99FCD5F3A12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D88EF933-AE96-4997-B23C-198F57CE1601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팀 소개 및 역할 분담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AB97960-2D50-432C-B566-55B219C3CD90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사이트 분석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F3E282E-99AE-47FD-A507-505CEA551B01}"/>
              </a:ext>
            </a:extLst>
          </p:cNvPr>
          <p:cNvGrpSpPr/>
          <p:nvPr/>
        </p:nvGrpSpPr>
        <p:grpSpPr>
          <a:xfrm>
            <a:off x="945755" y="3818126"/>
            <a:ext cx="2711846" cy="5488364"/>
            <a:chOff x="1639602" y="2724166"/>
            <a:chExt cx="3201310" cy="6478964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7ECD79A-D201-4AB0-A46F-2FFE70590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2600" y="2931737"/>
              <a:ext cx="2905524" cy="5945563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BE2BE5BE-625B-49D2-9C67-CECD5786DD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00" t="11218" r="49967" b="12821"/>
            <a:stretch/>
          </p:blipFill>
          <p:spPr>
            <a:xfrm>
              <a:off x="1639602" y="2724166"/>
              <a:ext cx="3201310" cy="6478964"/>
            </a:xfrm>
            <a:prstGeom prst="rect">
              <a:avLst/>
            </a:prstGeom>
          </p:spPr>
        </p:pic>
      </p:grpSp>
      <p:grpSp>
        <p:nvGrpSpPr>
          <p:cNvPr id="18" name="Group 2">
            <a:extLst>
              <a:ext uri="{FF2B5EF4-FFF2-40B4-BE49-F238E27FC236}">
                <a16:creationId xmlns:a16="http://schemas.microsoft.com/office/drawing/2014/main" id="{63B43377-FE25-448F-B3C4-A1FD0B1C5ABE}"/>
              </a:ext>
            </a:extLst>
          </p:cNvPr>
          <p:cNvGrpSpPr/>
          <p:nvPr/>
        </p:nvGrpSpPr>
        <p:grpSpPr>
          <a:xfrm>
            <a:off x="11359893" y="3791082"/>
            <a:ext cx="5744404" cy="5744404"/>
            <a:chOff x="0" y="0"/>
            <a:chExt cx="812800" cy="812800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C79798DA-4E0F-4588-AA39-E6A0CF1D2DB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5AD4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7335DF2E-7F39-4F9D-8DDF-8A063034D39B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62EADE17-CA30-4934-A7C2-6952B8091BF3}"/>
              </a:ext>
            </a:extLst>
          </p:cNvPr>
          <p:cNvSpPr/>
          <p:nvPr/>
        </p:nvSpPr>
        <p:spPr>
          <a:xfrm rot="10800000">
            <a:off x="9906000" y="5647470"/>
            <a:ext cx="1958652" cy="1969394"/>
          </a:xfrm>
          <a:custGeom>
            <a:avLst/>
            <a:gdLst/>
            <a:ahLst/>
            <a:cxnLst/>
            <a:rect l="l" t="t" r="r" b="b"/>
            <a:pathLst>
              <a:path w="1958652" h="1969394">
                <a:moveTo>
                  <a:pt x="0" y="0"/>
                </a:moveTo>
                <a:lnTo>
                  <a:pt x="1958652" y="0"/>
                </a:lnTo>
                <a:lnTo>
                  <a:pt x="1958652" y="1969394"/>
                </a:lnTo>
                <a:lnTo>
                  <a:pt x="0" y="19693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7AA62715-2CA5-45C8-8BDE-E8F06C1DE99A}"/>
              </a:ext>
            </a:extLst>
          </p:cNvPr>
          <p:cNvSpPr txBox="1"/>
          <p:nvPr/>
        </p:nvSpPr>
        <p:spPr>
          <a:xfrm>
            <a:off x="12065422" y="4672515"/>
            <a:ext cx="4333347" cy="3981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52"/>
              </a:lnSpc>
            </a:pPr>
            <a:r>
              <a:rPr lang="ko-KR" altLang="en-US" sz="2400" b="1" spc="-37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rPr>
              <a:t>기존의 풍부한 탐색 경험은 유지하면서</a:t>
            </a:r>
            <a:r>
              <a:rPr lang="en-US" altLang="ko-KR" sz="2400" b="1" spc="-37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rPr>
              <a:t>, </a:t>
            </a:r>
            <a:r>
              <a:rPr lang="ko-KR" altLang="en-US" sz="2400" b="1" spc="-37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rPr>
              <a:t>중복 콘텐츠를 줄이고 명확한 정보 구조와 모바일 퍼스트 </a:t>
            </a:r>
            <a:r>
              <a:rPr lang="en-US" altLang="ko-KR" sz="2400" b="1" spc="-37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rPr>
              <a:t>UX</a:t>
            </a:r>
            <a:r>
              <a:rPr lang="ko-KR" altLang="en-US" sz="2400" b="1" spc="-37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rPr>
              <a:t>를 기반으로 사용자가 상품과 서비스를 빠르게 이해할 수 있는 메인 화면으로 개선</a:t>
            </a:r>
            <a:endParaRPr lang="en-US" sz="2400" b="1" spc="-37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Bold"/>
              <a:sym typeface="프리젠테이션 Bold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DD3A792-C997-44A2-9A7A-5A7488E9E82E}"/>
              </a:ext>
            </a:extLst>
          </p:cNvPr>
          <p:cNvGrpSpPr/>
          <p:nvPr/>
        </p:nvGrpSpPr>
        <p:grpSpPr>
          <a:xfrm>
            <a:off x="945754" y="1997355"/>
            <a:ext cx="10551209" cy="1385590"/>
            <a:chOff x="3657599" y="1014710"/>
            <a:chExt cx="10551209" cy="1385590"/>
          </a:xfrm>
        </p:grpSpPr>
        <p:grpSp>
          <p:nvGrpSpPr>
            <p:cNvPr id="24" name="Group 5">
              <a:extLst>
                <a:ext uri="{FF2B5EF4-FFF2-40B4-BE49-F238E27FC236}">
                  <a16:creationId xmlns:a16="http://schemas.microsoft.com/office/drawing/2014/main" id="{845F08D8-0F1A-4522-A280-4C1A6826F7A2}"/>
                </a:ext>
              </a:extLst>
            </p:cNvPr>
            <p:cNvGrpSpPr/>
            <p:nvPr/>
          </p:nvGrpSpPr>
          <p:grpSpPr>
            <a:xfrm>
              <a:off x="3657599" y="1014710"/>
              <a:ext cx="10551209" cy="1385590"/>
              <a:chOff x="0" y="0"/>
              <a:chExt cx="2852843" cy="362373"/>
            </a:xfrm>
            <a:noFill/>
          </p:grpSpPr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148EA444-08BE-4DA3-A148-FCAA036B303C}"/>
                  </a:ext>
                </a:extLst>
              </p:cNvPr>
              <p:cNvSpPr/>
              <p:nvPr/>
            </p:nvSpPr>
            <p:spPr>
              <a:xfrm>
                <a:off x="0" y="0"/>
                <a:ext cx="2852843" cy="362373"/>
              </a:xfrm>
              <a:custGeom>
                <a:avLst/>
                <a:gdLst/>
                <a:ahLst/>
                <a:cxnLst/>
                <a:rect l="l" t="t" r="r" b="b"/>
                <a:pathLst>
                  <a:path w="2852843" h="362373">
                    <a:moveTo>
                      <a:pt x="0" y="0"/>
                    </a:moveTo>
                    <a:lnTo>
                      <a:pt x="2852843" y="0"/>
                    </a:lnTo>
                    <a:lnTo>
                      <a:pt x="2852843" y="362373"/>
                    </a:lnTo>
                    <a:lnTo>
                      <a:pt x="0" y="362373"/>
                    </a:lnTo>
                    <a:close/>
                  </a:path>
                </a:pathLst>
              </a:custGeom>
              <a:grpFill/>
              <a:ln w="9525" cap="sq">
                <a:solidFill>
                  <a:srgbClr val="425AD4"/>
                </a:solidFill>
                <a:prstDash val="solid"/>
                <a:miter/>
              </a:ln>
            </p:spPr>
          </p:sp>
          <p:sp>
            <p:nvSpPr>
              <p:cNvPr id="26" name="TextBox 7">
                <a:extLst>
                  <a:ext uri="{FF2B5EF4-FFF2-40B4-BE49-F238E27FC236}">
                    <a16:creationId xmlns:a16="http://schemas.microsoft.com/office/drawing/2014/main" id="{5B629387-DAF2-4DF9-9145-28405BEDF8D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852843" cy="39094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27" name="TextBox 18">
              <a:extLst>
                <a:ext uri="{FF2B5EF4-FFF2-40B4-BE49-F238E27FC236}">
                  <a16:creationId xmlns:a16="http://schemas.microsoft.com/office/drawing/2014/main" id="{8725BB08-E218-46B9-BB9C-7CD233B416BF}"/>
                </a:ext>
              </a:extLst>
            </p:cNvPr>
            <p:cNvSpPr txBox="1"/>
            <p:nvPr/>
          </p:nvSpPr>
          <p:spPr>
            <a:xfrm>
              <a:off x="4069437" y="1227117"/>
              <a:ext cx="9727532" cy="960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다양한 상품군과 메인 배너</a:t>
              </a:r>
              <a:r>
                <a:rPr lang="en-US" altLang="ko-KR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, </a:t>
              </a: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아이콘 메뉴</a:t>
              </a:r>
              <a:r>
                <a:rPr lang="en-US" altLang="ko-KR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, </a:t>
              </a: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추천</a:t>
              </a:r>
              <a:r>
                <a:rPr lang="en-US" altLang="ko-KR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·</a:t>
              </a: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시즌</a:t>
              </a:r>
              <a:r>
                <a:rPr lang="en-US" altLang="ko-KR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·</a:t>
              </a: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생활용품</a:t>
              </a:r>
              <a:r>
                <a:rPr lang="en-US" altLang="ko-KR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·</a:t>
              </a: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뷰티</a:t>
              </a:r>
              <a:r>
                <a:rPr lang="en-US" altLang="ko-KR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·</a:t>
              </a: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랭킹 등 </a:t>
              </a:r>
              <a:r>
                <a:rPr lang="ko-KR" altLang="en-US" sz="2000" b="1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풍부한 콘텐츠를 </a:t>
              </a: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통해 </a:t>
              </a:r>
              <a:r>
                <a:rPr lang="ko-KR" altLang="en-US" sz="2000" b="1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다이소 특유</a:t>
              </a: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의 오프라인처럼 </a:t>
              </a:r>
              <a:r>
                <a:rPr lang="ko-KR" altLang="en-US" sz="2000" b="1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둘러보는 탐색 경험</a:t>
              </a: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이</a:t>
              </a:r>
              <a:r>
                <a:rPr lang="ko-KR" altLang="en-US" sz="2000" b="1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 </a:t>
              </a:r>
              <a:r>
                <a:rPr lang="ko-KR" altLang="en-US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잘 구현되어 있다</a:t>
              </a:r>
              <a:r>
                <a:rPr lang="en-US" altLang="ko-KR" sz="2000" spc="-27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.</a:t>
              </a:r>
              <a:endParaRPr lang="en-US" sz="2000" spc="-27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5093D4C5-9B3D-4F8F-A911-659475EEC776}"/>
              </a:ext>
            </a:extLst>
          </p:cNvPr>
          <p:cNvSpPr txBox="1"/>
          <p:nvPr/>
        </p:nvSpPr>
        <p:spPr>
          <a:xfrm>
            <a:off x="4080995" y="4118427"/>
            <a:ext cx="4605805" cy="493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메인 화면이 길고 유사한 상품 리스트가 반복되어 전체 구조를 빠르게 파악하기 어렵다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다양한 섹션이 비슷한 카드 형태로 구성되어 화면 리듬이 단조롭고 구분감이 약하다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핵심 서비스와 주력 카테고리의 우선순위가 명확하게 드러나지 않는다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상단 아이콘 메뉴는 유용하지만 전체 흐름 속 역할과 중요도가 불분명하다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신상품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, SNS </a:t>
            </a: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인기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, </a:t>
            </a: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뷰티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/</a:t>
            </a: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헬스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, </a:t>
            </a: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브랜드 콜라보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, </a:t>
            </a: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배송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·</a:t>
            </a: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픽업 등 전략 콘텐츠의 강조가 부족하다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PC </a:t>
            </a: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웹은 모바일 중심 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UX</a:t>
            </a:r>
            <a:r>
              <a:rPr lang="ko-KR" altLang="en-US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를 충분히 반영하지 못해 디바이스 간 경험 일관성이 떨어진다</a:t>
            </a:r>
            <a:r>
              <a:rPr lang="en-US" altLang="ko-KR">
                <a:solidFill>
                  <a:srgbClr val="5555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Light"/>
                <a:sym typeface="프리젠테이션 Light"/>
              </a:rPr>
              <a:t>.</a:t>
            </a:r>
            <a:endParaRPr lang="en-US">
              <a:solidFill>
                <a:srgbClr val="555555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Light"/>
              <a:sym typeface="프리젠테이션 Light"/>
            </a:endParaRPr>
          </a:p>
        </p:txBody>
      </p:sp>
    </p:spTree>
    <p:extLst>
      <p:ext uri="{BB962C8B-B14F-4D97-AF65-F5344CB8AC3E}">
        <p14:creationId xmlns:p14="http://schemas.microsoft.com/office/powerpoint/2010/main" val="29971474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벤치마킹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6">
            <a:extLst>
              <a:ext uri="{FF2B5EF4-FFF2-40B4-BE49-F238E27FC236}">
                <a16:creationId xmlns:a16="http://schemas.microsoft.com/office/drawing/2014/main" id="{D852C853-EB51-46E7-B974-EECEA1EDE4F6}"/>
              </a:ext>
            </a:extLst>
          </p:cNvPr>
          <p:cNvSpPr txBox="1"/>
          <p:nvPr/>
        </p:nvSpPr>
        <p:spPr>
          <a:xfrm>
            <a:off x="1060938" y="1666144"/>
            <a:ext cx="12350262" cy="518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altLang="ko-KR" sz="2800" b="1" u="none" strike="noStrike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 Ultra-Bold"/>
                <a:sym typeface="Nanum Square Ultra-Bold"/>
              </a:rPr>
              <a:t>UX </a:t>
            </a:r>
            <a:r>
              <a:rPr lang="ko-KR" altLang="en-US" sz="2800" b="1" u="none" strike="noStrike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 Ultra-Bold"/>
                <a:sym typeface="Nanum Square Ultra-Bold"/>
              </a:rPr>
              <a:t>리뉴얼 성격이 강하기 때문에 모바일 커머스 앱의 정답에 가까운 구조를 참고했다</a:t>
            </a:r>
            <a:r>
              <a:rPr lang="en-US" altLang="ko-KR" sz="2800" b="1" u="none" strike="noStrike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 Ultra-Bold"/>
                <a:sym typeface="Nanum Square Ultra-Bold"/>
              </a:rPr>
              <a:t>.</a:t>
            </a:r>
            <a:endParaRPr lang="en-US" sz="2800" b="1" u="none" strike="noStrike">
              <a:solidFill>
                <a:srgbClr val="4A4A4A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anum Square Ultra-Bold"/>
              <a:sym typeface="Nanum Square Ultra-Bold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BB817DB-8E9D-40E5-BB13-35A698A4721B}"/>
              </a:ext>
            </a:extLst>
          </p:cNvPr>
          <p:cNvGrpSpPr/>
          <p:nvPr/>
        </p:nvGrpSpPr>
        <p:grpSpPr>
          <a:xfrm>
            <a:off x="779014" y="3771900"/>
            <a:ext cx="16729972" cy="5436577"/>
            <a:chOff x="779014" y="4152900"/>
            <a:chExt cx="16729972" cy="5436577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1FE3F76-091C-4A82-A758-407736522BCF}"/>
                </a:ext>
              </a:extLst>
            </p:cNvPr>
            <p:cNvSpPr/>
            <p:nvPr/>
          </p:nvSpPr>
          <p:spPr>
            <a:xfrm>
              <a:off x="779014" y="5155918"/>
              <a:ext cx="5419429" cy="2346309"/>
            </a:xfrm>
            <a:custGeom>
              <a:avLst/>
              <a:gdLst/>
              <a:ahLst/>
              <a:cxnLst/>
              <a:rect l="l" t="t" r="r" b="b"/>
              <a:pathLst>
                <a:path w="1427339" h="1012464">
                  <a:moveTo>
                    <a:pt x="28571" y="0"/>
                  </a:moveTo>
                  <a:lnTo>
                    <a:pt x="1398768" y="0"/>
                  </a:lnTo>
                  <a:cubicBezTo>
                    <a:pt x="1414548" y="0"/>
                    <a:pt x="1427339" y="12792"/>
                    <a:pt x="1427339" y="28571"/>
                  </a:cubicBezTo>
                  <a:lnTo>
                    <a:pt x="1427339" y="983893"/>
                  </a:lnTo>
                  <a:cubicBezTo>
                    <a:pt x="1427339" y="991471"/>
                    <a:pt x="1424329" y="998738"/>
                    <a:pt x="1418971" y="1004096"/>
                  </a:cubicBezTo>
                  <a:cubicBezTo>
                    <a:pt x="1413613" y="1009454"/>
                    <a:pt x="1406346" y="1012464"/>
                    <a:pt x="1398768" y="1012464"/>
                  </a:cubicBezTo>
                  <a:lnTo>
                    <a:pt x="28571" y="1012464"/>
                  </a:lnTo>
                  <a:cubicBezTo>
                    <a:pt x="20993" y="1012464"/>
                    <a:pt x="13726" y="1009454"/>
                    <a:pt x="8368" y="1004096"/>
                  </a:cubicBezTo>
                  <a:cubicBezTo>
                    <a:pt x="3010" y="998738"/>
                    <a:pt x="0" y="991471"/>
                    <a:pt x="0" y="983893"/>
                  </a:cubicBezTo>
                  <a:lnTo>
                    <a:pt x="0" y="28571"/>
                  </a:lnTo>
                  <a:cubicBezTo>
                    <a:pt x="0" y="20993"/>
                    <a:pt x="3010" y="13726"/>
                    <a:pt x="8368" y="8368"/>
                  </a:cubicBezTo>
                  <a:cubicBezTo>
                    <a:pt x="13726" y="3010"/>
                    <a:pt x="20993" y="0"/>
                    <a:pt x="285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9032793E-B317-4DDC-AE57-1C14106B2959}"/>
                </a:ext>
              </a:extLst>
            </p:cNvPr>
            <p:cNvSpPr/>
            <p:nvPr/>
          </p:nvSpPr>
          <p:spPr>
            <a:xfrm>
              <a:off x="6434285" y="5155918"/>
              <a:ext cx="5419429" cy="2346309"/>
            </a:xfrm>
            <a:custGeom>
              <a:avLst/>
              <a:gdLst/>
              <a:ahLst/>
              <a:cxnLst/>
              <a:rect l="l" t="t" r="r" b="b"/>
              <a:pathLst>
                <a:path w="1427339" h="1012464">
                  <a:moveTo>
                    <a:pt x="28571" y="0"/>
                  </a:moveTo>
                  <a:lnTo>
                    <a:pt x="1398768" y="0"/>
                  </a:lnTo>
                  <a:cubicBezTo>
                    <a:pt x="1414548" y="0"/>
                    <a:pt x="1427339" y="12792"/>
                    <a:pt x="1427339" y="28571"/>
                  </a:cubicBezTo>
                  <a:lnTo>
                    <a:pt x="1427339" y="983893"/>
                  </a:lnTo>
                  <a:cubicBezTo>
                    <a:pt x="1427339" y="991471"/>
                    <a:pt x="1424329" y="998738"/>
                    <a:pt x="1418971" y="1004096"/>
                  </a:cubicBezTo>
                  <a:cubicBezTo>
                    <a:pt x="1413613" y="1009454"/>
                    <a:pt x="1406346" y="1012464"/>
                    <a:pt x="1398768" y="1012464"/>
                  </a:cubicBezTo>
                  <a:lnTo>
                    <a:pt x="28571" y="1012464"/>
                  </a:lnTo>
                  <a:cubicBezTo>
                    <a:pt x="20993" y="1012464"/>
                    <a:pt x="13726" y="1009454"/>
                    <a:pt x="8368" y="1004096"/>
                  </a:cubicBezTo>
                  <a:cubicBezTo>
                    <a:pt x="3010" y="998738"/>
                    <a:pt x="0" y="991471"/>
                    <a:pt x="0" y="983893"/>
                  </a:cubicBezTo>
                  <a:lnTo>
                    <a:pt x="0" y="28571"/>
                  </a:lnTo>
                  <a:cubicBezTo>
                    <a:pt x="0" y="20993"/>
                    <a:pt x="3010" y="13726"/>
                    <a:pt x="8368" y="8368"/>
                  </a:cubicBezTo>
                  <a:cubicBezTo>
                    <a:pt x="13726" y="3010"/>
                    <a:pt x="20993" y="0"/>
                    <a:pt x="285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8416E0CB-97C5-4DA3-AE64-DB1AD7C191E7}"/>
                </a:ext>
              </a:extLst>
            </p:cNvPr>
            <p:cNvSpPr/>
            <p:nvPr/>
          </p:nvSpPr>
          <p:spPr>
            <a:xfrm>
              <a:off x="779014" y="4152900"/>
              <a:ext cx="5419429" cy="812518"/>
            </a:xfrm>
            <a:custGeom>
              <a:avLst/>
              <a:gdLst/>
              <a:ahLst/>
              <a:cxnLst/>
              <a:rect l="l" t="t" r="r" b="b"/>
              <a:pathLst>
                <a:path w="1250937" h="187549">
                  <a:moveTo>
                    <a:pt x="93775" y="0"/>
                  </a:moveTo>
                  <a:lnTo>
                    <a:pt x="1157163" y="0"/>
                  </a:lnTo>
                  <a:cubicBezTo>
                    <a:pt x="1182033" y="0"/>
                    <a:pt x="1205885" y="9880"/>
                    <a:pt x="1223471" y="27466"/>
                  </a:cubicBezTo>
                  <a:cubicBezTo>
                    <a:pt x="1241057" y="45052"/>
                    <a:pt x="1250937" y="68904"/>
                    <a:pt x="1250937" y="93775"/>
                  </a:cubicBezTo>
                  <a:lnTo>
                    <a:pt x="1250937" y="93775"/>
                  </a:lnTo>
                  <a:cubicBezTo>
                    <a:pt x="1250937" y="118645"/>
                    <a:pt x="1241057" y="142497"/>
                    <a:pt x="1223471" y="160083"/>
                  </a:cubicBezTo>
                  <a:cubicBezTo>
                    <a:pt x="1205885" y="177669"/>
                    <a:pt x="1182033" y="187549"/>
                    <a:pt x="1157163" y="187549"/>
                  </a:cubicBezTo>
                  <a:lnTo>
                    <a:pt x="93775" y="187549"/>
                  </a:lnTo>
                  <a:cubicBezTo>
                    <a:pt x="68904" y="187549"/>
                    <a:pt x="45052" y="177669"/>
                    <a:pt x="27466" y="160083"/>
                  </a:cubicBezTo>
                  <a:cubicBezTo>
                    <a:pt x="9880" y="142497"/>
                    <a:pt x="0" y="118645"/>
                    <a:pt x="0" y="93775"/>
                  </a:cubicBezTo>
                  <a:lnTo>
                    <a:pt x="0" y="93775"/>
                  </a:lnTo>
                  <a:cubicBezTo>
                    <a:pt x="0" y="68904"/>
                    <a:pt x="9880" y="45052"/>
                    <a:pt x="27466" y="27466"/>
                  </a:cubicBezTo>
                  <a:cubicBezTo>
                    <a:pt x="45052" y="9880"/>
                    <a:pt x="68904" y="0"/>
                    <a:pt x="93775" y="0"/>
                  </a:cubicBezTo>
                  <a:close/>
                </a:path>
              </a:pathLst>
            </a:custGeom>
            <a:solidFill>
              <a:srgbClr val="425AD4"/>
            </a:solidFill>
            <a:ln>
              <a:solidFill>
                <a:srgbClr val="425AD4"/>
              </a:solidFill>
            </a:ln>
          </p:spPr>
        </p:sp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18AAA1A5-1832-4D41-A5CB-BC12A0FDA0CD}"/>
                </a:ext>
              </a:extLst>
            </p:cNvPr>
            <p:cNvSpPr/>
            <p:nvPr/>
          </p:nvSpPr>
          <p:spPr>
            <a:xfrm>
              <a:off x="6434285" y="4152900"/>
              <a:ext cx="5419429" cy="812518"/>
            </a:xfrm>
            <a:custGeom>
              <a:avLst/>
              <a:gdLst/>
              <a:ahLst/>
              <a:cxnLst/>
              <a:rect l="l" t="t" r="r" b="b"/>
              <a:pathLst>
                <a:path w="1250937" h="187549">
                  <a:moveTo>
                    <a:pt x="93775" y="0"/>
                  </a:moveTo>
                  <a:lnTo>
                    <a:pt x="1157163" y="0"/>
                  </a:lnTo>
                  <a:cubicBezTo>
                    <a:pt x="1182033" y="0"/>
                    <a:pt x="1205885" y="9880"/>
                    <a:pt x="1223471" y="27466"/>
                  </a:cubicBezTo>
                  <a:cubicBezTo>
                    <a:pt x="1241057" y="45052"/>
                    <a:pt x="1250937" y="68904"/>
                    <a:pt x="1250937" y="93775"/>
                  </a:cubicBezTo>
                  <a:lnTo>
                    <a:pt x="1250937" y="93775"/>
                  </a:lnTo>
                  <a:cubicBezTo>
                    <a:pt x="1250937" y="118645"/>
                    <a:pt x="1241057" y="142497"/>
                    <a:pt x="1223471" y="160083"/>
                  </a:cubicBezTo>
                  <a:cubicBezTo>
                    <a:pt x="1205885" y="177669"/>
                    <a:pt x="1182033" y="187549"/>
                    <a:pt x="1157163" y="187549"/>
                  </a:cubicBezTo>
                  <a:lnTo>
                    <a:pt x="93775" y="187549"/>
                  </a:lnTo>
                  <a:cubicBezTo>
                    <a:pt x="68904" y="187549"/>
                    <a:pt x="45052" y="177669"/>
                    <a:pt x="27466" y="160083"/>
                  </a:cubicBezTo>
                  <a:cubicBezTo>
                    <a:pt x="9880" y="142497"/>
                    <a:pt x="0" y="118645"/>
                    <a:pt x="0" y="93775"/>
                  </a:cubicBezTo>
                  <a:lnTo>
                    <a:pt x="0" y="93775"/>
                  </a:lnTo>
                  <a:cubicBezTo>
                    <a:pt x="0" y="68904"/>
                    <a:pt x="9880" y="45052"/>
                    <a:pt x="27466" y="27466"/>
                  </a:cubicBezTo>
                  <a:cubicBezTo>
                    <a:pt x="45052" y="9880"/>
                    <a:pt x="68904" y="0"/>
                    <a:pt x="93775" y="0"/>
                  </a:cubicBezTo>
                  <a:close/>
                </a:path>
              </a:pathLst>
            </a:custGeom>
            <a:solidFill>
              <a:srgbClr val="425AD4"/>
            </a:solidFill>
            <a:ln>
              <a:solidFill>
                <a:srgbClr val="425AD4"/>
              </a:solidFill>
            </a:ln>
          </p:spPr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071637CE-312C-4CDA-8CB7-9DE6F1BDE3B6}"/>
                </a:ext>
              </a:extLst>
            </p:cNvPr>
            <p:cNvSpPr/>
            <p:nvPr/>
          </p:nvSpPr>
          <p:spPr>
            <a:xfrm>
              <a:off x="12089557" y="5155918"/>
              <a:ext cx="5419429" cy="2346309"/>
            </a:xfrm>
            <a:custGeom>
              <a:avLst/>
              <a:gdLst/>
              <a:ahLst/>
              <a:cxnLst/>
              <a:rect l="l" t="t" r="r" b="b"/>
              <a:pathLst>
                <a:path w="1427339" h="1012464">
                  <a:moveTo>
                    <a:pt x="28571" y="0"/>
                  </a:moveTo>
                  <a:lnTo>
                    <a:pt x="1398768" y="0"/>
                  </a:lnTo>
                  <a:cubicBezTo>
                    <a:pt x="1414548" y="0"/>
                    <a:pt x="1427339" y="12792"/>
                    <a:pt x="1427339" y="28571"/>
                  </a:cubicBezTo>
                  <a:lnTo>
                    <a:pt x="1427339" y="983893"/>
                  </a:lnTo>
                  <a:cubicBezTo>
                    <a:pt x="1427339" y="991471"/>
                    <a:pt x="1424329" y="998738"/>
                    <a:pt x="1418971" y="1004096"/>
                  </a:cubicBezTo>
                  <a:cubicBezTo>
                    <a:pt x="1413613" y="1009454"/>
                    <a:pt x="1406346" y="1012464"/>
                    <a:pt x="1398768" y="1012464"/>
                  </a:cubicBezTo>
                  <a:lnTo>
                    <a:pt x="28571" y="1012464"/>
                  </a:lnTo>
                  <a:cubicBezTo>
                    <a:pt x="20993" y="1012464"/>
                    <a:pt x="13726" y="1009454"/>
                    <a:pt x="8368" y="1004096"/>
                  </a:cubicBezTo>
                  <a:cubicBezTo>
                    <a:pt x="3010" y="998738"/>
                    <a:pt x="0" y="991471"/>
                    <a:pt x="0" y="983893"/>
                  </a:cubicBezTo>
                  <a:lnTo>
                    <a:pt x="0" y="28571"/>
                  </a:lnTo>
                  <a:cubicBezTo>
                    <a:pt x="0" y="20993"/>
                    <a:pt x="3010" y="13726"/>
                    <a:pt x="8368" y="8368"/>
                  </a:cubicBezTo>
                  <a:cubicBezTo>
                    <a:pt x="13726" y="3010"/>
                    <a:pt x="20993" y="0"/>
                    <a:pt x="285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id="24" name="Freeform 42">
              <a:extLst>
                <a:ext uri="{FF2B5EF4-FFF2-40B4-BE49-F238E27FC236}">
                  <a16:creationId xmlns:a16="http://schemas.microsoft.com/office/drawing/2014/main" id="{E1183CA4-EAD2-4B02-ACFF-1F3EB91D9928}"/>
                </a:ext>
              </a:extLst>
            </p:cNvPr>
            <p:cNvSpPr/>
            <p:nvPr/>
          </p:nvSpPr>
          <p:spPr>
            <a:xfrm>
              <a:off x="12089557" y="4152900"/>
              <a:ext cx="5419429" cy="812518"/>
            </a:xfrm>
            <a:custGeom>
              <a:avLst/>
              <a:gdLst/>
              <a:ahLst/>
              <a:cxnLst/>
              <a:rect l="l" t="t" r="r" b="b"/>
              <a:pathLst>
                <a:path w="1250937" h="187549">
                  <a:moveTo>
                    <a:pt x="93775" y="0"/>
                  </a:moveTo>
                  <a:lnTo>
                    <a:pt x="1157163" y="0"/>
                  </a:lnTo>
                  <a:cubicBezTo>
                    <a:pt x="1182033" y="0"/>
                    <a:pt x="1205885" y="9880"/>
                    <a:pt x="1223471" y="27466"/>
                  </a:cubicBezTo>
                  <a:cubicBezTo>
                    <a:pt x="1241057" y="45052"/>
                    <a:pt x="1250937" y="68904"/>
                    <a:pt x="1250937" y="93775"/>
                  </a:cubicBezTo>
                  <a:lnTo>
                    <a:pt x="1250937" y="93775"/>
                  </a:lnTo>
                  <a:cubicBezTo>
                    <a:pt x="1250937" y="118645"/>
                    <a:pt x="1241057" y="142497"/>
                    <a:pt x="1223471" y="160083"/>
                  </a:cubicBezTo>
                  <a:cubicBezTo>
                    <a:pt x="1205885" y="177669"/>
                    <a:pt x="1182033" y="187549"/>
                    <a:pt x="1157163" y="187549"/>
                  </a:cubicBezTo>
                  <a:lnTo>
                    <a:pt x="93775" y="187549"/>
                  </a:lnTo>
                  <a:cubicBezTo>
                    <a:pt x="68904" y="187549"/>
                    <a:pt x="45052" y="177669"/>
                    <a:pt x="27466" y="160083"/>
                  </a:cubicBezTo>
                  <a:cubicBezTo>
                    <a:pt x="9880" y="142497"/>
                    <a:pt x="0" y="118645"/>
                    <a:pt x="0" y="93775"/>
                  </a:cubicBezTo>
                  <a:lnTo>
                    <a:pt x="0" y="93775"/>
                  </a:lnTo>
                  <a:cubicBezTo>
                    <a:pt x="0" y="68904"/>
                    <a:pt x="9880" y="45052"/>
                    <a:pt x="27466" y="27466"/>
                  </a:cubicBezTo>
                  <a:cubicBezTo>
                    <a:pt x="45052" y="9880"/>
                    <a:pt x="68904" y="0"/>
                    <a:pt x="93775" y="0"/>
                  </a:cubicBezTo>
                  <a:close/>
                </a:path>
              </a:pathLst>
            </a:custGeom>
            <a:solidFill>
              <a:srgbClr val="425AD4"/>
            </a:solidFill>
            <a:ln>
              <a:solidFill>
                <a:srgbClr val="425AD4"/>
              </a:solidFill>
            </a:ln>
          </p:spPr>
        </p:sp>
        <p:sp>
          <p:nvSpPr>
            <p:cNvPr id="26" name="TextBox 28">
              <a:extLst>
                <a:ext uri="{FF2B5EF4-FFF2-40B4-BE49-F238E27FC236}">
                  <a16:creationId xmlns:a16="http://schemas.microsoft.com/office/drawing/2014/main" id="{D09011A3-A78B-4B7B-B7C0-27E183D8CA47}"/>
                </a:ext>
              </a:extLst>
            </p:cNvPr>
            <p:cNvSpPr txBox="1"/>
            <p:nvPr/>
          </p:nvSpPr>
          <p:spPr>
            <a:xfrm>
              <a:off x="2878973" y="4355193"/>
              <a:ext cx="1219511" cy="400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ko-KR" altLang="en-US" sz="2400" b="1">
                  <a:solidFill>
                    <a:srgbClr val="FAFAF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odec Pro Bold"/>
                  <a:sym typeface="Codec Pro Bold"/>
                </a:rPr>
                <a:t>올리브영</a:t>
              </a:r>
              <a:endParaRPr lang="en-US" sz="2400" b="1">
                <a:solidFill>
                  <a:srgbClr val="FAFAF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dec Pro Bold"/>
                <a:sym typeface="Codec Pro Bold"/>
              </a:endParaRPr>
            </a:p>
          </p:txBody>
        </p:sp>
        <p:sp>
          <p:nvSpPr>
            <p:cNvPr id="27" name="TextBox 28">
              <a:extLst>
                <a:ext uri="{FF2B5EF4-FFF2-40B4-BE49-F238E27FC236}">
                  <a16:creationId xmlns:a16="http://schemas.microsoft.com/office/drawing/2014/main" id="{39B310B6-2ED6-427E-81ED-0B692D1A645A}"/>
                </a:ext>
              </a:extLst>
            </p:cNvPr>
            <p:cNvSpPr txBox="1"/>
            <p:nvPr/>
          </p:nvSpPr>
          <p:spPr>
            <a:xfrm>
              <a:off x="8534244" y="4355193"/>
              <a:ext cx="1219511" cy="409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ko-KR" altLang="en-US" sz="2400" b="1">
                  <a:solidFill>
                    <a:srgbClr val="FAFAF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odec Pro Bold"/>
                  <a:sym typeface="Codec Pro Bold"/>
                </a:rPr>
                <a:t>무지</a:t>
              </a:r>
              <a:endParaRPr lang="en-US" sz="2400" b="1">
                <a:solidFill>
                  <a:srgbClr val="FAFAF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dec Pro Bold"/>
                <a:sym typeface="Codec Pro Bold"/>
              </a:endParaRPr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3C8AEBEB-A0C8-4BBE-AE9A-0D5839129A32}"/>
                </a:ext>
              </a:extLst>
            </p:cNvPr>
            <p:cNvSpPr txBox="1"/>
            <p:nvPr/>
          </p:nvSpPr>
          <p:spPr>
            <a:xfrm>
              <a:off x="14189516" y="4355193"/>
              <a:ext cx="1219511" cy="409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ko-KR" altLang="en-US" sz="2400" b="1">
                  <a:solidFill>
                    <a:srgbClr val="FAFAF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odec Pro Bold"/>
                  <a:sym typeface="Codec Pro Bold"/>
                </a:rPr>
                <a:t>지그재그</a:t>
              </a:r>
              <a:endParaRPr lang="en-US" sz="2400" b="1">
                <a:solidFill>
                  <a:srgbClr val="FAFAF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dec Pro Bold"/>
                <a:sym typeface="Codec Pro Bold"/>
              </a:endParaRP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BB5C4A4B-BC07-4566-A212-8B9FACD8E727}"/>
                </a:ext>
              </a:extLst>
            </p:cNvPr>
            <p:cNvSpPr txBox="1"/>
            <p:nvPr/>
          </p:nvSpPr>
          <p:spPr>
            <a:xfrm>
              <a:off x="1186541" y="6116476"/>
              <a:ext cx="4604374" cy="3882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>
                <a:lnSpc>
                  <a:spcPts val="3360"/>
                </a:lnSpc>
                <a:spcBef>
                  <a:spcPct val="0"/>
                </a:spcBef>
              </a:pPr>
              <a:r>
                <a:rPr lang="ko-KR" altLang="en-US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뷰티</a:t>
              </a:r>
              <a:r>
                <a:rPr lang="en-US" altLang="ko-KR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/</a:t>
              </a:r>
              <a:r>
                <a:rPr lang="ko-KR" altLang="en-US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헬스 중심 카테고리</a:t>
              </a:r>
              <a:r>
                <a:rPr lang="en-US" altLang="ko-KR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, </a:t>
              </a:r>
              <a:r>
                <a:rPr lang="ko-KR" altLang="en-US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랭킹</a:t>
              </a:r>
              <a:r>
                <a:rPr lang="en-US" altLang="ko-KR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, </a:t>
              </a:r>
              <a:r>
                <a:rPr lang="ko-KR" altLang="en-US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기획전 구성</a:t>
              </a:r>
              <a:endParaRPr lang="en-US" altLang="ko-KR" sz="200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 Ultra-Bold"/>
                <a:sym typeface="Nanum Square Ultra-Bold"/>
              </a:endParaRPr>
            </a:p>
          </p:txBody>
        </p:sp>
        <p:sp>
          <p:nvSpPr>
            <p:cNvPr id="32" name="TextBox 30">
              <a:extLst>
                <a:ext uri="{FF2B5EF4-FFF2-40B4-BE49-F238E27FC236}">
                  <a16:creationId xmlns:a16="http://schemas.microsoft.com/office/drawing/2014/main" id="{92CF8C5B-A03A-4E36-9DA7-C27EAEE8DD3B}"/>
                </a:ext>
              </a:extLst>
            </p:cNvPr>
            <p:cNvSpPr txBox="1"/>
            <p:nvPr/>
          </p:nvSpPr>
          <p:spPr>
            <a:xfrm>
              <a:off x="6638048" y="6125811"/>
              <a:ext cx="5011902" cy="3882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>
                <a:lnSpc>
                  <a:spcPts val="3360"/>
                </a:lnSpc>
                <a:spcBef>
                  <a:spcPct val="0"/>
                </a:spcBef>
              </a:pPr>
              <a:r>
                <a:rPr lang="ko-KR" altLang="en-US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간결한 상품 탐색과 라이프스타일 카테고리 구성</a:t>
              </a:r>
              <a:endParaRPr lang="en-US" altLang="ko-KR" sz="200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 Ultra-Bold"/>
                <a:sym typeface="Nanum Square Ultra-Bold"/>
              </a:endParaRPr>
            </a:p>
          </p:txBody>
        </p:sp>
        <p:sp>
          <p:nvSpPr>
            <p:cNvPr id="33" name="TextBox 30">
              <a:extLst>
                <a:ext uri="{FF2B5EF4-FFF2-40B4-BE49-F238E27FC236}">
                  <a16:creationId xmlns:a16="http://schemas.microsoft.com/office/drawing/2014/main" id="{CCEFAA4C-D397-474E-9813-74CDA692AD06}"/>
                </a:ext>
              </a:extLst>
            </p:cNvPr>
            <p:cNvSpPr txBox="1"/>
            <p:nvPr/>
          </p:nvSpPr>
          <p:spPr>
            <a:xfrm>
              <a:off x="12497084" y="6125811"/>
              <a:ext cx="4604374" cy="3882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>
                <a:lnSpc>
                  <a:spcPts val="3360"/>
                </a:lnSpc>
                <a:spcBef>
                  <a:spcPct val="0"/>
                </a:spcBef>
              </a:pPr>
              <a:r>
                <a:rPr lang="ko-KR" altLang="en-US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모바일 앱형 탐색</a:t>
              </a:r>
              <a:r>
                <a:rPr lang="en-US" altLang="ko-KR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, </a:t>
              </a:r>
              <a:r>
                <a:rPr lang="ko-KR" altLang="en-US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랭킹</a:t>
              </a:r>
              <a:r>
                <a:rPr lang="en-US" altLang="ko-KR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/</a:t>
              </a:r>
              <a:r>
                <a:rPr lang="ko-KR" altLang="en-US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추천</a:t>
              </a:r>
              <a:r>
                <a:rPr lang="en-US" altLang="ko-KR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/</a:t>
              </a:r>
              <a:r>
                <a:rPr lang="ko-KR" altLang="en-US" sz="2000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카테고리 흐름</a:t>
              </a:r>
              <a:endParaRPr lang="en-US" altLang="ko-KR" sz="2000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 Ultra-Bold"/>
                <a:sym typeface="Nanum Square Ultra-Bold"/>
              </a:endParaRPr>
            </a:p>
          </p:txBody>
        </p:sp>
        <p:sp>
          <p:nvSpPr>
            <p:cNvPr id="34" name="TextBox 26">
              <a:extLst>
                <a:ext uri="{FF2B5EF4-FFF2-40B4-BE49-F238E27FC236}">
                  <a16:creationId xmlns:a16="http://schemas.microsoft.com/office/drawing/2014/main" id="{E011F78D-FF8B-4BF5-AD91-4DD1EB6670F1}"/>
                </a:ext>
              </a:extLst>
            </p:cNvPr>
            <p:cNvSpPr txBox="1"/>
            <p:nvPr/>
          </p:nvSpPr>
          <p:spPr>
            <a:xfrm>
              <a:off x="2295899" y="7929214"/>
              <a:ext cx="13696200" cy="1660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r>
                <a:rPr lang="ko-KR" altLang="en-US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다이소는 다양한 상품군을 고려해 특정 서비스 구조를 그대로 따르기보다 여러 앱의 장점을 결합해 다이소몰에 맞게 재구성했다</a:t>
              </a:r>
              <a:r>
                <a:rPr lang="en-US" altLang="ko-KR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.</a:t>
              </a:r>
            </a:p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r>
                <a:rPr lang="ko-KR" altLang="en-US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또한 모바일 중심 </a:t>
              </a:r>
              <a:r>
                <a:rPr lang="en-US" altLang="ko-KR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UX</a:t>
              </a:r>
              <a:r>
                <a:rPr lang="ko-KR" altLang="en-US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를 기반으로 하되 </a:t>
              </a:r>
              <a:r>
                <a:rPr lang="en-US" altLang="ko-KR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PC</a:t>
              </a:r>
              <a:r>
                <a:rPr lang="ko-KR" altLang="en-US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에서도 자연스럽게 동작하도록 반응형으로 설계했다</a:t>
              </a:r>
              <a:r>
                <a:rPr lang="en-US" altLang="ko-KR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.</a:t>
              </a:r>
            </a:p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r>
                <a:rPr lang="ko-KR" altLang="en-US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시장조사</a:t>
              </a:r>
              <a:r>
                <a:rPr lang="en-US" altLang="ko-KR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·SWOT·</a:t>
              </a:r>
              <a:r>
                <a:rPr lang="ko-KR" altLang="en-US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포지셔닝 맵은 제외하고 </a:t>
              </a:r>
              <a:r>
                <a:rPr lang="en-US" altLang="ko-KR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UX </a:t>
              </a:r>
              <a:r>
                <a:rPr lang="ko-KR" altLang="en-US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구조 분석에 집중했다</a:t>
              </a:r>
              <a:r>
                <a:rPr lang="en-US" altLang="ko-KR" sz="2000" u="none" strike="noStrike">
                  <a:solidFill>
                    <a:srgbClr val="4A4A4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anum Square Ultra-Bold"/>
                  <a:sym typeface="Nanum Square Ultra-Bold"/>
                </a:rPr>
                <a:t>.</a:t>
              </a:r>
              <a:endParaRPr lang="en-US" sz="2000" u="none" strike="noStrike">
                <a:solidFill>
                  <a:srgbClr val="4A4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 Ultra-Bold"/>
                <a:sym typeface="Nanum Square Ultra-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225067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E690DF9D-6882-4C2C-9B4C-227102732866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27" name="TextBox 22">
              <a:extLst>
                <a:ext uri="{FF2B5EF4-FFF2-40B4-BE49-F238E27FC236}">
                  <a16:creationId xmlns:a16="http://schemas.microsoft.com/office/drawing/2014/main" id="{AA1684FF-B15D-4C0C-BC31-323F82C5B0C8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페르소나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67D5D694-4D42-4D59-A2CE-79BB47A5D9BD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3"/>
          <p:cNvSpPr/>
          <p:nvPr/>
        </p:nvSpPr>
        <p:spPr>
          <a:xfrm>
            <a:off x="3352800" y="1790700"/>
            <a:ext cx="4953000" cy="7543800"/>
          </a:xfrm>
          <a:custGeom>
            <a:avLst/>
            <a:gdLst/>
            <a:ahLst/>
            <a:cxnLst/>
            <a:rect l="l" t="t" r="r" b="b"/>
            <a:pathLst>
              <a:path w="1203960" h="300990">
                <a:moveTo>
                  <a:pt x="0" y="0"/>
                </a:moveTo>
                <a:lnTo>
                  <a:pt x="1203960" y="0"/>
                </a:lnTo>
                <a:lnTo>
                  <a:pt x="1203960" y="300990"/>
                </a:lnTo>
                <a:lnTo>
                  <a:pt x="0" y="300990"/>
                </a:lnTo>
                <a:close/>
              </a:path>
            </a:pathLst>
          </a:custGeom>
          <a:solidFill>
            <a:srgbClr val="FFFFFF"/>
          </a:solidFill>
          <a:ln w="9525"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2EFDF13-EF56-4ACB-BF70-70B9F787D527}"/>
              </a:ext>
            </a:extLst>
          </p:cNvPr>
          <p:cNvGrpSpPr/>
          <p:nvPr/>
        </p:nvGrpSpPr>
        <p:grpSpPr>
          <a:xfrm>
            <a:off x="5067723" y="2324685"/>
            <a:ext cx="2780877" cy="1892086"/>
            <a:chOff x="5384789" y="2171700"/>
            <a:chExt cx="2780877" cy="1892086"/>
          </a:xfrm>
        </p:grpSpPr>
        <p:sp>
          <p:nvSpPr>
            <p:cNvPr id="25" name="TextBox 12">
              <a:extLst>
                <a:ext uri="{FF2B5EF4-FFF2-40B4-BE49-F238E27FC236}">
                  <a16:creationId xmlns:a16="http://schemas.microsoft.com/office/drawing/2014/main" id="{0D73AD42-6F50-47E5-9561-1B3D0A05A4BC}"/>
                </a:ext>
              </a:extLst>
            </p:cNvPr>
            <p:cNvSpPr txBox="1"/>
            <p:nvPr/>
          </p:nvSpPr>
          <p:spPr>
            <a:xfrm>
              <a:off x="5384789" y="2171700"/>
              <a:ext cx="533400" cy="2154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spcBef>
                  <a:spcPct val="0"/>
                </a:spcBef>
              </a:pPr>
              <a:r>
                <a:rPr lang="ko-KR" altLang="en-US" sz="1400" b="1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김지은</a:t>
              </a:r>
              <a:endParaRPr lang="en-US" sz="1400" b="1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</p:txBody>
        </p:sp>
        <p:sp>
          <p:nvSpPr>
            <p:cNvPr id="29" name="TextBox 12">
              <a:extLst>
                <a:ext uri="{FF2B5EF4-FFF2-40B4-BE49-F238E27FC236}">
                  <a16:creationId xmlns:a16="http://schemas.microsoft.com/office/drawing/2014/main" id="{157A1F65-F0C1-4BD4-9638-404D908B3A5A}"/>
                </a:ext>
              </a:extLst>
            </p:cNvPr>
            <p:cNvSpPr txBox="1"/>
            <p:nvPr/>
          </p:nvSpPr>
          <p:spPr>
            <a:xfrm>
              <a:off x="5384789" y="2548324"/>
              <a:ext cx="924442" cy="7318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ko-KR" altLang="en-US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나이 </a:t>
              </a:r>
              <a:r>
                <a:rPr lang="en-US" altLang="ko-KR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:     32</a:t>
              </a:r>
              <a:r>
                <a:rPr lang="ko-KR" altLang="en-US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세</a:t>
              </a:r>
              <a:endParaRPr lang="en-US" altLang="ko-KR" sz="11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ko-KR" altLang="en-US" sz="1100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직업 </a:t>
              </a:r>
              <a:r>
                <a:rPr lang="en-US" altLang="ko-KR" sz="1100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:     </a:t>
              </a:r>
              <a:r>
                <a:rPr lang="ko-KR" altLang="en-US" sz="1100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직장인</a:t>
              </a:r>
              <a:endParaRPr lang="en-US" altLang="ko-KR" sz="1100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ko-KR" altLang="en-US" sz="1100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특징 </a:t>
              </a:r>
              <a:r>
                <a:rPr lang="en-US" altLang="ko-KR" sz="1100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: </a:t>
              </a:r>
            </a:p>
          </p:txBody>
        </p:sp>
        <p:sp>
          <p:nvSpPr>
            <p:cNvPr id="30" name="TextBox 12">
              <a:extLst>
                <a:ext uri="{FF2B5EF4-FFF2-40B4-BE49-F238E27FC236}">
                  <a16:creationId xmlns:a16="http://schemas.microsoft.com/office/drawing/2014/main" id="{FA12DCAF-554B-4BE4-B41A-51260DCE06E8}"/>
                </a:ext>
              </a:extLst>
            </p:cNvPr>
            <p:cNvSpPr txBox="1"/>
            <p:nvPr/>
          </p:nvSpPr>
          <p:spPr>
            <a:xfrm>
              <a:off x="5847010" y="3077939"/>
              <a:ext cx="2318656" cy="9858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ko-KR" altLang="en-US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생활에 필요한 상품을 빠르게 온라인으로 </a:t>
              </a:r>
              <a:endParaRPr lang="en-US" altLang="ko-KR" sz="11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ko-KR" altLang="en-US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해결하려는 실용형 사용자</a:t>
              </a: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ko-KR" altLang="en-US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목적 구매 </a:t>
              </a:r>
              <a:r>
                <a:rPr lang="en-US" altLang="ko-KR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+ </a:t>
              </a:r>
              <a:r>
                <a:rPr lang="ko-KR" altLang="en-US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가벼운 탐색을 함께 하는 유형</a:t>
              </a:r>
              <a:endParaRPr lang="en-US" altLang="ko-KR" sz="1100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</p:txBody>
        </p:sp>
      </p:grpSp>
      <p:sp>
        <p:nvSpPr>
          <p:cNvPr id="31" name="TextBox 12">
            <a:extLst>
              <a:ext uri="{FF2B5EF4-FFF2-40B4-BE49-F238E27FC236}">
                <a16:creationId xmlns:a16="http://schemas.microsoft.com/office/drawing/2014/main" id="{677C4F40-EB3A-40EF-B77B-8302585591FE}"/>
              </a:ext>
            </a:extLst>
          </p:cNvPr>
          <p:cNvSpPr txBox="1"/>
          <p:nvPr/>
        </p:nvSpPr>
        <p:spPr>
          <a:xfrm>
            <a:off x="3886200" y="6057900"/>
            <a:ext cx="713858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1600" b="1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Needs</a:t>
            </a:r>
            <a:endParaRPr lang="en-US" sz="1600" b="1" u="none" strike="noStrike">
              <a:solidFill>
                <a:srgbClr val="32323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32" name="TextBox 12">
            <a:extLst>
              <a:ext uri="{FF2B5EF4-FFF2-40B4-BE49-F238E27FC236}">
                <a16:creationId xmlns:a16="http://schemas.microsoft.com/office/drawing/2014/main" id="{28B00ACC-7F1E-4EBC-873E-0780BE0C1226}"/>
              </a:ext>
            </a:extLst>
          </p:cNvPr>
          <p:cNvSpPr txBox="1"/>
          <p:nvPr/>
        </p:nvSpPr>
        <p:spPr>
          <a:xfrm>
            <a:off x="3886200" y="7295166"/>
            <a:ext cx="99060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1600" b="1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Situation</a:t>
            </a:r>
          </a:p>
        </p:txBody>
      </p:sp>
      <p:sp>
        <p:nvSpPr>
          <p:cNvPr id="36" name="Freeform 6">
            <a:extLst>
              <a:ext uri="{FF2B5EF4-FFF2-40B4-BE49-F238E27FC236}">
                <a16:creationId xmlns:a16="http://schemas.microsoft.com/office/drawing/2014/main" id="{07CD1624-F1E2-44D4-B9A1-2E13958A4B44}"/>
              </a:ext>
            </a:extLst>
          </p:cNvPr>
          <p:cNvSpPr/>
          <p:nvPr/>
        </p:nvSpPr>
        <p:spPr>
          <a:xfrm>
            <a:off x="3681043" y="5815661"/>
            <a:ext cx="4296514" cy="3214039"/>
          </a:xfrm>
          <a:custGeom>
            <a:avLst/>
            <a:gdLst/>
            <a:ahLst/>
            <a:cxnLst/>
            <a:rect l="l" t="t" r="r" b="b"/>
            <a:pathLst>
              <a:path w="2852843" h="362373">
                <a:moveTo>
                  <a:pt x="0" y="0"/>
                </a:moveTo>
                <a:lnTo>
                  <a:pt x="2852843" y="0"/>
                </a:lnTo>
                <a:lnTo>
                  <a:pt x="2852843" y="362373"/>
                </a:lnTo>
                <a:lnTo>
                  <a:pt x="0" y="362373"/>
                </a:lnTo>
                <a:close/>
              </a:path>
            </a:pathLst>
          </a:custGeom>
          <a:noFill/>
          <a:ln w="9525" cap="sq">
            <a:solidFill>
              <a:srgbClr val="425AD4"/>
            </a:solidFill>
            <a:prstDash val="solid"/>
            <a:miter/>
          </a:ln>
        </p:spPr>
      </p:sp>
      <p:sp>
        <p:nvSpPr>
          <p:cNvPr id="38" name="TextBox 12">
            <a:extLst>
              <a:ext uri="{FF2B5EF4-FFF2-40B4-BE49-F238E27FC236}">
                <a16:creationId xmlns:a16="http://schemas.microsoft.com/office/drawing/2014/main" id="{B282C98A-7A2E-4C8E-A7DF-DA5ECC36117E}"/>
              </a:ext>
            </a:extLst>
          </p:cNvPr>
          <p:cNvSpPr txBox="1"/>
          <p:nvPr/>
        </p:nvSpPr>
        <p:spPr>
          <a:xfrm>
            <a:off x="3772841" y="4217611"/>
            <a:ext cx="2551759" cy="407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“</a:t>
            </a:r>
            <a:r>
              <a:rPr lang="ko-KR" altLang="en-US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샴푸 다 떨어졌는데 다이소몰에 있나</a:t>
            </a:r>
            <a:r>
              <a:rPr lang="en-US" altLang="ko-KR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?</a:t>
            </a: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”</a:t>
            </a:r>
            <a:endParaRPr lang="en-US" altLang="ko-KR" sz="2000" b="1">
              <a:solidFill>
                <a:srgbClr val="425AD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0C83DF9-9DC9-461E-A5D9-0961A7E5577D}"/>
              </a:ext>
            </a:extLst>
          </p:cNvPr>
          <p:cNvSpPr txBox="1"/>
          <p:nvPr/>
        </p:nvSpPr>
        <p:spPr>
          <a:xfrm>
            <a:off x="4066658" y="4783465"/>
            <a:ext cx="405718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“</a:t>
            </a:r>
            <a:r>
              <a:rPr lang="ko-KR" altLang="en-US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매장 가기엔 애매한데 온라인으로 바로 살 수 있으면 좋겠다</a:t>
            </a:r>
            <a:r>
              <a:rPr lang="en-US" altLang="ko-KR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.</a:t>
            </a: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”</a:t>
            </a:r>
            <a:endParaRPr lang="en-US" altLang="ko-KR" sz="2000" b="1">
              <a:solidFill>
                <a:srgbClr val="425AD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95353CEF-E05C-4361-8AFB-062A4D167FDA}"/>
              </a:ext>
            </a:extLst>
          </p:cNvPr>
          <p:cNvSpPr txBox="1"/>
          <p:nvPr/>
        </p:nvSpPr>
        <p:spPr>
          <a:xfrm>
            <a:off x="3772841" y="5232521"/>
            <a:ext cx="312922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“</a:t>
            </a:r>
            <a:r>
              <a:rPr lang="ko-KR" altLang="en-US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필요한 거 보러 왔는데</a:t>
            </a:r>
            <a:r>
              <a:rPr lang="en-US" altLang="ko-KR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이런 상품도 있네</a:t>
            </a:r>
            <a:r>
              <a:rPr lang="en-US" altLang="ko-KR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?</a:t>
            </a: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”</a:t>
            </a:r>
            <a:endParaRPr lang="en-US" altLang="ko-KR" sz="2000" b="1">
              <a:solidFill>
                <a:srgbClr val="425AD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C1A3AEFD-DAC5-4DA7-B97A-F5A40CCDAA70}"/>
              </a:ext>
            </a:extLst>
          </p:cNvPr>
          <p:cNvSpPr txBox="1"/>
          <p:nvPr/>
        </p:nvSpPr>
        <p:spPr>
          <a:xfrm>
            <a:off x="3990458" y="6429421"/>
            <a:ext cx="3858142" cy="89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lvl="0" indent="-17145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원하는 상품군까지 빠르게 이동할 수 있는 카테고리 구조</a:t>
            </a:r>
            <a:endParaRPr lang="en-US" altLang="ko-KR" sz="1000" u="none" strike="noStrike">
              <a:solidFill>
                <a:srgbClr val="32323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  <a:p>
            <a:pPr marL="171450" lvl="0" indent="-17145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추천 상품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카테고리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배송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/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픽업 서비스처럼 실질적인 구매와 연결되는 정보</a:t>
            </a:r>
            <a:endParaRPr lang="en-US" altLang="ko-KR" sz="1000" u="none" strike="noStrike">
              <a:solidFill>
                <a:srgbClr val="32323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  <a:p>
            <a:pPr marL="171450" lvl="0" indent="-17145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“다이소에 이런 것도 있구나”를 자연스럽게 보여주는 탐색형 메인 구성</a:t>
            </a:r>
            <a:endParaRPr lang="en-US" altLang="ko-KR" sz="1000">
              <a:solidFill>
                <a:srgbClr val="32323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9CB290F8-3706-4440-A727-BFB70F064585}"/>
              </a:ext>
            </a:extLst>
          </p:cNvPr>
          <p:cNvSpPr txBox="1"/>
          <p:nvPr/>
        </p:nvSpPr>
        <p:spPr>
          <a:xfrm>
            <a:off x="3990458" y="7658100"/>
            <a:ext cx="3858142" cy="1357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생활에 필요한 상품을 온라인으로 편하게 구매하기 위해 다이소몰에 접속하며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필요한 특정 상품을 찾거나 목적 없이 둘러보다가도 검색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카테고리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추천 상품을 통해 원하는 제품을 탐색하게 된다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.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또한 오늘배송이나 매장픽업 같은 구매 방식을 함께 확인하면서 빠르게 구매를 결정하기도 하고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메인에서 추천 상품이나 기획전을 보며 예상하지 못했던 상품을 발견해 추가 구매로 이어지는 상황이다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.</a:t>
            </a:r>
            <a:endParaRPr lang="en-US" altLang="ko-KR" sz="1000">
              <a:solidFill>
                <a:srgbClr val="32323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7C3F6AEF-757D-4CA4-8291-DF087F79F162}"/>
              </a:ext>
            </a:extLst>
          </p:cNvPr>
          <p:cNvSpPr/>
          <p:nvPr/>
        </p:nvSpPr>
        <p:spPr>
          <a:xfrm>
            <a:off x="9982202" y="1790700"/>
            <a:ext cx="4953000" cy="7543800"/>
          </a:xfrm>
          <a:custGeom>
            <a:avLst/>
            <a:gdLst/>
            <a:ahLst/>
            <a:cxnLst/>
            <a:rect l="l" t="t" r="r" b="b"/>
            <a:pathLst>
              <a:path w="1203960" h="300990">
                <a:moveTo>
                  <a:pt x="0" y="0"/>
                </a:moveTo>
                <a:lnTo>
                  <a:pt x="1203960" y="0"/>
                </a:lnTo>
                <a:lnTo>
                  <a:pt x="1203960" y="300990"/>
                </a:lnTo>
                <a:lnTo>
                  <a:pt x="0" y="300990"/>
                </a:lnTo>
                <a:close/>
              </a:path>
            </a:pathLst>
          </a:custGeom>
          <a:solidFill>
            <a:srgbClr val="FFFFFF"/>
          </a:solidFill>
          <a:ln w="9525"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TextBox 12">
            <a:extLst>
              <a:ext uri="{FF2B5EF4-FFF2-40B4-BE49-F238E27FC236}">
                <a16:creationId xmlns:a16="http://schemas.microsoft.com/office/drawing/2014/main" id="{4304C2A0-0D0A-497F-9A79-A766BC45C34D}"/>
              </a:ext>
            </a:extLst>
          </p:cNvPr>
          <p:cNvSpPr txBox="1"/>
          <p:nvPr/>
        </p:nvSpPr>
        <p:spPr>
          <a:xfrm>
            <a:off x="10515602" y="6057900"/>
            <a:ext cx="713858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1600" b="1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Needs</a:t>
            </a:r>
            <a:endParaRPr lang="en-US" sz="1600" b="1" u="none" strike="noStrike">
              <a:solidFill>
                <a:srgbClr val="32323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A55EFFA0-96D0-495F-96EC-3E47D1A18ED4}"/>
              </a:ext>
            </a:extLst>
          </p:cNvPr>
          <p:cNvSpPr txBox="1"/>
          <p:nvPr/>
        </p:nvSpPr>
        <p:spPr>
          <a:xfrm>
            <a:off x="10515602" y="7295166"/>
            <a:ext cx="99060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1600" b="1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Situation</a:t>
            </a:r>
          </a:p>
        </p:txBody>
      </p:sp>
      <p:sp>
        <p:nvSpPr>
          <p:cNvPr id="55" name="Freeform 6">
            <a:extLst>
              <a:ext uri="{FF2B5EF4-FFF2-40B4-BE49-F238E27FC236}">
                <a16:creationId xmlns:a16="http://schemas.microsoft.com/office/drawing/2014/main" id="{B8A5EF99-FD3A-4C3F-8292-59B1C9B5DFF8}"/>
              </a:ext>
            </a:extLst>
          </p:cNvPr>
          <p:cNvSpPr/>
          <p:nvPr/>
        </p:nvSpPr>
        <p:spPr>
          <a:xfrm>
            <a:off x="10310445" y="5815661"/>
            <a:ext cx="4296514" cy="3214039"/>
          </a:xfrm>
          <a:custGeom>
            <a:avLst/>
            <a:gdLst/>
            <a:ahLst/>
            <a:cxnLst/>
            <a:rect l="l" t="t" r="r" b="b"/>
            <a:pathLst>
              <a:path w="2852843" h="362373">
                <a:moveTo>
                  <a:pt x="0" y="0"/>
                </a:moveTo>
                <a:lnTo>
                  <a:pt x="2852843" y="0"/>
                </a:lnTo>
                <a:lnTo>
                  <a:pt x="2852843" y="362373"/>
                </a:lnTo>
                <a:lnTo>
                  <a:pt x="0" y="362373"/>
                </a:lnTo>
                <a:close/>
              </a:path>
            </a:pathLst>
          </a:custGeom>
          <a:noFill/>
          <a:ln w="9525" cap="sq">
            <a:solidFill>
              <a:srgbClr val="425AD4"/>
            </a:solidFill>
            <a:prstDash val="solid"/>
            <a:miter/>
          </a:ln>
        </p:spPr>
      </p:sp>
      <p:sp>
        <p:nvSpPr>
          <p:cNvPr id="56" name="TextBox 12">
            <a:extLst>
              <a:ext uri="{FF2B5EF4-FFF2-40B4-BE49-F238E27FC236}">
                <a16:creationId xmlns:a16="http://schemas.microsoft.com/office/drawing/2014/main" id="{6097091C-E3CB-4968-8751-62009D12ED30}"/>
              </a:ext>
            </a:extLst>
          </p:cNvPr>
          <p:cNvSpPr txBox="1"/>
          <p:nvPr/>
        </p:nvSpPr>
        <p:spPr>
          <a:xfrm>
            <a:off x="10402243" y="4217611"/>
            <a:ext cx="2653007" cy="407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“</a:t>
            </a:r>
            <a:r>
              <a:rPr lang="ko-KR" altLang="en-US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신상 떴다던데 다이소몰에 올라왔나</a:t>
            </a:r>
            <a:r>
              <a:rPr lang="en-US" altLang="ko-KR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?</a:t>
            </a: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”</a:t>
            </a:r>
            <a:endParaRPr lang="en-US" altLang="ko-KR" sz="2000" b="1">
              <a:solidFill>
                <a:srgbClr val="425AD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57" name="TextBox 12">
            <a:extLst>
              <a:ext uri="{FF2B5EF4-FFF2-40B4-BE49-F238E27FC236}">
                <a16:creationId xmlns:a16="http://schemas.microsoft.com/office/drawing/2014/main" id="{47301887-0405-44F8-84AF-B04F1D7BB0CB}"/>
              </a:ext>
            </a:extLst>
          </p:cNvPr>
          <p:cNvSpPr txBox="1"/>
          <p:nvPr/>
        </p:nvSpPr>
        <p:spPr>
          <a:xfrm>
            <a:off x="10820400" y="4783465"/>
            <a:ext cx="393284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“</a:t>
            </a:r>
            <a:r>
              <a:rPr lang="en-US" altLang="ko-KR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SNS </a:t>
            </a:r>
            <a:r>
              <a:rPr lang="ko-KR" altLang="en-US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에서 본 그 콜라보 상품</a:t>
            </a:r>
            <a:r>
              <a:rPr lang="en-US" altLang="ko-KR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품절되기 전에 찾아야 해</a:t>
            </a: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”</a:t>
            </a:r>
            <a:endParaRPr lang="en-US" altLang="ko-KR" sz="2000" b="1">
              <a:solidFill>
                <a:srgbClr val="425AD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58" name="TextBox 12">
            <a:extLst>
              <a:ext uri="{FF2B5EF4-FFF2-40B4-BE49-F238E27FC236}">
                <a16:creationId xmlns:a16="http://schemas.microsoft.com/office/drawing/2014/main" id="{62B2A12C-70FA-420C-9E3F-30BF5AA553C1}"/>
              </a:ext>
            </a:extLst>
          </p:cNvPr>
          <p:cNvSpPr txBox="1"/>
          <p:nvPr/>
        </p:nvSpPr>
        <p:spPr>
          <a:xfrm>
            <a:off x="10668002" y="5202228"/>
            <a:ext cx="312922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“</a:t>
            </a:r>
            <a:r>
              <a:rPr lang="ko-KR" altLang="en-US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이번 시즌 상품 어디에 모여 있지</a:t>
            </a:r>
            <a:r>
              <a:rPr lang="en-US" altLang="ko-KR" sz="1200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?</a:t>
            </a:r>
            <a:r>
              <a:rPr lang="en-US" altLang="ko-KR" sz="2000" b="1" u="none" strike="noStrik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”</a:t>
            </a:r>
            <a:endParaRPr lang="en-US" altLang="ko-KR" sz="2000" b="1">
              <a:solidFill>
                <a:srgbClr val="425AD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59" name="TextBox 12">
            <a:extLst>
              <a:ext uri="{FF2B5EF4-FFF2-40B4-BE49-F238E27FC236}">
                <a16:creationId xmlns:a16="http://schemas.microsoft.com/office/drawing/2014/main" id="{481108DE-5A09-4203-B972-6927A89D8AAA}"/>
              </a:ext>
            </a:extLst>
          </p:cNvPr>
          <p:cNvSpPr txBox="1"/>
          <p:nvPr/>
        </p:nvSpPr>
        <p:spPr>
          <a:xfrm>
            <a:off x="10619860" y="6429421"/>
            <a:ext cx="3858142" cy="665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lvl="0" indent="-17145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신상품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인기 상품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기획전으로 빠르게 진입할 수 있는 구조</a:t>
            </a:r>
            <a:endParaRPr lang="en-US" altLang="ko-KR" sz="1000" u="none" strike="noStrike">
              <a:solidFill>
                <a:srgbClr val="32323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  <a:p>
            <a:pPr marL="171450" lvl="0" indent="-17145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카테고리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랭킹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오늘배송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매장픽업 같은 주요 메뉴의 높은 접근성</a:t>
            </a:r>
            <a:endParaRPr lang="en-US" altLang="ko-KR" sz="1000" u="none" strike="noStrike">
              <a:solidFill>
                <a:srgbClr val="32323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  <a:p>
            <a:pPr marL="171450" lvl="0" indent="-17145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트렌드 상품과 시즌 상품을 메인에서 바로 인지할 수 있는 섹션 구성</a:t>
            </a:r>
            <a:endParaRPr lang="en-US" altLang="ko-KR" sz="1000">
              <a:solidFill>
                <a:srgbClr val="32323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sp>
        <p:nvSpPr>
          <p:cNvPr id="60" name="TextBox 12">
            <a:extLst>
              <a:ext uri="{FF2B5EF4-FFF2-40B4-BE49-F238E27FC236}">
                <a16:creationId xmlns:a16="http://schemas.microsoft.com/office/drawing/2014/main" id="{8DEBC529-533D-4A7A-BDAA-B5859CDDC76A}"/>
              </a:ext>
            </a:extLst>
          </p:cNvPr>
          <p:cNvSpPr txBox="1"/>
          <p:nvPr/>
        </p:nvSpPr>
        <p:spPr>
          <a:xfrm>
            <a:off x="10619860" y="7658100"/>
            <a:ext cx="3858142" cy="1357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SNS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나 커뮤니티를 통해 다이소 신상품이나 콜라보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인기 상품 정보를 빠르게 접한 후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해당 상품이 출시되었는지 또는 현재 구매 가능한지 확인하기 위해 다이소몰에 접속하며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신상품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·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랭킹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·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기획전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·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콜라보 상품을 중심으로 빠르게 탐색하고 검색과 상단 메뉴를 활용해 원하는 상품을 즉시 찾는 동시에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, </a:t>
            </a:r>
            <a:r>
              <a:rPr lang="ko-KR" altLang="en-US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품절 전에 구매하기 위해 오늘배송이나 매장픽업 가능 여부까지 확인하며 빠르게 구매 결정을 내리는 상황이다</a:t>
            </a:r>
            <a:r>
              <a:rPr lang="en-US" altLang="ko-KR" sz="10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rPr>
              <a:t>.</a:t>
            </a:r>
            <a:endParaRPr lang="en-US" altLang="ko-KR" sz="1000">
              <a:solidFill>
                <a:srgbClr val="32323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"/>
              <a:sym typeface="프리젠테이션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3463F82-53D5-4BC6-9145-AEB091312B56}"/>
              </a:ext>
            </a:extLst>
          </p:cNvPr>
          <p:cNvGrpSpPr/>
          <p:nvPr/>
        </p:nvGrpSpPr>
        <p:grpSpPr>
          <a:xfrm>
            <a:off x="11655306" y="2317162"/>
            <a:ext cx="3115227" cy="1638171"/>
            <a:chOff x="5384789" y="2171700"/>
            <a:chExt cx="3115227" cy="1638171"/>
          </a:xfrm>
        </p:grpSpPr>
        <p:sp>
          <p:nvSpPr>
            <p:cNvPr id="67" name="TextBox 12">
              <a:extLst>
                <a:ext uri="{FF2B5EF4-FFF2-40B4-BE49-F238E27FC236}">
                  <a16:creationId xmlns:a16="http://schemas.microsoft.com/office/drawing/2014/main" id="{CA47BE0E-A7D0-44DB-BAF3-8AC5728E590C}"/>
                </a:ext>
              </a:extLst>
            </p:cNvPr>
            <p:cNvSpPr txBox="1"/>
            <p:nvPr/>
          </p:nvSpPr>
          <p:spPr>
            <a:xfrm>
              <a:off x="5384789" y="2171700"/>
              <a:ext cx="533400" cy="2154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spcBef>
                  <a:spcPct val="0"/>
                </a:spcBef>
              </a:pPr>
              <a:r>
                <a:rPr lang="ko-KR" altLang="en-US" sz="1400" b="1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박서준</a:t>
              </a:r>
              <a:endParaRPr lang="en-US" sz="1400" b="1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</p:txBody>
        </p:sp>
        <p:sp>
          <p:nvSpPr>
            <p:cNvPr id="68" name="TextBox 12">
              <a:extLst>
                <a:ext uri="{FF2B5EF4-FFF2-40B4-BE49-F238E27FC236}">
                  <a16:creationId xmlns:a16="http://schemas.microsoft.com/office/drawing/2014/main" id="{7823C1DA-450E-4FC4-815C-2471C7A8148F}"/>
                </a:ext>
              </a:extLst>
            </p:cNvPr>
            <p:cNvSpPr txBox="1"/>
            <p:nvPr/>
          </p:nvSpPr>
          <p:spPr>
            <a:xfrm>
              <a:off x="5384789" y="2548324"/>
              <a:ext cx="924442" cy="7318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ko-KR" altLang="en-US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나이 </a:t>
              </a:r>
              <a:r>
                <a:rPr lang="en-US" altLang="ko-KR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:     24</a:t>
              </a:r>
              <a:r>
                <a:rPr lang="ko-KR" altLang="en-US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세</a:t>
              </a:r>
              <a:endParaRPr lang="en-US" altLang="ko-KR" sz="1100" u="none" strike="noStrike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ko-KR" altLang="en-US" sz="1100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직업 </a:t>
              </a:r>
              <a:r>
                <a:rPr lang="en-US" altLang="ko-KR" sz="1100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:     </a:t>
              </a:r>
              <a:r>
                <a:rPr lang="ko-KR" altLang="en-US" sz="1100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대학생</a:t>
              </a:r>
              <a:endParaRPr lang="en-US" altLang="ko-KR" sz="1100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ko-KR" altLang="en-US" sz="1100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특징 </a:t>
              </a:r>
              <a:r>
                <a:rPr lang="en-US" altLang="ko-KR" sz="1100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: </a:t>
              </a:r>
            </a:p>
          </p:txBody>
        </p:sp>
        <p:sp>
          <p:nvSpPr>
            <p:cNvPr id="69" name="TextBox 12">
              <a:extLst>
                <a:ext uri="{FF2B5EF4-FFF2-40B4-BE49-F238E27FC236}">
                  <a16:creationId xmlns:a16="http://schemas.microsoft.com/office/drawing/2014/main" id="{4E6D6F8B-F95F-449D-93C4-93BEE890C8EC}"/>
                </a:ext>
              </a:extLst>
            </p:cNvPr>
            <p:cNvSpPr txBox="1"/>
            <p:nvPr/>
          </p:nvSpPr>
          <p:spPr>
            <a:xfrm>
              <a:off x="5847009" y="3077939"/>
              <a:ext cx="2653007" cy="7319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ko-KR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SNS·</a:t>
              </a:r>
              <a:r>
                <a:rPr lang="ko-KR" altLang="en-US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커뮤니티 기반으로 신상품과 트렌드에 민감</a:t>
              </a: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ko-KR" altLang="en-US" sz="1100" u="none" strike="noStrike">
                  <a:solidFill>
                    <a:srgbClr val="32323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"/>
                  <a:sym typeface="프리젠테이션"/>
                </a:rPr>
                <a:t>출시 직후 빠르게 탐색하고 구매하는 성향</a:t>
              </a:r>
              <a:endParaRPr lang="en-US" altLang="ko-KR" sz="1100">
                <a:solidFill>
                  <a:srgbClr val="32323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"/>
                <a:sym typeface="프리젠테이션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399836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리뉴얼 방향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31756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메인 화면 구성 전략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094614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스타일 가이드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06361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정보 구조 설계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434253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워크플로우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17373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5867400" cy="609600"/>
            <a:chOff x="1066800" y="723900"/>
            <a:chExt cx="5867400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5867400" cy="4608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와이어프레임 및 디자인 진행 과정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099117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개발 환경 및 사용 툴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977499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4191000" cy="609600"/>
            <a:chOff x="1066800" y="723900"/>
            <a:chExt cx="4191000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4191000" cy="4608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en-US" altLang="ko-KR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React </a:t>
              </a: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구조 및 데이터 설계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165195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A758-E7AC-411E-8DFA-EF92D80FC10D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163326F4-2A10-4EB8-B8FC-26E447A184C0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결과물 분석</a:t>
              </a:r>
              <a:endParaRPr lang="en-US" sz="28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4D11202-3113-41A3-B402-EB1608E178FF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rgbClr val="425AD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610507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5A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2655" y="4168016"/>
            <a:ext cx="4572000" cy="1143000"/>
            <a:chOff x="0" y="0"/>
            <a:chExt cx="1203960" cy="3009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3960" cy="300990"/>
            </a:xfrm>
            <a:custGeom>
              <a:avLst/>
              <a:gdLst/>
              <a:ahLst/>
              <a:cxnLst/>
              <a:rect l="l" t="t" r="r" b="b"/>
              <a:pathLst>
                <a:path w="1203960" h="300990">
                  <a:moveTo>
                    <a:pt x="0" y="0"/>
                  </a:moveTo>
                  <a:lnTo>
                    <a:pt x="1203960" y="0"/>
                  </a:lnTo>
                  <a:lnTo>
                    <a:pt x="1203960" y="30099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203960" cy="329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58000" y="4168016"/>
            <a:ext cx="4572000" cy="1143000"/>
            <a:chOff x="0" y="0"/>
            <a:chExt cx="1203960" cy="3009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3960" cy="300990"/>
            </a:xfrm>
            <a:custGeom>
              <a:avLst/>
              <a:gdLst/>
              <a:ahLst/>
              <a:cxnLst/>
              <a:rect l="l" t="t" r="r" b="b"/>
              <a:pathLst>
                <a:path w="1203960" h="300990">
                  <a:moveTo>
                    <a:pt x="0" y="0"/>
                  </a:moveTo>
                  <a:lnTo>
                    <a:pt x="1203960" y="0"/>
                  </a:lnTo>
                  <a:lnTo>
                    <a:pt x="1203960" y="30099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03960" cy="329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11000" y="4168016"/>
            <a:ext cx="4572000" cy="1143000"/>
            <a:chOff x="0" y="0"/>
            <a:chExt cx="1203960" cy="3009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03960" cy="300990"/>
            </a:xfrm>
            <a:custGeom>
              <a:avLst/>
              <a:gdLst/>
              <a:ahLst/>
              <a:cxnLst/>
              <a:rect l="l" t="t" r="r" b="b"/>
              <a:pathLst>
                <a:path w="1203960" h="300990">
                  <a:moveTo>
                    <a:pt x="0" y="0"/>
                  </a:moveTo>
                  <a:lnTo>
                    <a:pt x="1203960" y="0"/>
                  </a:lnTo>
                  <a:lnTo>
                    <a:pt x="1203960" y="30099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03960" cy="329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4829175" y="3152775"/>
            <a:ext cx="3656967" cy="0"/>
          </a:xfrm>
          <a:prstGeom prst="line">
            <a:avLst/>
          </a:prstGeom>
          <a:ln w="9525" cap="flat">
            <a:solidFill>
              <a:srgbClr val="DDF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9782808" y="3152775"/>
            <a:ext cx="3656967" cy="0"/>
          </a:xfrm>
          <a:prstGeom prst="line">
            <a:avLst/>
          </a:prstGeom>
          <a:ln w="9525" cap="flat">
            <a:solidFill>
              <a:srgbClr val="DDF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3524250" y="3034339"/>
            <a:ext cx="1333500" cy="28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b="1" u="none" spc="-43">
                <a:solidFill>
                  <a:srgbClr val="95D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aret Bold"/>
                <a:sym typeface="Garet Bold"/>
              </a:rPr>
              <a:t>Step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90750" y="4515687"/>
            <a:ext cx="4000500" cy="409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ko-KR" altLang="en-US" sz="2599" b="1" u="non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rPr>
              <a:t>현재 구축 현황 </a:t>
            </a:r>
            <a:endParaRPr lang="en-US" sz="2599" b="1" u="none">
              <a:solidFill>
                <a:srgbClr val="425AD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Bold"/>
              <a:sym typeface="프리젠테이션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41880" y="5577716"/>
            <a:ext cx="4732775" cy="9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0208" lvl="1" indent="-205104" algn="l">
              <a:lnSpc>
                <a:spcPts val="3799"/>
              </a:lnSpc>
              <a:buFont typeface="Arial"/>
              <a:buChar char="•"/>
            </a:pPr>
            <a:r>
              <a:rPr lang="ko-KR" altLang="en-US" sz="1600" u="none">
                <a:solidFill>
                  <a:srgbClr val="FFFFFF">
                    <a:alpha val="84706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Medium"/>
                <a:sym typeface="프리젠테이션 Medium"/>
              </a:rPr>
              <a:t>기존 다이소몰의 여러 페이지와 연결될 수 있는 중심 구조로 제작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4717" y="3034339"/>
            <a:ext cx="1258566" cy="28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b="1" u="none" spc="-43">
                <a:solidFill>
                  <a:srgbClr val="95D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aret Bold"/>
                <a:sym typeface="Garet Bold"/>
              </a:rPr>
              <a:t>Step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43750" y="4515687"/>
            <a:ext cx="4000500" cy="409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ko-KR" altLang="en-US" sz="2599" b="1" u="non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rPr>
              <a:t>확장 계획</a:t>
            </a:r>
            <a:endParaRPr lang="en-US" sz="2599" b="1" u="none">
              <a:solidFill>
                <a:srgbClr val="425AD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Bold"/>
              <a:sym typeface="프리젠테이션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690917" y="5577716"/>
            <a:ext cx="4572001" cy="1884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0208" lvl="1" indent="-205104" algn="l">
              <a:lnSpc>
                <a:spcPts val="3799"/>
              </a:lnSpc>
              <a:buFont typeface="Arial"/>
              <a:buChar char="•"/>
            </a:pPr>
            <a:r>
              <a:rPr lang="ko-KR" altLang="en-US" sz="1600" u="none">
                <a:solidFill>
                  <a:srgbClr val="FFFFFF">
                    <a:alpha val="84706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Medium"/>
                <a:sym typeface="프리젠테이션 Medium"/>
              </a:rPr>
              <a:t>실제 서비스 페이지 추가에 대응할 수 있도록 화면 간 연결 구조를 확장</a:t>
            </a:r>
            <a:endParaRPr lang="en-US" altLang="ko-KR" sz="1600" u="none">
              <a:solidFill>
                <a:srgbClr val="FFFFFF">
                  <a:alpha val="84706"/>
                </a:srgb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Medium"/>
              <a:sym typeface="프리젠테이션 Medium"/>
            </a:endParaRPr>
          </a:p>
          <a:p>
            <a:pPr marL="410208" lvl="1" indent="-205104" algn="l">
              <a:lnSpc>
                <a:spcPts val="3799"/>
              </a:lnSpc>
              <a:buFont typeface="Arial"/>
              <a:buChar char="•"/>
            </a:pPr>
            <a:r>
              <a:rPr lang="ko-KR" altLang="en-US" sz="1600" u="none">
                <a:solidFill>
                  <a:srgbClr val="FFFFFF">
                    <a:alpha val="84706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Medium"/>
                <a:sym typeface="프리젠테이션 Medium"/>
              </a:rPr>
              <a:t>상품 데이터 구조를 통일하여 다양한 영역에서 재사용 가능하도록 개선</a:t>
            </a:r>
            <a:endParaRPr lang="en-US" altLang="ko-KR" sz="1600" u="none">
              <a:solidFill>
                <a:srgbClr val="FFFFFF">
                  <a:alpha val="84706"/>
                </a:srgb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Medium"/>
              <a:sym typeface="프리젠테이션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639483" y="3034339"/>
            <a:ext cx="915033" cy="28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b="1" u="none" spc="-43">
                <a:solidFill>
                  <a:srgbClr val="95D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Garet Bold"/>
                <a:sym typeface="Garet Bold"/>
              </a:rPr>
              <a:t>Step 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96750" y="4515687"/>
            <a:ext cx="4000500" cy="409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ko-KR" altLang="en-US" sz="2599" b="1" u="none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Bold"/>
                <a:sym typeface="프리젠테이션 Bold"/>
              </a:rPr>
              <a:t>최종 목표</a:t>
            </a:r>
            <a:endParaRPr lang="en-US" sz="2599" b="1" u="none">
              <a:solidFill>
                <a:srgbClr val="425AD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Bold"/>
              <a:sym typeface="프리젠테이션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666820" y="5577716"/>
            <a:ext cx="4716180" cy="2851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0208" lvl="1" indent="-205104" algn="l">
              <a:lnSpc>
                <a:spcPts val="3799"/>
              </a:lnSpc>
              <a:buFont typeface="Arial"/>
              <a:buChar char="•"/>
            </a:pPr>
            <a:r>
              <a:rPr lang="en-US" altLang="ko-KR" sz="1600" u="none">
                <a:solidFill>
                  <a:srgbClr val="FFFFFF">
                    <a:alpha val="84706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Medium"/>
                <a:sym typeface="프리젠테이션 Medium"/>
              </a:rPr>
              <a:t>SCSS </a:t>
            </a:r>
            <a:r>
              <a:rPr lang="ko-KR" altLang="en-US" sz="1600" u="none">
                <a:solidFill>
                  <a:srgbClr val="FFFFFF">
                    <a:alpha val="84706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Medium"/>
                <a:sym typeface="프리젠테이션 Medium"/>
              </a:rPr>
              <a:t>분기 및 반응형 시스템을 고도화하여 디바이스별 사용성 향상</a:t>
            </a:r>
            <a:endParaRPr lang="en-US" altLang="ko-KR" sz="1600" u="none">
              <a:solidFill>
                <a:srgbClr val="FFFFFF">
                  <a:alpha val="84706"/>
                </a:srgb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Medium"/>
              <a:sym typeface="프리젠테이션 Medium"/>
            </a:endParaRPr>
          </a:p>
          <a:p>
            <a:pPr marL="410208" lvl="1" indent="-205104" algn="l">
              <a:lnSpc>
                <a:spcPts val="3799"/>
              </a:lnSpc>
              <a:buFont typeface="Arial"/>
              <a:buChar char="•"/>
            </a:pPr>
            <a:r>
              <a:rPr lang="ko-KR" altLang="en-US" sz="1600" u="none">
                <a:solidFill>
                  <a:srgbClr val="FFFFFF">
                    <a:alpha val="84706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Medium"/>
                <a:sym typeface="프리젠테이션 Medium"/>
              </a:rPr>
              <a:t>모바일 앱과 </a:t>
            </a:r>
            <a:r>
              <a:rPr lang="en-US" altLang="ko-KR" sz="1600" u="none">
                <a:solidFill>
                  <a:srgbClr val="FFFFFF">
                    <a:alpha val="84706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Medium"/>
                <a:sym typeface="프리젠테이션 Medium"/>
              </a:rPr>
              <a:t>PC </a:t>
            </a:r>
            <a:r>
              <a:rPr lang="ko-KR" altLang="en-US" sz="1600" u="none">
                <a:solidFill>
                  <a:srgbClr val="FFFFFF">
                    <a:alpha val="84706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Medium"/>
                <a:sym typeface="프리젠테이션 Medium"/>
              </a:rPr>
              <a:t>웹 환경을 모두 고려한 사용자 경험 최적화</a:t>
            </a:r>
            <a:endParaRPr lang="en-US" altLang="ko-KR" sz="1600" u="none">
              <a:solidFill>
                <a:srgbClr val="FFFFFF">
                  <a:alpha val="84706"/>
                </a:srgb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Medium"/>
              <a:sym typeface="프리젠테이션 Medium"/>
            </a:endParaRPr>
          </a:p>
          <a:p>
            <a:pPr marL="410208" lvl="1" indent="-205104" algn="l">
              <a:lnSpc>
                <a:spcPts val="3799"/>
              </a:lnSpc>
              <a:buFont typeface="Arial"/>
              <a:buChar char="•"/>
            </a:pPr>
            <a:r>
              <a:rPr lang="ko-KR" altLang="en-US" sz="1600" u="none">
                <a:solidFill>
                  <a:srgbClr val="FFFFFF">
                    <a:alpha val="84706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Medium"/>
                <a:sym typeface="프리젠테이션 Medium"/>
              </a:rPr>
              <a:t>브랜드 및 서비스 확장에 대응할 수 있는 확장형 플랫폼 구조 구축</a:t>
            </a:r>
            <a:endParaRPr lang="en-US" sz="1600" u="none">
              <a:solidFill>
                <a:srgbClr val="FFFFFF">
                  <a:alpha val="84706"/>
                </a:srgb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프리젠테이션 Medium"/>
              <a:sym typeface="프리젠테이션 Medium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690DF9D-6882-4C2C-9B4C-227102732866}"/>
              </a:ext>
            </a:extLst>
          </p:cNvPr>
          <p:cNvGrpSpPr/>
          <p:nvPr/>
        </p:nvGrpSpPr>
        <p:grpSpPr>
          <a:xfrm>
            <a:off x="1066800" y="723900"/>
            <a:ext cx="2999858" cy="609600"/>
            <a:chOff x="1066800" y="723900"/>
            <a:chExt cx="2999858" cy="609600"/>
          </a:xfrm>
        </p:grpSpPr>
        <p:sp>
          <p:nvSpPr>
            <p:cNvPr id="27" name="TextBox 22">
              <a:extLst>
                <a:ext uri="{FF2B5EF4-FFF2-40B4-BE49-F238E27FC236}">
                  <a16:creationId xmlns:a16="http://schemas.microsoft.com/office/drawing/2014/main" id="{AA1684FF-B15D-4C0C-BC31-323F82C5B0C8}"/>
                </a:ext>
              </a:extLst>
            </p:cNvPr>
            <p:cNvSpPr txBox="1"/>
            <p:nvPr/>
          </p:nvSpPr>
          <p:spPr>
            <a:xfrm>
              <a:off x="1066800" y="723900"/>
              <a:ext cx="2999858" cy="459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20"/>
                </a:lnSpc>
              </a:pPr>
              <a:r>
                <a:rPr lang="ko-KR" altLang="en-US" sz="2800" b="1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프리젠테이션 Semi-Bold"/>
                  <a:sym typeface="프리젠테이션 Semi-Bold"/>
                </a:rPr>
                <a:t>향후 계획</a:t>
              </a:r>
              <a:endParaRPr lang="en-US" sz="28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프리젠테이션 Semi-Bold"/>
                <a:sym typeface="프리젠테이션 Semi-Bold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67D5D694-4D42-4D59-A2CE-79BB47A5D9BD}"/>
                </a:ext>
              </a:extLst>
            </p:cNvPr>
            <p:cNvCxnSpPr/>
            <p:nvPr/>
          </p:nvCxnSpPr>
          <p:spPr>
            <a:xfrm>
              <a:off x="1066800" y="1333500"/>
              <a:ext cx="5334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C6E3DEC3-AF55-453D-B7D8-09229DF64301}"/>
              </a:ext>
            </a:extLst>
          </p:cNvPr>
          <p:cNvGrpSpPr/>
          <p:nvPr/>
        </p:nvGrpSpPr>
        <p:grpSpPr>
          <a:xfrm>
            <a:off x="7330462" y="3258584"/>
            <a:ext cx="3627077" cy="3769832"/>
            <a:chOff x="7330462" y="3095390"/>
            <a:chExt cx="3627077" cy="3769832"/>
          </a:xfrm>
        </p:grpSpPr>
        <p:sp>
          <p:nvSpPr>
            <p:cNvPr id="3" name="Freeform 3"/>
            <p:cNvSpPr/>
            <p:nvPr/>
          </p:nvSpPr>
          <p:spPr>
            <a:xfrm>
              <a:off x="7330462" y="3095390"/>
              <a:ext cx="3627077" cy="1455664"/>
            </a:xfrm>
            <a:custGeom>
              <a:avLst/>
              <a:gdLst/>
              <a:ahLst/>
              <a:cxnLst/>
              <a:rect l="l" t="t" r="r" b="b"/>
              <a:pathLst>
                <a:path w="2025253" h="812800">
                  <a:moveTo>
                    <a:pt x="1012626" y="0"/>
                  </a:moveTo>
                  <a:cubicBezTo>
                    <a:pt x="453368" y="0"/>
                    <a:pt x="0" y="181951"/>
                    <a:pt x="0" y="406400"/>
                  </a:cubicBezTo>
                  <a:cubicBezTo>
                    <a:pt x="0" y="630849"/>
                    <a:pt x="453368" y="812800"/>
                    <a:pt x="1012626" y="812800"/>
                  </a:cubicBezTo>
                  <a:cubicBezTo>
                    <a:pt x="1571884" y="812800"/>
                    <a:pt x="2025253" y="630849"/>
                    <a:pt x="2025253" y="406400"/>
                  </a:cubicBezTo>
                  <a:cubicBezTo>
                    <a:pt x="2025253" y="181951"/>
                    <a:pt x="1571884" y="0"/>
                    <a:pt x="1012626" y="0"/>
                  </a:cubicBezTo>
                  <a:close/>
                </a:path>
              </a:pathLst>
            </a:custGeom>
            <a:solidFill>
              <a:srgbClr val="425AD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70500" y="3146566"/>
              <a:ext cx="2947000" cy="1268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9144000" y="4870303"/>
              <a:ext cx="0" cy="1235940"/>
            </a:xfrm>
            <a:prstGeom prst="line">
              <a:avLst/>
            </a:prstGeom>
            <a:ln w="19050" cap="flat">
              <a:solidFill>
                <a:srgbClr val="425AD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137978" y="3339035"/>
              <a:ext cx="2012044" cy="826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 b="1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TDTD고딕 Bold"/>
                  <a:sym typeface="TDTD고딕 Bold"/>
                </a:rPr>
                <a:t>Q&amp;A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31503" y="6363418"/>
              <a:ext cx="3424994" cy="5018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TDTD고딕 Bold"/>
                  <a:sym typeface="TDTD고딕 Bold"/>
                </a:rPr>
                <a:t>질문 및 </a:t>
              </a:r>
              <a:r>
                <a:rPr lang="ko-KR" altLang="en-US" sz="3000" b="1">
                  <a:solidFill>
                    <a:srgbClr val="425AD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TDTD고딕 Bold"/>
                  <a:sym typeface="TDTD고딕 Bold"/>
                </a:rPr>
                <a:t>응답</a:t>
              </a:r>
              <a:endParaRPr lang="en-US" sz="3000" b="1">
                <a:solidFill>
                  <a:srgbClr val="425AD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DTD고딕 Bold"/>
                <a:sym typeface="TDTD고딕 Bold"/>
              </a:endParaRPr>
            </a:p>
          </p:txBody>
        </p:sp>
      </p:grpSp>
      <p:sp>
        <p:nvSpPr>
          <p:cNvPr id="11" name="Freeform 6">
            <a:extLst>
              <a:ext uri="{FF2B5EF4-FFF2-40B4-BE49-F238E27FC236}">
                <a16:creationId xmlns:a16="http://schemas.microsoft.com/office/drawing/2014/main" id="{924945F9-4974-4AEE-927B-3226B7906D4F}"/>
              </a:ext>
            </a:extLst>
          </p:cNvPr>
          <p:cNvSpPr/>
          <p:nvPr/>
        </p:nvSpPr>
        <p:spPr>
          <a:xfrm>
            <a:off x="10123059" y="4245975"/>
            <a:ext cx="663609" cy="663609"/>
          </a:xfrm>
          <a:custGeom>
            <a:avLst/>
            <a:gdLst/>
            <a:ahLst/>
            <a:cxnLst/>
            <a:rect l="l" t="t" r="r" b="b"/>
            <a:pathLst>
              <a:path w="663609" h="663609">
                <a:moveTo>
                  <a:pt x="0" y="0"/>
                </a:moveTo>
                <a:lnTo>
                  <a:pt x="663609" y="0"/>
                </a:lnTo>
                <a:lnTo>
                  <a:pt x="663609" y="663609"/>
                </a:lnTo>
                <a:lnTo>
                  <a:pt x="0" y="663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737</Words>
  <Application>Microsoft Office PowerPoint</Application>
  <PresentationFormat>사용자 지정</PresentationFormat>
  <Paragraphs>122</Paragraphs>
  <Slides>17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Noto Sans KR</vt:lpstr>
      <vt:lpstr>Wingdings</vt:lpstr>
      <vt:lpstr>Calibri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흰색 깔끔한 기업 사업 스타트업 서비스 피치 덱 인포그래픽 프레젠테이션</dc:title>
  <dc:creator>Administrator</dc:creator>
  <cp:lastModifiedBy>Administrator</cp:lastModifiedBy>
  <cp:revision>34</cp:revision>
  <dcterms:created xsi:type="dcterms:W3CDTF">2006-08-16T00:00:00Z</dcterms:created>
  <dcterms:modified xsi:type="dcterms:W3CDTF">2026-06-08T02:02:33Z</dcterms:modified>
  <dc:identifier>DAHLaFFMYWQ</dc:identifier>
</cp:coreProperties>
</file>