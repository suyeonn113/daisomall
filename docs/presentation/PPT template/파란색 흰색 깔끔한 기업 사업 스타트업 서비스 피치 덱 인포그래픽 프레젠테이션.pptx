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프리젠테이션" charset="1" panose="00000000000000000000"/>
      <p:regular r:id="rId17"/>
    </p:embeddedFont>
    <p:embeddedFont>
      <p:font typeface="프리젠테이션 Semi-Bold" charset="1" panose="00000000000000000000"/>
      <p:regular r:id="rId18"/>
    </p:embeddedFont>
    <p:embeddedFont>
      <p:font typeface="Garet Bold" charset="1" panose="00000000000000000000"/>
      <p:regular r:id="rId19"/>
    </p:embeddedFont>
    <p:embeddedFont>
      <p:font typeface="Garet" charset="1" panose="00000000000000000000"/>
      <p:regular r:id="rId20"/>
    </p:embeddedFont>
    <p:embeddedFont>
      <p:font typeface="프리젠테이션 Bold" charset="1" panose="00000000000000000000"/>
      <p:regular r:id="rId21"/>
    </p:embeddedFont>
    <p:embeddedFont>
      <p:font typeface="프리젠테이션 Light" charset="1" panose="00000000000000000000"/>
      <p:regular r:id="rId22"/>
    </p:embeddedFont>
    <p:embeddedFont>
      <p:font typeface="프리젠테이션 Medium" charset="1" panose="0000000000000000000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Relationship Id="rId3" Target="../media/image8.jpeg" Type="http://schemas.openxmlformats.org/officeDocument/2006/relationships/image"/><Relationship Id="rId4" Target="../media/image9.jpeg" Type="http://schemas.openxmlformats.org/officeDocument/2006/relationships/image"/><Relationship Id="rId5" Target="../media/image10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25A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8796" y="2085590"/>
            <a:ext cx="7276107" cy="4762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spc="60">
                <a:solidFill>
                  <a:srgbClr val="F3F8FF"/>
                </a:solidFill>
                <a:latin typeface="프리젠테이션"/>
                <a:ea typeface="프리젠테이션"/>
                <a:cs typeface="프리젠테이션"/>
                <a:sym typeface="프리젠테이션"/>
              </a:rPr>
              <a:t>스타트업 피치 덱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728796" y="5027114"/>
            <a:ext cx="4817289" cy="5781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71"/>
              </a:lnSpc>
            </a:pPr>
            <a:r>
              <a:rPr lang="en-US" sz="1520" strike="noStrike" u="none">
                <a:solidFill>
                  <a:srgbClr val="BBCAFC"/>
                </a:solidFill>
                <a:latin typeface="프리젠테이션"/>
                <a:ea typeface="프리젠테이션"/>
                <a:cs typeface="프리젠테이션"/>
                <a:sym typeface="프리젠테이션"/>
              </a:rPr>
              <a:t>끊임없는 도전과 성장을 통해 고객의 기대를 뛰어넘는 결과를 만들어내는 혁신 기업을 소개합니다. 창의와 혁신을 바탕으로 더 나은 내일을 만듭니다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50850" y="9355606"/>
            <a:ext cx="7284398" cy="3162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b="true" sz="1800" spc="54">
                <a:solidFill>
                  <a:srgbClr val="F3F8FF"/>
                </a:solidFill>
                <a:latin typeface="프리젠테이션 Semi-Bold"/>
                <a:ea typeface="프리젠테이션 Semi-Bold"/>
                <a:cs typeface="프리젠테이션 Semi-Bold"/>
                <a:sym typeface="프리젠테이션 Semi-Bold"/>
              </a:rPr>
              <a:t>대표</a:t>
            </a:r>
            <a:r>
              <a:rPr lang="en-US" sz="1800" spc="54">
                <a:solidFill>
                  <a:srgbClr val="F3F8FF"/>
                </a:solidFill>
                <a:latin typeface="프리젠테이션"/>
                <a:ea typeface="프리젠테이션"/>
                <a:cs typeface="프리젠테이션"/>
                <a:sym typeface="프리젠테이션"/>
              </a:rPr>
              <a:t> </a:t>
            </a:r>
            <a:r>
              <a:rPr lang="en-US" sz="1800" spc="54">
                <a:solidFill>
                  <a:srgbClr val="F3F8FF"/>
                </a:solidFill>
                <a:latin typeface="프리젠테이션"/>
                <a:ea typeface="프리젠테이션"/>
                <a:cs typeface="프리젠테이션"/>
                <a:sym typeface="프리젠테이션"/>
              </a:rPr>
              <a:t> 이수정        </a:t>
            </a:r>
            <a:r>
              <a:rPr lang="en-US" b="true" sz="1800" spc="54">
                <a:solidFill>
                  <a:srgbClr val="F3F8FF"/>
                </a:solidFill>
                <a:latin typeface="프리젠테이션 Semi-Bold"/>
                <a:ea typeface="프리젠테이션 Semi-Bold"/>
                <a:cs typeface="프리젠테이션 Semi-Bold"/>
                <a:sym typeface="프리젠테이션 Semi-Bold"/>
              </a:rPr>
              <a:t>날짜 </a:t>
            </a:r>
            <a:r>
              <a:rPr lang="en-US" sz="1800" spc="54">
                <a:solidFill>
                  <a:srgbClr val="F3F8FF"/>
                </a:solidFill>
                <a:latin typeface="프리젠테이션"/>
                <a:ea typeface="프리젠테이션"/>
                <a:cs typeface="프리젠테이션"/>
                <a:sym typeface="프리젠테이션"/>
              </a:rPr>
              <a:t> 2040.2.2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616522" y="2572605"/>
            <a:ext cx="12637452" cy="2387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586"/>
              </a:lnSpc>
              <a:spcBef>
                <a:spcPct val="0"/>
              </a:spcBef>
            </a:pPr>
            <a:r>
              <a:rPr lang="en-US" b="true" sz="13990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AFF8FF">
                        <a:alpha val="100000"/>
                      </a:srgbClr>
                    </a:gs>
                  </a:gsLst>
                  <a:lin ang="0"/>
                </a:gradFill>
                <a:latin typeface="Garet Bold"/>
                <a:ea typeface="Garet Bold"/>
                <a:cs typeface="Garet Bold"/>
                <a:sym typeface="Garet Bold"/>
              </a:rPr>
              <a:t>Pitch Deck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1706097" y="4591069"/>
            <a:ext cx="986391" cy="986391"/>
          </a:xfrm>
          <a:custGeom>
            <a:avLst/>
            <a:gdLst/>
            <a:ahLst/>
            <a:cxnLst/>
            <a:rect r="r" b="b" t="t" l="l"/>
            <a:pathLst>
              <a:path h="986391" w="986391">
                <a:moveTo>
                  <a:pt x="0" y="0"/>
                </a:moveTo>
                <a:lnTo>
                  <a:pt x="986391" y="0"/>
                </a:lnTo>
                <a:lnTo>
                  <a:pt x="986391" y="986391"/>
                </a:lnTo>
                <a:lnTo>
                  <a:pt x="0" y="98639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1364584" y="9352669"/>
            <a:ext cx="6343378" cy="3067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F3F8FF"/>
                </a:solidFill>
                <a:latin typeface="Garet"/>
                <a:ea typeface="Garet"/>
                <a:cs typeface="Garet"/>
                <a:sym typeface="Garet"/>
              </a:rPr>
              <a:t>www.umchungjoeun.kr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559908" y="6404291"/>
            <a:ext cx="7171146" cy="0"/>
          </a:xfrm>
          <a:prstGeom prst="line">
            <a:avLst/>
          </a:prstGeom>
          <a:ln cap="flat" w="9525">
            <a:solidFill>
              <a:srgbClr val="A3A3A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9556946" y="5121452"/>
            <a:ext cx="7171146" cy="0"/>
          </a:xfrm>
          <a:prstGeom prst="line">
            <a:avLst/>
          </a:prstGeom>
          <a:ln cap="flat" w="9525">
            <a:solidFill>
              <a:srgbClr val="A3A3A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9556946" y="8917485"/>
            <a:ext cx="7171146" cy="0"/>
          </a:xfrm>
          <a:prstGeom prst="line">
            <a:avLst/>
          </a:prstGeom>
          <a:ln cap="flat" w="9525">
            <a:solidFill>
              <a:srgbClr val="A3A3A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1559908" y="5121452"/>
            <a:ext cx="7171146" cy="0"/>
          </a:xfrm>
          <a:prstGeom prst="line">
            <a:avLst/>
          </a:prstGeom>
          <a:ln cap="flat" w="9525">
            <a:solidFill>
              <a:srgbClr val="A3A3A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1559908" y="8917485"/>
            <a:ext cx="7171146" cy="0"/>
          </a:xfrm>
          <a:prstGeom prst="line">
            <a:avLst/>
          </a:prstGeom>
          <a:ln cap="flat" w="9525">
            <a:solidFill>
              <a:srgbClr val="A3A3A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1559908" y="7670409"/>
            <a:ext cx="7171146" cy="0"/>
          </a:xfrm>
          <a:prstGeom prst="line">
            <a:avLst/>
          </a:prstGeom>
          <a:ln cap="flat" w="9525">
            <a:solidFill>
              <a:srgbClr val="A3A3A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>
            <a:off x="9556946" y="6387571"/>
            <a:ext cx="7171146" cy="0"/>
          </a:xfrm>
          <a:prstGeom prst="line">
            <a:avLst/>
          </a:prstGeom>
          <a:ln cap="flat" w="9525">
            <a:solidFill>
              <a:srgbClr val="A3A3A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>
            <a:off x="9556946" y="7660611"/>
            <a:ext cx="7171146" cy="0"/>
          </a:xfrm>
          <a:prstGeom prst="line">
            <a:avLst/>
          </a:prstGeom>
          <a:ln cap="flat" w="9525">
            <a:solidFill>
              <a:srgbClr val="A3A3A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0" id="10"/>
          <p:cNvSpPr txBox="true"/>
          <p:nvPr/>
        </p:nvSpPr>
        <p:spPr>
          <a:xfrm rot="0">
            <a:off x="6590544" y="2034806"/>
            <a:ext cx="5106911" cy="10054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14"/>
              </a:lnSpc>
            </a:pPr>
            <a:r>
              <a:rPr lang="en-US" b="true" sz="6511">
                <a:solidFill>
                  <a:srgbClr val="425AD4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컨텐츠 목차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972311" y="1491705"/>
            <a:ext cx="6343378" cy="3316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18"/>
              </a:lnSpc>
              <a:spcBef>
                <a:spcPct val="0"/>
              </a:spcBef>
            </a:pPr>
            <a:r>
              <a:rPr lang="en-US" sz="1941">
                <a:solidFill>
                  <a:srgbClr val="425AD4"/>
                </a:solidFill>
                <a:latin typeface="Garet"/>
                <a:ea typeface="Garet"/>
                <a:cs typeface="Garet"/>
                <a:sym typeface="Garet"/>
              </a:rPr>
              <a:t>Contents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520860" y="5476875"/>
            <a:ext cx="5029200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018"/>
              </a:lnSpc>
              <a:spcBef>
                <a:spcPct val="0"/>
              </a:spcBef>
            </a:pPr>
            <a:r>
              <a:rPr lang="en-US" sz="2870" strike="noStrike" u="none">
                <a:solidFill>
                  <a:srgbClr val="323232"/>
                </a:solidFill>
                <a:latin typeface="프리젠테이션"/>
                <a:ea typeface="프리젠테이션"/>
                <a:cs typeface="프리젠테이션"/>
                <a:sym typeface="프리젠테이션"/>
              </a:rPr>
              <a:t>우리가 해결하려는 문제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520860" y="7981950"/>
            <a:ext cx="5029200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018"/>
              </a:lnSpc>
              <a:spcBef>
                <a:spcPct val="0"/>
              </a:spcBef>
            </a:pPr>
            <a:r>
              <a:rPr lang="en-US" sz="2870" strike="noStrike" u="none">
                <a:solidFill>
                  <a:srgbClr val="323232"/>
                </a:solidFill>
                <a:latin typeface="프리젠테이션"/>
                <a:ea typeface="프리젠테이션"/>
                <a:cs typeface="프리젠테이션"/>
                <a:sym typeface="프리젠테이션"/>
              </a:rPr>
              <a:t>대표적 문제 정의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520860" y="6734175"/>
            <a:ext cx="5029200" cy="508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018"/>
              </a:lnSpc>
              <a:spcBef>
                <a:spcPct val="0"/>
              </a:spcBef>
            </a:pPr>
            <a:r>
              <a:rPr lang="en-US" sz="2870">
                <a:solidFill>
                  <a:srgbClr val="323232"/>
                </a:solidFill>
                <a:latin typeface="프리젠테이션"/>
                <a:ea typeface="프리젠테이션"/>
                <a:cs typeface="프리젠테이션"/>
                <a:sym typeface="프리젠테이션"/>
              </a:rPr>
              <a:t>해결을 위한 </a:t>
            </a:r>
            <a:r>
              <a:rPr lang="en-US" sz="2870" strike="noStrike" u="none">
                <a:solidFill>
                  <a:srgbClr val="323232"/>
                </a:solidFill>
                <a:latin typeface="프리젠테이션"/>
                <a:ea typeface="프리젠테이션"/>
                <a:cs typeface="프리젠테이션"/>
                <a:sym typeface="프리젠테이션"/>
              </a:rPr>
              <a:t>질문들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517898" y="5467350"/>
            <a:ext cx="5029200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018"/>
              </a:lnSpc>
              <a:spcBef>
                <a:spcPct val="0"/>
              </a:spcBef>
            </a:pPr>
            <a:r>
              <a:rPr lang="en-US" sz="2870" strike="noStrike" u="none">
                <a:solidFill>
                  <a:srgbClr val="323232"/>
                </a:solidFill>
                <a:latin typeface="프리젠테이션"/>
                <a:ea typeface="프리젠테이션"/>
                <a:cs typeface="프리젠테이션"/>
                <a:sym typeface="프리젠테이션"/>
              </a:rPr>
              <a:t>문제로 인한 손실 현황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517898" y="6724650"/>
            <a:ext cx="5029200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018"/>
              </a:lnSpc>
              <a:spcBef>
                <a:spcPct val="0"/>
              </a:spcBef>
            </a:pPr>
            <a:r>
              <a:rPr lang="en-US" sz="2870" strike="noStrike" u="none">
                <a:solidFill>
                  <a:srgbClr val="323232"/>
                </a:solidFill>
                <a:latin typeface="프리젠테이션"/>
                <a:ea typeface="프리젠테이션"/>
                <a:cs typeface="프리젠테이션"/>
                <a:sym typeface="프리젠테이션"/>
              </a:rPr>
              <a:t>문제 해결 솔루션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517898" y="7991475"/>
            <a:ext cx="5029200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018"/>
              </a:lnSpc>
              <a:spcBef>
                <a:spcPct val="0"/>
              </a:spcBef>
            </a:pPr>
            <a:r>
              <a:rPr lang="en-US" sz="2870" strike="noStrike" u="none">
                <a:solidFill>
                  <a:srgbClr val="323232"/>
                </a:solidFill>
                <a:latin typeface="프리젠테이션"/>
                <a:ea typeface="프리젠테이션"/>
                <a:cs typeface="프리젠테이션"/>
                <a:sym typeface="프리젠테이션"/>
              </a:rPr>
              <a:t>실행 계획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775641" y="5496541"/>
            <a:ext cx="745219" cy="5071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48"/>
              </a:lnSpc>
              <a:spcBef>
                <a:spcPct val="0"/>
              </a:spcBef>
            </a:pPr>
            <a:r>
              <a:rPr lang="en-US" sz="2963">
                <a:solidFill>
                  <a:srgbClr val="425AD4"/>
                </a:solidFill>
                <a:latin typeface="Garet"/>
                <a:ea typeface="Garet"/>
                <a:cs typeface="Garet"/>
                <a:sym typeface="Garet"/>
              </a:rPr>
              <a:t>1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775641" y="7998908"/>
            <a:ext cx="745219" cy="5071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48"/>
              </a:lnSpc>
              <a:spcBef>
                <a:spcPct val="0"/>
              </a:spcBef>
            </a:pPr>
            <a:r>
              <a:rPr lang="en-US" sz="2963">
                <a:solidFill>
                  <a:srgbClr val="425AD4"/>
                </a:solidFill>
                <a:latin typeface="Garet"/>
                <a:ea typeface="Garet"/>
                <a:cs typeface="Garet"/>
                <a:sym typeface="Garet"/>
              </a:rPr>
              <a:t>3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775641" y="6747725"/>
            <a:ext cx="745219" cy="5071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48"/>
              </a:lnSpc>
              <a:spcBef>
                <a:spcPct val="0"/>
              </a:spcBef>
            </a:pPr>
            <a:r>
              <a:rPr lang="en-US" sz="2963">
                <a:solidFill>
                  <a:srgbClr val="425AD4"/>
                </a:solidFill>
                <a:latin typeface="Garet"/>
                <a:ea typeface="Garet"/>
                <a:cs typeface="Garet"/>
                <a:sym typeface="Garet"/>
              </a:rPr>
              <a:t>2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772679" y="5481311"/>
            <a:ext cx="745219" cy="5071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48"/>
              </a:lnSpc>
              <a:spcBef>
                <a:spcPct val="0"/>
              </a:spcBef>
            </a:pPr>
            <a:r>
              <a:rPr lang="en-US" sz="2963">
                <a:solidFill>
                  <a:srgbClr val="425AD4"/>
                </a:solidFill>
                <a:latin typeface="Garet"/>
                <a:ea typeface="Garet"/>
                <a:cs typeface="Garet"/>
                <a:sym typeface="Garet"/>
              </a:rPr>
              <a:t>4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772679" y="6732494"/>
            <a:ext cx="745219" cy="5071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48"/>
              </a:lnSpc>
              <a:spcBef>
                <a:spcPct val="0"/>
              </a:spcBef>
            </a:pPr>
            <a:r>
              <a:rPr lang="en-US" sz="2963">
                <a:solidFill>
                  <a:srgbClr val="425AD4"/>
                </a:solidFill>
                <a:latin typeface="Garet"/>
                <a:ea typeface="Garet"/>
                <a:cs typeface="Garet"/>
                <a:sym typeface="Garet"/>
              </a:rPr>
              <a:t>5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772679" y="8005535"/>
            <a:ext cx="745219" cy="5071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48"/>
              </a:lnSpc>
              <a:spcBef>
                <a:spcPct val="0"/>
              </a:spcBef>
            </a:pPr>
            <a:r>
              <a:rPr lang="en-US" sz="2963">
                <a:solidFill>
                  <a:srgbClr val="425AD4"/>
                </a:solidFill>
                <a:latin typeface="Garet"/>
                <a:ea typeface="Garet"/>
                <a:cs typeface="Garet"/>
                <a:sym typeface="Garet"/>
              </a:rPr>
              <a:t>6</a:t>
            </a:r>
          </a:p>
        </p:txBody>
      </p:sp>
    </p:spTree>
  </p:cSld>
  <p:clrMapOvr>
    <a:masterClrMapping/>
  </p:clrMapOvr>
  <p:transition spd="fast">
    <p:fade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100380" y="5386258"/>
            <a:ext cx="5647311" cy="977257"/>
            <a:chOff x="0" y="0"/>
            <a:chExt cx="1487358" cy="25738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87358" cy="257384"/>
            </a:xfrm>
            <a:custGeom>
              <a:avLst/>
              <a:gdLst/>
              <a:ahLst/>
              <a:cxnLst/>
              <a:rect r="r" b="b" t="t" l="l"/>
              <a:pathLst>
                <a:path h="257384" w="1487358">
                  <a:moveTo>
                    <a:pt x="0" y="0"/>
                  </a:moveTo>
                  <a:lnTo>
                    <a:pt x="1487358" y="0"/>
                  </a:lnTo>
                  <a:lnTo>
                    <a:pt x="1487358" y="257384"/>
                  </a:lnTo>
                  <a:lnTo>
                    <a:pt x="0" y="257384"/>
                  </a:lnTo>
                  <a:close/>
                </a:path>
              </a:pathLst>
            </a:custGeom>
            <a:solidFill>
              <a:srgbClr val="DDFC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487358" cy="3050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5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3637579" y="2729933"/>
            <a:ext cx="11012842" cy="37030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860"/>
              </a:lnSpc>
            </a:pPr>
            <a:r>
              <a:rPr lang="en-US" sz="7043" spc="-70">
                <a:solidFill>
                  <a:srgbClr val="425AD4"/>
                </a:solidFill>
                <a:latin typeface="프리젠테이션"/>
                <a:ea typeface="프리젠테이션"/>
                <a:cs typeface="프리젠테이션"/>
                <a:sym typeface="프리젠테이션"/>
              </a:rPr>
              <a:t>우리가 해결하려는 문제는</a:t>
            </a:r>
          </a:p>
          <a:p>
            <a:pPr algn="ctr" marL="0" indent="0" lvl="0">
              <a:lnSpc>
                <a:spcPts val="9860"/>
              </a:lnSpc>
            </a:pPr>
            <a:r>
              <a:rPr lang="en-US" sz="7043" spc="-70">
                <a:solidFill>
                  <a:srgbClr val="425AD4"/>
                </a:solidFill>
                <a:latin typeface="프리젠테이션"/>
                <a:ea typeface="프리젠테이션"/>
                <a:cs typeface="프리젠테이션"/>
                <a:sym typeface="프리젠테이션"/>
              </a:rPr>
              <a:t>작업 환경에서 </a:t>
            </a:r>
            <a:r>
              <a:rPr lang="en-US" sz="7043" spc="-70">
                <a:solidFill>
                  <a:srgbClr val="425AD4"/>
                </a:solidFill>
                <a:latin typeface="프리젠테이션"/>
                <a:ea typeface="프리젠테이션"/>
                <a:cs typeface="프리젠테이션"/>
                <a:sym typeface="프리젠테이션"/>
              </a:rPr>
              <a:t>발생하는 다양한 </a:t>
            </a:r>
          </a:p>
          <a:p>
            <a:pPr algn="ctr">
              <a:lnSpc>
                <a:spcPts val="9860"/>
              </a:lnSpc>
            </a:pPr>
            <a:r>
              <a:rPr lang="en-US" b="true" sz="7043" spc="-70">
                <a:solidFill>
                  <a:srgbClr val="425AD4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비효율성과 불편함</a:t>
            </a:r>
            <a:r>
              <a:rPr lang="en-US" sz="7043" spc="-70">
                <a:solidFill>
                  <a:srgbClr val="425AD4"/>
                </a:solidFill>
                <a:latin typeface="프리젠테이션"/>
                <a:ea typeface="프리젠테이션"/>
                <a:cs typeface="프리젠테이션"/>
                <a:sym typeface="프리젠테이션"/>
              </a:rPr>
              <a:t>입니다. 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3101373" y="6101143"/>
            <a:ext cx="663609" cy="663609"/>
          </a:xfrm>
          <a:custGeom>
            <a:avLst/>
            <a:gdLst/>
            <a:ahLst/>
            <a:cxnLst/>
            <a:rect r="r" b="b" t="t" l="l"/>
            <a:pathLst>
              <a:path h="663609" w="663609">
                <a:moveTo>
                  <a:pt x="0" y="0"/>
                </a:moveTo>
                <a:lnTo>
                  <a:pt x="663609" y="0"/>
                </a:lnTo>
                <a:lnTo>
                  <a:pt x="663609" y="663609"/>
                </a:lnTo>
                <a:lnTo>
                  <a:pt x="0" y="6636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5186627" y="7134242"/>
            <a:ext cx="7914747" cy="1168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00"/>
              </a:lnSpc>
            </a:pPr>
            <a:r>
              <a:rPr lang="en-US" sz="2000">
                <a:solidFill>
                  <a:srgbClr val="555555"/>
                </a:solidFill>
                <a:latin typeface="프리젠테이션 Light"/>
                <a:ea typeface="프리젠테이션 Light"/>
                <a:cs typeface="프리젠테이션 Light"/>
                <a:sym typeface="프리젠테이션 Light"/>
              </a:rPr>
              <a:t>이러한 문제들은 종종 생산성을 저하시키고, 팀 간의 협업을 방해하며, 직원들의 만족도를 떨어뜨릴 수 있습니다. 우리는 이러한 문제점들을 해결하기 위해 첨단 기술을 활용하여 보다 효율적이고 직관적인 솔루션을 개발하고자 합니다.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438934" y="1392401"/>
            <a:ext cx="5410131" cy="4908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20"/>
              </a:lnSpc>
            </a:pPr>
            <a:r>
              <a:rPr lang="en-US" b="true" sz="2800">
                <a:solidFill>
                  <a:srgbClr val="425AD4"/>
                </a:solidFill>
                <a:latin typeface="프리젠테이션 Semi-Bold"/>
                <a:ea typeface="프리젠테이션 Semi-Bold"/>
                <a:cs typeface="프리젠테이션 Semi-Bold"/>
                <a:sym typeface="프리젠테이션 Semi-Bold"/>
              </a:rPr>
              <a:t>우리가 해결하려는 문제</a:t>
            </a:r>
          </a:p>
        </p:txBody>
      </p:sp>
    </p:spTree>
  </p:cSld>
  <p:clrMapOvr>
    <a:masterClrMapping/>
  </p:clrMapOvr>
  <p:transition spd="fast">
    <p:fade/>
  </p:transition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888354" y="3211110"/>
            <a:ext cx="7067034" cy="1550266"/>
            <a:chOff x="0" y="0"/>
            <a:chExt cx="2286819" cy="5016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86819" cy="501650"/>
            </a:xfrm>
            <a:custGeom>
              <a:avLst/>
              <a:gdLst/>
              <a:ahLst/>
              <a:cxnLst/>
              <a:rect r="r" b="b" t="t" l="l"/>
              <a:pathLst>
                <a:path h="501650" w="2286819">
                  <a:moveTo>
                    <a:pt x="2083619" y="0"/>
                  </a:moveTo>
                  <a:cubicBezTo>
                    <a:pt x="2194109" y="6350"/>
                    <a:pt x="2281739" y="93980"/>
                    <a:pt x="2286819" y="203200"/>
                  </a:cubicBezTo>
                  <a:cubicBezTo>
                    <a:pt x="2281739" y="309880"/>
                    <a:pt x="2194109" y="397510"/>
                    <a:pt x="2086159" y="397510"/>
                  </a:cubicBezTo>
                  <a:lnTo>
                    <a:pt x="274320" y="397510"/>
                  </a:lnTo>
                  <a:cubicBezTo>
                    <a:pt x="245110" y="431800"/>
                    <a:pt x="213360" y="462280"/>
                    <a:pt x="176530" y="487680"/>
                  </a:cubicBezTo>
                  <a:lnTo>
                    <a:pt x="152400" y="501650"/>
                  </a:lnTo>
                  <a:cubicBezTo>
                    <a:pt x="139700" y="501650"/>
                    <a:pt x="137160" y="494030"/>
                    <a:pt x="140970" y="481330"/>
                  </a:cubicBezTo>
                  <a:cubicBezTo>
                    <a:pt x="149860" y="453390"/>
                    <a:pt x="148590" y="424180"/>
                    <a:pt x="138430" y="397510"/>
                  </a:cubicBezTo>
                  <a:lnTo>
                    <a:pt x="134620" y="386080"/>
                  </a:lnTo>
                  <a:cubicBezTo>
                    <a:pt x="57150" y="360680"/>
                    <a:pt x="1270" y="287020"/>
                    <a:pt x="0" y="203200"/>
                  </a:cubicBezTo>
                  <a:lnTo>
                    <a:pt x="0" y="201930"/>
                  </a:lnTo>
                  <a:cubicBezTo>
                    <a:pt x="0" y="93980"/>
                    <a:pt x="88900" y="6350"/>
                    <a:pt x="203200" y="0"/>
                  </a:cubicBezTo>
                  <a:lnTo>
                    <a:pt x="2084889" y="0"/>
                  </a:lnTo>
                  <a:cubicBezTo>
                    <a:pt x="2084889" y="0"/>
                    <a:pt x="2084889" y="0"/>
                    <a:pt x="2084889" y="0"/>
                  </a:cubicBezTo>
                  <a:lnTo>
                    <a:pt x="2083619" y="0"/>
                  </a:lnTo>
                  <a:close/>
                </a:path>
              </a:pathLst>
            </a:custGeom>
            <a:solidFill>
              <a:srgbClr val="425AD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107950" y="-28575"/>
              <a:ext cx="2070919" cy="415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606435" y="4818639"/>
            <a:ext cx="6431913" cy="1550266"/>
            <a:chOff x="0" y="0"/>
            <a:chExt cx="2081301" cy="50165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81301" cy="501650"/>
            </a:xfrm>
            <a:custGeom>
              <a:avLst/>
              <a:gdLst/>
              <a:ahLst/>
              <a:cxnLst/>
              <a:rect r="r" b="b" t="t" l="l"/>
              <a:pathLst>
                <a:path h="501650" w="2081301">
                  <a:moveTo>
                    <a:pt x="1878101" y="0"/>
                  </a:moveTo>
                  <a:cubicBezTo>
                    <a:pt x="1988591" y="6350"/>
                    <a:pt x="2076221" y="93980"/>
                    <a:pt x="2081301" y="203200"/>
                  </a:cubicBezTo>
                  <a:cubicBezTo>
                    <a:pt x="2076221" y="309880"/>
                    <a:pt x="1988591" y="397510"/>
                    <a:pt x="1880641" y="397510"/>
                  </a:cubicBezTo>
                  <a:lnTo>
                    <a:pt x="274320" y="397510"/>
                  </a:lnTo>
                  <a:cubicBezTo>
                    <a:pt x="245110" y="431800"/>
                    <a:pt x="213360" y="462280"/>
                    <a:pt x="176530" y="487680"/>
                  </a:cubicBezTo>
                  <a:lnTo>
                    <a:pt x="152400" y="501650"/>
                  </a:lnTo>
                  <a:cubicBezTo>
                    <a:pt x="139700" y="501650"/>
                    <a:pt x="137160" y="494030"/>
                    <a:pt x="140970" y="481330"/>
                  </a:cubicBezTo>
                  <a:cubicBezTo>
                    <a:pt x="149860" y="453390"/>
                    <a:pt x="148590" y="424180"/>
                    <a:pt x="138430" y="397510"/>
                  </a:cubicBezTo>
                  <a:lnTo>
                    <a:pt x="134620" y="386080"/>
                  </a:lnTo>
                  <a:cubicBezTo>
                    <a:pt x="57150" y="360680"/>
                    <a:pt x="1270" y="287020"/>
                    <a:pt x="0" y="203200"/>
                  </a:cubicBezTo>
                  <a:lnTo>
                    <a:pt x="0" y="201930"/>
                  </a:lnTo>
                  <a:cubicBezTo>
                    <a:pt x="0" y="93980"/>
                    <a:pt x="88900" y="6350"/>
                    <a:pt x="203200" y="0"/>
                  </a:cubicBezTo>
                  <a:lnTo>
                    <a:pt x="1879371" y="0"/>
                  </a:lnTo>
                  <a:cubicBezTo>
                    <a:pt x="1879371" y="0"/>
                    <a:pt x="1879371" y="0"/>
                    <a:pt x="1879371" y="0"/>
                  </a:cubicBezTo>
                  <a:lnTo>
                    <a:pt x="1878101" y="0"/>
                  </a:lnTo>
                  <a:close/>
                </a:path>
              </a:pathLst>
            </a:custGeom>
            <a:solidFill>
              <a:srgbClr val="FFFFFF"/>
            </a:solidFill>
            <a:ln w="9525" cap="rnd">
              <a:solidFill>
                <a:srgbClr val="425AD4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107950" y="-28575"/>
              <a:ext cx="1865401" cy="415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2594640" y="5538131"/>
            <a:ext cx="6343945" cy="1550266"/>
            <a:chOff x="0" y="0"/>
            <a:chExt cx="2052835" cy="5016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052835" cy="501650"/>
            </a:xfrm>
            <a:custGeom>
              <a:avLst/>
              <a:gdLst/>
              <a:ahLst/>
              <a:cxnLst/>
              <a:rect r="r" b="b" t="t" l="l"/>
              <a:pathLst>
                <a:path h="501650" w="2052835">
                  <a:moveTo>
                    <a:pt x="1849635" y="0"/>
                  </a:moveTo>
                  <a:cubicBezTo>
                    <a:pt x="1960125" y="6350"/>
                    <a:pt x="2047755" y="93980"/>
                    <a:pt x="2052835" y="203200"/>
                  </a:cubicBezTo>
                  <a:cubicBezTo>
                    <a:pt x="2047755" y="309880"/>
                    <a:pt x="1960125" y="397510"/>
                    <a:pt x="1852175" y="397510"/>
                  </a:cubicBezTo>
                  <a:lnTo>
                    <a:pt x="274320" y="397510"/>
                  </a:lnTo>
                  <a:cubicBezTo>
                    <a:pt x="245110" y="431800"/>
                    <a:pt x="213360" y="462280"/>
                    <a:pt x="176530" y="487680"/>
                  </a:cubicBezTo>
                  <a:lnTo>
                    <a:pt x="152400" y="501650"/>
                  </a:lnTo>
                  <a:cubicBezTo>
                    <a:pt x="139700" y="501650"/>
                    <a:pt x="137160" y="494030"/>
                    <a:pt x="140970" y="481330"/>
                  </a:cubicBezTo>
                  <a:cubicBezTo>
                    <a:pt x="149860" y="453390"/>
                    <a:pt x="148590" y="424180"/>
                    <a:pt x="138430" y="397510"/>
                  </a:cubicBezTo>
                  <a:lnTo>
                    <a:pt x="134620" y="386080"/>
                  </a:lnTo>
                  <a:cubicBezTo>
                    <a:pt x="57150" y="360680"/>
                    <a:pt x="1270" y="287020"/>
                    <a:pt x="0" y="203200"/>
                  </a:cubicBezTo>
                  <a:lnTo>
                    <a:pt x="0" y="201930"/>
                  </a:lnTo>
                  <a:cubicBezTo>
                    <a:pt x="0" y="93980"/>
                    <a:pt x="88900" y="6350"/>
                    <a:pt x="203200" y="0"/>
                  </a:cubicBezTo>
                  <a:lnTo>
                    <a:pt x="1850905" y="0"/>
                  </a:lnTo>
                  <a:cubicBezTo>
                    <a:pt x="1850905" y="0"/>
                    <a:pt x="1850905" y="0"/>
                    <a:pt x="1850905" y="0"/>
                  </a:cubicBezTo>
                  <a:lnTo>
                    <a:pt x="1849635" y="0"/>
                  </a:lnTo>
                  <a:close/>
                </a:path>
              </a:pathLst>
            </a:custGeom>
            <a:solidFill>
              <a:srgbClr val="425AD4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107950" y="-28575"/>
              <a:ext cx="1836935" cy="415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421871" y="7088397"/>
            <a:ext cx="7164188" cy="1550266"/>
            <a:chOff x="0" y="0"/>
            <a:chExt cx="2318257" cy="50165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318258" cy="501650"/>
            </a:xfrm>
            <a:custGeom>
              <a:avLst/>
              <a:gdLst/>
              <a:ahLst/>
              <a:cxnLst/>
              <a:rect r="r" b="b" t="t" l="l"/>
              <a:pathLst>
                <a:path h="501650" w="2318258">
                  <a:moveTo>
                    <a:pt x="2115058" y="0"/>
                  </a:moveTo>
                  <a:cubicBezTo>
                    <a:pt x="2225547" y="6350"/>
                    <a:pt x="2313177" y="93980"/>
                    <a:pt x="2318258" y="203200"/>
                  </a:cubicBezTo>
                  <a:cubicBezTo>
                    <a:pt x="2313177" y="309880"/>
                    <a:pt x="2225547" y="397510"/>
                    <a:pt x="2117597" y="397510"/>
                  </a:cubicBezTo>
                  <a:lnTo>
                    <a:pt x="274320" y="397510"/>
                  </a:lnTo>
                  <a:cubicBezTo>
                    <a:pt x="245110" y="431800"/>
                    <a:pt x="213360" y="462280"/>
                    <a:pt x="176530" y="487680"/>
                  </a:cubicBezTo>
                  <a:lnTo>
                    <a:pt x="152400" y="501650"/>
                  </a:lnTo>
                  <a:cubicBezTo>
                    <a:pt x="139700" y="501650"/>
                    <a:pt x="137160" y="494030"/>
                    <a:pt x="140970" y="481330"/>
                  </a:cubicBezTo>
                  <a:cubicBezTo>
                    <a:pt x="149860" y="453390"/>
                    <a:pt x="148590" y="424180"/>
                    <a:pt x="138430" y="397510"/>
                  </a:cubicBezTo>
                  <a:lnTo>
                    <a:pt x="134620" y="386080"/>
                  </a:lnTo>
                  <a:cubicBezTo>
                    <a:pt x="57150" y="360680"/>
                    <a:pt x="1270" y="287020"/>
                    <a:pt x="0" y="203200"/>
                  </a:cubicBezTo>
                  <a:lnTo>
                    <a:pt x="0" y="201930"/>
                  </a:lnTo>
                  <a:cubicBezTo>
                    <a:pt x="0" y="93980"/>
                    <a:pt x="88900" y="6350"/>
                    <a:pt x="203200" y="0"/>
                  </a:cubicBezTo>
                  <a:lnTo>
                    <a:pt x="2116328" y="0"/>
                  </a:lnTo>
                  <a:cubicBezTo>
                    <a:pt x="2116328" y="0"/>
                    <a:pt x="2116328" y="0"/>
                    <a:pt x="2116328" y="0"/>
                  </a:cubicBezTo>
                  <a:lnTo>
                    <a:pt x="2115058" y="0"/>
                  </a:lnTo>
                  <a:close/>
                </a:path>
              </a:pathLst>
            </a:custGeom>
            <a:solidFill>
              <a:srgbClr val="FFFFFF"/>
            </a:solidFill>
            <a:ln w="9525" cap="rnd">
              <a:solidFill>
                <a:srgbClr val="425AD4"/>
              </a:soli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107950" y="-28575"/>
              <a:ext cx="2102357" cy="415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4135859" y="3566461"/>
            <a:ext cx="6641001" cy="4153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 strike="noStrike" u="none">
                <a:solidFill>
                  <a:srgbClr val="FFFFFF"/>
                </a:solidFill>
                <a:latin typeface="프리젠테이션 Semi-Bold"/>
                <a:ea typeface="프리젠테이션 Semi-Bold"/>
                <a:cs typeface="프리젠테이션 Semi-Bold"/>
                <a:sym typeface="프리젠테이션 Semi-Bold"/>
              </a:rPr>
              <a:t>현재 업무에서 가장 큰 비효율은 무엇인가요?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971805" y="5902331"/>
            <a:ext cx="5589615" cy="4153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 strike="noStrike" u="none">
                <a:solidFill>
                  <a:srgbClr val="FFFFFF"/>
                </a:solidFill>
                <a:latin typeface="프리젠테이션 Semi-Bold"/>
                <a:ea typeface="프리젠테이션 Semi-Bold"/>
                <a:cs typeface="프리젠테이션 Semi-Bold"/>
                <a:sym typeface="프리젠테이션 Semi-Bold"/>
              </a:rPr>
              <a:t>반복 작업에 얼마나 많은 시간을 쓰고 있나요?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027584" y="5183650"/>
            <a:ext cx="5589615" cy="4153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 strike="noStrike" u="none">
                <a:solidFill>
                  <a:srgbClr val="555555"/>
                </a:solidFill>
                <a:latin typeface="프리젠테이션 Semi-Bold"/>
                <a:ea typeface="프리젠테이션 Semi-Bold"/>
                <a:cs typeface="프리젠테이션 Semi-Bold"/>
                <a:sym typeface="프리젠테이션 Semi-Bold"/>
              </a:rPr>
              <a:t>팀 간 협업이 원활하지 않은 이유는 무엇인가요?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065737" y="7453408"/>
            <a:ext cx="5589615" cy="4153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 strike="noStrike" u="none">
                <a:solidFill>
                  <a:srgbClr val="555555"/>
                </a:solidFill>
                <a:latin typeface="프리젠테이션 Semi-Bold"/>
                <a:ea typeface="프리젠테이션 Semi-Bold"/>
                <a:cs typeface="프리젠테이션 Semi-Bold"/>
                <a:sym typeface="프리젠테이션 Semi-Bold"/>
              </a:rPr>
              <a:t>직원 만족도를 떨어뜨리는 요인은 무엇인가요?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4108430" y="1938603"/>
            <a:ext cx="9743492" cy="3390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90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7F7F7F"/>
                </a:solidFill>
                <a:latin typeface="프리젠테이션"/>
                <a:ea typeface="프리젠테이션"/>
                <a:cs typeface="프리젠테이션"/>
                <a:sym typeface="프리젠테이션"/>
              </a:rPr>
              <a:t>작업 환경의 비효율성과 불편함을 파악하기 위해, 아래의 핵심 질문들을 함께 살펴보겠습니다.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615605" y="1282069"/>
            <a:ext cx="5056789" cy="4908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20"/>
              </a:lnSpc>
            </a:pPr>
            <a:r>
              <a:rPr lang="en-US" b="true" sz="2800">
                <a:solidFill>
                  <a:srgbClr val="425AD4"/>
                </a:solidFill>
                <a:latin typeface="프리젠테이션 Semi-Bold"/>
                <a:ea typeface="프리젠테이션 Semi-Bold"/>
                <a:cs typeface="프리젠테이션 Semi-Bold"/>
                <a:sym typeface="프리젠테이션 Semi-Bold"/>
              </a:rPr>
              <a:t>해결을 위한 질문들</a:t>
            </a:r>
          </a:p>
        </p:txBody>
      </p:sp>
    </p:spTree>
  </p:cSld>
  <p:clrMapOvr>
    <a:masterClrMapping/>
  </p:clrMapOvr>
  <p:transition spd="fast">
    <p:fade/>
  </p:transition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853631" y="3158153"/>
            <a:ext cx="13111494" cy="1375886"/>
            <a:chOff x="0" y="0"/>
            <a:chExt cx="3453233" cy="36237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453233" cy="362373"/>
            </a:xfrm>
            <a:custGeom>
              <a:avLst/>
              <a:gdLst/>
              <a:ahLst/>
              <a:cxnLst/>
              <a:rect r="r" b="b" t="t" l="l"/>
              <a:pathLst>
                <a:path h="362373" w="3453233">
                  <a:moveTo>
                    <a:pt x="0" y="0"/>
                  </a:moveTo>
                  <a:lnTo>
                    <a:pt x="3453233" y="0"/>
                  </a:lnTo>
                  <a:lnTo>
                    <a:pt x="3453233" y="362373"/>
                  </a:lnTo>
                  <a:lnTo>
                    <a:pt x="0" y="362373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425AD4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3453233" cy="3909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853631" y="4755117"/>
            <a:ext cx="13111494" cy="1375886"/>
            <a:chOff x="0" y="0"/>
            <a:chExt cx="3453233" cy="36237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453233" cy="362373"/>
            </a:xfrm>
            <a:custGeom>
              <a:avLst/>
              <a:gdLst/>
              <a:ahLst/>
              <a:cxnLst/>
              <a:rect r="r" b="b" t="t" l="l"/>
              <a:pathLst>
                <a:path h="362373" w="3453233">
                  <a:moveTo>
                    <a:pt x="0" y="0"/>
                  </a:moveTo>
                  <a:lnTo>
                    <a:pt x="3453233" y="0"/>
                  </a:lnTo>
                  <a:lnTo>
                    <a:pt x="3453233" y="362373"/>
                  </a:lnTo>
                  <a:lnTo>
                    <a:pt x="0" y="362373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425AD4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3453233" cy="3909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2853631" y="6350078"/>
            <a:ext cx="13111494" cy="1375886"/>
            <a:chOff x="0" y="0"/>
            <a:chExt cx="3453233" cy="36237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453233" cy="362373"/>
            </a:xfrm>
            <a:custGeom>
              <a:avLst/>
              <a:gdLst/>
              <a:ahLst/>
              <a:cxnLst/>
              <a:rect r="r" b="b" t="t" l="l"/>
              <a:pathLst>
                <a:path h="362373" w="3453233">
                  <a:moveTo>
                    <a:pt x="0" y="0"/>
                  </a:moveTo>
                  <a:lnTo>
                    <a:pt x="3453233" y="0"/>
                  </a:lnTo>
                  <a:lnTo>
                    <a:pt x="3453233" y="362373"/>
                  </a:lnTo>
                  <a:lnTo>
                    <a:pt x="0" y="362373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425AD4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3453233" cy="3909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4561571" y="4971389"/>
            <a:ext cx="10607050" cy="8636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 spc="-50" b="true">
                <a:solidFill>
                  <a:srgbClr val="425AD4"/>
                </a:solidFill>
                <a:latin typeface="프리젠테이션 Semi-Bold"/>
                <a:ea typeface="프리젠테이션 Semi-Bold"/>
                <a:cs typeface="프리젠테이션 Semi-Bold"/>
                <a:sym typeface="프리젠테이션 Semi-Bold"/>
              </a:rPr>
              <a:t>부서</a:t>
            </a:r>
            <a:r>
              <a:rPr lang="en-US" b="true" sz="5000" spc="-50">
                <a:solidFill>
                  <a:srgbClr val="425AD4"/>
                </a:solidFill>
                <a:latin typeface="프리젠테이션 Semi-Bold"/>
                <a:ea typeface="프리젠테이션 Semi-Bold"/>
                <a:cs typeface="프리젠테이션 Semi-Bold"/>
                <a:sym typeface="프리젠테이션 Semi-Bold"/>
              </a:rPr>
              <a:t> 간 소통 단절</a:t>
            </a:r>
            <a:r>
              <a:rPr lang="en-US" sz="5000" spc="-50">
                <a:solidFill>
                  <a:srgbClr val="425AD4"/>
                </a:solidFill>
                <a:latin typeface="프리젠테이션"/>
                <a:ea typeface="프리젠테이션"/>
                <a:cs typeface="프리젠테이션"/>
                <a:sym typeface="프리젠테이션"/>
              </a:rPr>
              <a:t>로 인한 업무 지연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561571" y="3356679"/>
            <a:ext cx="10607050" cy="8636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 spc="-50" b="true">
                <a:solidFill>
                  <a:srgbClr val="425AD4"/>
                </a:solidFill>
                <a:latin typeface="프리젠테이션 Semi-Bold"/>
                <a:ea typeface="프리젠테이션 Semi-Bold"/>
                <a:cs typeface="프리젠테이션 Semi-Bold"/>
                <a:sym typeface="프리젠테이션 Semi-Bold"/>
              </a:rPr>
              <a:t>반복적 수작업</a:t>
            </a:r>
            <a:r>
              <a:rPr lang="en-US" sz="5000" spc="-50">
                <a:solidFill>
                  <a:srgbClr val="425AD4"/>
                </a:solidFill>
                <a:latin typeface="프리젠테이션"/>
                <a:ea typeface="프리젠테이션"/>
                <a:cs typeface="프리젠테이션"/>
                <a:sym typeface="프리젠테이션"/>
              </a:rPr>
              <a:t>으로</a:t>
            </a:r>
            <a:r>
              <a:rPr lang="en-US" sz="5000" spc="-50">
                <a:solidFill>
                  <a:srgbClr val="425AD4"/>
                </a:solidFill>
                <a:latin typeface="프리젠테이션"/>
                <a:ea typeface="프리젠테이션"/>
                <a:cs typeface="프리젠테이션"/>
                <a:sym typeface="프리젠테이션"/>
              </a:rPr>
              <a:t> 인한 생산성 저하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561571" y="6578820"/>
            <a:ext cx="10607050" cy="8636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 spc="-50">
                <a:solidFill>
                  <a:srgbClr val="425AD4"/>
                </a:solidFill>
                <a:latin typeface="프리젠테이션"/>
                <a:ea typeface="프리젠테이션"/>
                <a:cs typeface="프리젠테이션"/>
                <a:sym typeface="프리젠테이션"/>
              </a:rPr>
              <a:t>비효율적</a:t>
            </a:r>
            <a:r>
              <a:rPr lang="en-US" sz="5000" spc="-50">
                <a:solidFill>
                  <a:srgbClr val="425AD4"/>
                </a:solidFill>
                <a:latin typeface="프리젠테이션"/>
                <a:ea typeface="프리젠테이션"/>
                <a:cs typeface="프리젠테이션"/>
                <a:sym typeface="프리젠테이션"/>
              </a:rPr>
              <a:t> 환경으로 인한 </a:t>
            </a:r>
            <a:r>
              <a:rPr lang="en-US" b="true" sz="5000" spc="-50">
                <a:solidFill>
                  <a:srgbClr val="425AD4"/>
                </a:solidFill>
                <a:latin typeface="프리젠테이션 Semi-Bold"/>
                <a:ea typeface="프리젠테이션 Semi-Bold"/>
                <a:cs typeface="프리젠테이션 Semi-Bold"/>
                <a:sym typeface="프리젠테이션 Semi-Bold"/>
              </a:rPr>
              <a:t>인재 이탈</a:t>
            </a:r>
            <a:r>
              <a:rPr lang="en-US" sz="5000" spc="-50">
                <a:solidFill>
                  <a:srgbClr val="425AD4"/>
                </a:solidFill>
                <a:latin typeface="프리젠테이션"/>
                <a:ea typeface="프리젠테이션"/>
                <a:cs typeface="프리젠테이션"/>
                <a:sym typeface="프리젠테이션"/>
              </a:rPr>
              <a:t> 위험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3444208" y="3492065"/>
            <a:ext cx="760473" cy="760473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FFAFE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3444208" y="5071717"/>
            <a:ext cx="760473" cy="760473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FFAFE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3444208" y="6633582"/>
            <a:ext cx="760473" cy="760473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FFAFE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5749646" y="1282069"/>
            <a:ext cx="6788708" cy="4908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20"/>
              </a:lnSpc>
            </a:pPr>
            <a:r>
              <a:rPr lang="en-US" b="true" sz="2800">
                <a:solidFill>
                  <a:srgbClr val="425AD4"/>
                </a:solidFill>
                <a:latin typeface="프리젠테이션 Semi-Bold"/>
                <a:ea typeface="프리젠테이션 Semi-Bold"/>
                <a:cs typeface="프리젠테이션 Semi-Bold"/>
                <a:sym typeface="프리젠테이션 Semi-Bold"/>
              </a:rPr>
              <a:t>대표적 문제 정의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3500032" y="3619860"/>
            <a:ext cx="648826" cy="4477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11"/>
              </a:lnSpc>
              <a:spcBef>
                <a:spcPct val="0"/>
              </a:spcBef>
            </a:pPr>
            <a:r>
              <a:rPr lang="en-US" sz="2579">
                <a:solidFill>
                  <a:srgbClr val="425AD4"/>
                </a:solidFill>
                <a:latin typeface="Garet"/>
                <a:ea typeface="Garet"/>
                <a:cs typeface="Garet"/>
                <a:sym typeface="Garet"/>
              </a:rPr>
              <a:t>1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3500032" y="5199511"/>
            <a:ext cx="648826" cy="4477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11"/>
              </a:lnSpc>
              <a:spcBef>
                <a:spcPct val="0"/>
              </a:spcBef>
            </a:pPr>
            <a:r>
              <a:rPr lang="en-US" sz="2579">
                <a:solidFill>
                  <a:srgbClr val="425AD4"/>
                </a:solidFill>
                <a:latin typeface="Garet"/>
                <a:ea typeface="Garet"/>
                <a:cs typeface="Garet"/>
                <a:sym typeface="Garet"/>
              </a:rPr>
              <a:t>2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3500032" y="6761377"/>
            <a:ext cx="648826" cy="4477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11"/>
              </a:lnSpc>
              <a:spcBef>
                <a:spcPct val="0"/>
              </a:spcBef>
            </a:pPr>
            <a:r>
              <a:rPr lang="en-US" sz="2579">
                <a:solidFill>
                  <a:srgbClr val="425AD4"/>
                </a:solidFill>
                <a:latin typeface="Garet"/>
                <a:ea typeface="Garet"/>
                <a:cs typeface="Garet"/>
                <a:sym typeface="Garet"/>
              </a:rPr>
              <a:t>3</a:t>
            </a:r>
          </a:p>
        </p:txBody>
      </p:sp>
    </p:spTree>
  </p:cSld>
  <p:clrMapOvr>
    <a:masterClrMapping/>
  </p:clrMapOvr>
  <p:transition spd="fast">
    <p:fade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25A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271616" y="2951345"/>
            <a:ext cx="9508921" cy="5446018"/>
          </a:xfrm>
          <a:custGeom>
            <a:avLst/>
            <a:gdLst/>
            <a:ahLst/>
            <a:cxnLst/>
            <a:rect r="r" b="b" t="t" l="l"/>
            <a:pathLst>
              <a:path h="5446018" w="9508921">
                <a:moveTo>
                  <a:pt x="0" y="0"/>
                </a:moveTo>
                <a:lnTo>
                  <a:pt x="9508921" y="0"/>
                </a:lnTo>
                <a:lnTo>
                  <a:pt x="9508921" y="5446019"/>
                </a:lnTo>
                <a:lnTo>
                  <a:pt x="0" y="54460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375077" y="1349403"/>
            <a:ext cx="4762500" cy="4153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399" strike="noStrike">
                <a:solidFill>
                  <a:srgbClr val="FFFFFF"/>
                </a:solidFill>
                <a:latin typeface="프리젠테이션 Semi-Bold"/>
                <a:ea typeface="프리젠테이션 Semi-Bold"/>
                <a:cs typeface="프리젠테이션 Semi-Bold"/>
                <a:sym typeface="프리젠테이션 Semi-Bold"/>
              </a:rPr>
              <a:t>문제로 인한 손실 현황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375077" y="2040985"/>
            <a:ext cx="7768923" cy="33932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908"/>
              </a:lnSpc>
              <a:spcBef>
                <a:spcPct val="0"/>
              </a:spcBef>
            </a:pPr>
            <a:r>
              <a:rPr lang="en-US" b="true" sz="6363" strike="noStrike" u="none">
                <a:solidFill>
                  <a:srgbClr val="FFFF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비효율로 인한 손실이 </a:t>
            </a:r>
          </a:p>
          <a:p>
            <a:pPr algn="l" marL="0" indent="0" lvl="0">
              <a:lnSpc>
                <a:spcPts val="8908"/>
              </a:lnSpc>
              <a:spcBef>
                <a:spcPct val="0"/>
              </a:spcBef>
            </a:pPr>
            <a:r>
              <a:rPr lang="en-US" b="true" sz="6363" strike="noStrike" u="none">
                <a:solidFill>
                  <a:srgbClr val="FFFF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매 분기 평균 30% 증가하고 있습니다</a:t>
            </a:r>
          </a:p>
        </p:txBody>
      </p:sp>
    </p:spTree>
  </p:cSld>
  <p:clrMapOvr>
    <a:masterClrMapping/>
  </p:clrMapOvr>
  <p:transition spd="fast">
    <p:fade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597893" y="2614573"/>
            <a:ext cx="5744404" cy="5744404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25AD4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903096" y="3680272"/>
            <a:ext cx="6885791" cy="874646"/>
            <a:chOff x="0" y="0"/>
            <a:chExt cx="2852843" cy="36237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852843" cy="362373"/>
            </a:xfrm>
            <a:custGeom>
              <a:avLst/>
              <a:gdLst/>
              <a:ahLst/>
              <a:cxnLst/>
              <a:rect r="r" b="b" t="t" l="l"/>
              <a:pathLst>
                <a:path h="362373" w="2852843">
                  <a:moveTo>
                    <a:pt x="0" y="0"/>
                  </a:moveTo>
                  <a:lnTo>
                    <a:pt x="2852843" y="0"/>
                  </a:lnTo>
                  <a:lnTo>
                    <a:pt x="2852843" y="362373"/>
                  </a:lnTo>
                  <a:lnTo>
                    <a:pt x="0" y="362373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425AD4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2852843" cy="3909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903096" y="4714506"/>
            <a:ext cx="6885791" cy="874646"/>
            <a:chOff x="0" y="0"/>
            <a:chExt cx="2852843" cy="36237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852843" cy="362373"/>
            </a:xfrm>
            <a:custGeom>
              <a:avLst/>
              <a:gdLst/>
              <a:ahLst/>
              <a:cxnLst/>
              <a:rect r="r" b="b" t="t" l="l"/>
              <a:pathLst>
                <a:path h="362373" w="2852843">
                  <a:moveTo>
                    <a:pt x="0" y="0"/>
                  </a:moveTo>
                  <a:lnTo>
                    <a:pt x="2852843" y="0"/>
                  </a:lnTo>
                  <a:lnTo>
                    <a:pt x="2852843" y="362373"/>
                  </a:lnTo>
                  <a:lnTo>
                    <a:pt x="0" y="362373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425AD4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2852843" cy="3909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903096" y="5751077"/>
            <a:ext cx="6885791" cy="874646"/>
            <a:chOff x="0" y="0"/>
            <a:chExt cx="2852843" cy="36237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852843" cy="362373"/>
            </a:xfrm>
            <a:custGeom>
              <a:avLst/>
              <a:gdLst/>
              <a:ahLst/>
              <a:cxnLst/>
              <a:rect r="r" b="b" t="t" l="l"/>
              <a:pathLst>
                <a:path h="362373" w="2852843">
                  <a:moveTo>
                    <a:pt x="0" y="0"/>
                  </a:moveTo>
                  <a:lnTo>
                    <a:pt x="2852843" y="0"/>
                  </a:lnTo>
                  <a:lnTo>
                    <a:pt x="2852843" y="362373"/>
                  </a:lnTo>
                  <a:lnTo>
                    <a:pt x="0" y="362373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425AD4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2852843" cy="3909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-10800000">
            <a:off x="9144000" y="4470961"/>
            <a:ext cx="1958652" cy="1969394"/>
          </a:xfrm>
          <a:custGeom>
            <a:avLst/>
            <a:gdLst/>
            <a:ahLst/>
            <a:cxnLst/>
            <a:rect r="r" b="b" t="t" l="l"/>
            <a:pathLst>
              <a:path h="1969394" w="1958652">
                <a:moveTo>
                  <a:pt x="0" y="0"/>
                </a:moveTo>
                <a:lnTo>
                  <a:pt x="1958652" y="0"/>
                </a:lnTo>
                <a:lnTo>
                  <a:pt x="1958652" y="1969394"/>
                </a:lnTo>
                <a:lnTo>
                  <a:pt x="0" y="19693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1470412" y="4456995"/>
            <a:ext cx="3999366" cy="198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52"/>
              </a:lnSpc>
            </a:pPr>
            <a:r>
              <a:rPr lang="en-US" b="true" sz="3751" spc="-37">
                <a:solidFill>
                  <a:srgbClr val="FFFF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첨단 </a:t>
            </a:r>
            <a:r>
              <a:rPr lang="en-US" b="true" sz="3751" spc="-37">
                <a:solidFill>
                  <a:srgbClr val="FFFF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기술을 활용하여 보다 효율적이고 직관적인 솔루션을 개발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749646" y="1282069"/>
            <a:ext cx="6788708" cy="4908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20"/>
              </a:lnSpc>
            </a:pPr>
            <a:r>
              <a:rPr lang="en-US" b="true" sz="2800">
                <a:solidFill>
                  <a:srgbClr val="425AD4"/>
                </a:solidFill>
                <a:latin typeface="프리젠테이션 Semi-Bold"/>
                <a:ea typeface="프리젠테이션 Semi-Bold"/>
                <a:cs typeface="프리젠테이션 Semi-Bold"/>
                <a:sym typeface="프리젠테이션 Semi-Bold"/>
              </a:rPr>
              <a:t>문제 해결 솔루션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233965" y="4863555"/>
            <a:ext cx="6224051" cy="4908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b="true" sz="2799" spc="-27">
                <a:solidFill>
                  <a:srgbClr val="425AD4"/>
                </a:solidFill>
                <a:latin typeface="프리젠테이션 Semi-Bold"/>
                <a:ea typeface="프리젠테이션 Semi-Bold"/>
                <a:cs typeface="프리젠테이션 Semi-Bold"/>
                <a:sym typeface="프리젠테이션 Semi-Bold"/>
              </a:rPr>
              <a:t>부서</a:t>
            </a:r>
            <a:r>
              <a:rPr lang="en-US" b="true" sz="2799" spc="-27">
                <a:solidFill>
                  <a:srgbClr val="425AD4"/>
                </a:solidFill>
                <a:latin typeface="프리젠테이션 Semi-Bold"/>
                <a:ea typeface="프리젠테이션 Semi-Bold"/>
                <a:cs typeface="프리젠테이션 Semi-Bold"/>
                <a:sym typeface="프리젠테이션 Semi-Bold"/>
              </a:rPr>
              <a:t> 간 소통 단절</a:t>
            </a:r>
            <a:r>
              <a:rPr lang="en-US" sz="2799" spc="-27">
                <a:solidFill>
                  <a:srgbClr val="425AD4"/>
                </a:solidFill>
                <a:latin typeface="프리젠테이션"/>
                <a:ea typeface="프리젠테이션"/>
                <a:cs typeface="프리젠테이션"/>
                <a:sym typeface="프리젠테이션"/>
              </a:rPr>
              <a:t>로 인한 업무 지연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233965" y="3829321"/>
            <a:ext cx="6224051" cy="4908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b="true" sz="2799" spc="-27">
                <a:solidFill>
                  <a:srgbClr val="425AD4"/>
                </a:solidFill>
                <a:latin typeface="프리젠테이션 Semi-Bold"/>
                <a:ea typeface="프리젠테이션 Semi-Bold"/>
                <a:cs typeface="프리젠테이션 Semi-Bold"/>
                <a:sym typeface="프리젠테이션 Semi-Bold"/>
              </a:rPr>
              <a:t>반복적 수작업</a:t>
            </a:r>
            <a:r>
              <a:rPr lang="en-US" sz="2799" spc="-27">
                <a:solidFill>
                  <a:srgbClr val="425AD4"/>
                </a:solidFill>
                <a:latin typeface="프리젠테이션"/>
                <a:ea typeface="프리젠테이션"/>
                <a:cs typeface="프리젠테이션"/>
                <a:sym typeface="프리젠테이션"/>
              </a:rPr>
              <a:t>으로</a:t>
            </a:r>
            <a:r>
              <a:rPr lang="en-US" sz="2799" spc="-27">
                <a:solidFill>
                  <a:srgbClr val="425AD4"/>
                </a:solidFill>
                <a:latin typeface="프리젠테이션"/>
                <a:ea typeface="프리젠테이션"/>
                <a:cs typeface="프리젠테이션"/>
                <a:sym typeface="프리젠테이션"/>
              </a:rPr>
              <a:t> 인한 생산성 저하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233965" y="5900126"/>
            <a:ext cx="6224051" cy="4908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spc="-27">
                <a:solidFill>
                  <a:srgbClr val="425AD4"/>
                </a:solidFill>
                <a:latin typeface="프리젠테이션"/>
                <a:ea typeface="프리젠테이션"/>
                <a:cs typeface="프리젠테이션"/>
                <a:sym typeface="프리젠테이션"/>
              </a:rPr>
              <a:t>비효율적</a:t>
            </a:r>
            <a:r>
              <a:rPr lang="en-US" sz="2799" spc="-27">
                <a:solidFill>
                  <a:srgbClr val="425AD4"/>
                </a:solidFill>
                <a:latin typeface="프리젠테이션"/>
                <a:ea typeface="프리젠테이션"/>
                <a:cs typeface="프리젠테이션"/>
                <a:sym typeface="프리젠테이션"/>
              </a:rPr>
              <a:t> 환경으로 인한 </a:t>
            </a:r>
            <a:r>
              <a:rPr lang="en-US" b="true" sz="2799" spc="-27">
                <a:solidFill>
                  <a:srgbClr val="425AD4"/>
                </a:solidFill>
                <a:latin typeface="프리젠테이션 Semi-Bold"/>
                <a:ea typeface="프리젠테이션 Semi-Bold"/>
                <a:cs typeface="프리젠테이션 Semi-Bold"/>
                <a:sym typeface="프리젠테이션 Semi-Bold"/>
              </a:rPr>
              <a:t>인재 이탈</a:t>
            </a:r>
            <a:r>
              <a:rPr lang="en-US" sz="2799" spc="-27">
                <a:solidFill>
                  <a:srgbClr val="425AD4"/>
                </a:solidFill>
                <a:latin typeface="프리젠테이션"/>
                <a:ea typeface="프리젠테이션"/>
                <a:cs typeface="프리젠테이션"/>
                <a:sym typeface="프리젠테이션"/>
              </a:rPr>
              <a:t> 위험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394027" y="7107887"/>
            <a:ext cx="5903929" cy="777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00"/>
              </a:lnSpc>
            </a:pPr>
            <a:r>
              <a:rPr lang="en-US" sz="2000">
                <a:solidFill>
                  <a:srgbClr val="555555"/>
                </a:solidFill>
                <a:latin typeface="프리젠테이션 Light"/>
                <a:ea typeface="프리젠테이션 Light"/>
                <a:cs typeface="프리젠테이션 Light"/>
                <a:sym typeface="프리젠테이션 Light"/>
              </a:rPr>
              <a:t>우리는 이러한 문제점들을 해결하기 위해 첨단 기술을 활용하여 보다 효율적이고 직관적인 솔루션을 개발하고자 합니다.</a:t>
            </a:r>
          </a:p>
        </p:txBody>
      </p:sp>
    </p:spTree>
  </p:cSld>
  <p:clrMapOvr>
    <a:masterClrMapping/>
  </p:clrMapOvr>
  <p:transition spd="fast">
    <p:fade/>
  </p:transition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432723" y="2652133"/>
            <a:ext cx="5418565" cy="5859684"/>
            <a:chOff x="0" y="0"/>
            <a:chExt cx="1427112" cy="154329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27112" cy="1543291"/>
            </a:xfrm>
            <a:custGeom>
              <a:avLst/>
              <a:gdLst/>
              <a:ahLst/>
              <a:cxnLst/>
              <a:rect r="r" b="b" t="t" l="l"/>
              <a:pathLst>
                <a:path h="1543291" w="1427112">
                  <a:moveTo>
                    <a:pt x="0" y="0"/>
                  </a:moveTo>
                  <a:lnTo>
                    <a:pt x="1427112" y="0"/>
                  </a:lnTo>
                  <a:lnTo>
                    <a:pt x="1427112" y="1543291"/>
                  </a:lnTo>
                  <a:lnTo>
                    <a:pt x="0" y="1543291"/>
                  </a:lnTo>
                  <a:close/>
                </a:path>
              </a:pathLst>
            </a:custGeom>
            <a:solidFill>
              <a:srgbClr val="425AD4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1427112" cy="15718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2150552" y="3228571"/>
            <a:ext cx="4329006" cy="4706807"/>
            <a:chOff x="0" y="0"/>
            <a:chExt cx="1140150" cy="123965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40150" cy="1239653"/>
            </a:xfrm>
            <a:custGeom>
              <a:avLst/>
              <a:gdLst/>
              <a:ahLst/>
              <a:cxnLst/>
              <a:rect r="r" b="b" t="t" l="l"/>
              <a:pathLst>
                <a:path h="1239653" w="1140150">
                  <a:moveTo>
                    <a:pt x="0" y="0"/>
                  </a:moveTo>
                  <a:lnTo>
                    <a:pt x="1140150" y="0"/>
                  </a:lnTo>
                  <a:lnTo>
                    <a:pt x="1140150" y="1239653"/>
                  </a:lnTo>
                  <a:lnTo>
                    <a:pt x="0" y="1239653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425AD4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1140150" cy="12682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808442" y="3228571"/>
            <a:ext cx="4329006" cy="4706807"/>
            <a:chOff x="0" y="0"/>
            <a:chExt cx="1140150" cy="123965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40150" cy="1239653"/>
            </a:xfrm>
            <a:custGeom>
              <a:avLst/>
              <a:gdLst/>
              <a:ahLst/>
              <a:cxnLst/>
              <a:rect r="r" b="b" t="t" l="l"/>
              <a:pathLst>
                <a:path h="1239653" w="1140150">
                  <a:moveTo>
                    <a:pt x="0" y="0"/>
                  </a:moveTo>
                  <a:lnTo>
                    <a:pt x="1140150" y="0"/>
                  </a:lnTo>
                  <a:lnTo>
                    <a:pt x="1140150" y="1239653"/>
                  </a:lnTo>
                  <a:lnTo>
                    <a:pt x="0" y="1239653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425AD4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1140150" cy="12682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2778433" y="4981575"/>
            <a:ext cx="3076575" cy="1952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00"/>
              </a:lnSpc>
              <a:spcBef>
                <a:spcPct val="0"/>
              </a:spcBef>
            </a:pPr>
            <a:r>
              <a:rPr lang="en-US" sz="2000" strike="noStrike" u="none">
                <a:solidFill>
                  <a:srgbClr val="425AD4"/>
                </a:solidFill>
                <a:latin typeface="프리젠테이션"/>
                <a:ea typeface="프리젠테이션"/>
                <a:cs typeface="프리젠테이션"/>
                <a:sym typeface="프리젠테이션"/>
              </a:rPr>
              <a:t>협업 도구를 제공하지만 반복 업무 자동화 기능이 없어, 수작업 비효율이 그대로 남아 있습니다.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436323" y="4981575"/>
            <a:ext cx="3076575" cy="1952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00"/>
              </a:lnSpc>
              <a:spcBef>
                <a:spcPct val="0"/>
              </a:spcBef>
            </a:pPr>
            <a:r>
              <a:rPr lang="en-US" sz="2000" strike="noStrike" u="none">
                <a:solidFill>
                  <a:srgbClr val="425AD4"/>
                </a:solidFill>
                <a:latin typeface="프리젠테이션"/>
                <a:ea typeface="프리젠테이션"/>
                <a:cs typeface="프리젠테이션"/>
                <a:sym typeface="프리젠테이션"/>
              </a:rPr>
              <a:t>단순 업무 자동화에 초점을 맞추고 있으나, 부서 간 협업 기능이 부재하여 소통 단절 문제를 해결하지 못합니다.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220003" y="4781638"/>
            <a:ext cx="3844006" cy="1981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250"/>
              </a:lnSpc>
              <a:spcBef>
                <a:spcPct val="0"/>
              </a:spcBef>
            </a:pPr>
            <a:r>
              <a:rPr lang="en-US" b="true" sz="3750" strike="noStrike" u="none">
                <a:solidFill>
                  <a:srgbClr val="FFFF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자동화 + 실시간 협업</a:t>
            </a:r>
            <a:r>
              <a:rPr lang="en-US" sz="3750" strike="noStrike" u="none">
                <a:solidFill>
                  <a:srgbClr val="FFFFFF"/>
                </a:solidFill>
                <a:latin typeface="프리젠테이션"/>
                <a:ea typeface="프리젠테이션"/>
                <a:cs typeface="프리젠테이션"/>
                <a:sym typeface="프리젠테이션"/>
              </a:rPr>
              <a:t>을 하나로 통합한 올인원 업무 플랫폼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878718" y="3383249"/>
            <a:ext cx="4526575" cy="6455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52"/>
              </a:lnSpc>
            </a:pPr>
            <a:r>
              <a:rPr lang="en-US" sz="3751" spc="-37">
                <a:solidFill>
                  <a:srgbClr val="FFFFFF"/>
                </a:solidFill>
                <a:latin typeface="프리젠테이션"/>
                <a:ea typeface="프리젠테이션"/>
                <a:cs typeface="프리젠테이션"/>
                <a:sym typeface="프리젠테이션"/>
              </a:rPr>
              <a:t>우리 서비스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749646" y="1282069"/>
            <a:ext cx="6788708" cy="4908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20"/>
              </a:lnSpc>
            </a:pPr>
            <a:r>
              <a:rPr lang="en-US" b="true" sz="2800">
                <a:solidFill>
                  <a:srgbClr val="425AD4"/>
                </a:solidFill>
                <a:latin typeface="프리젠테이션 Semi-Bold"/>
                <a:ea typeface="프리젠테이션 Semi-Bold"/>
                <a:cs typeface="프리젠테이션 Semi-Bold"/>
                <a:sym typeface="프리젠테이션 Semi-Bold"/>
              </a:rPr>
              <a:t>경쟁사 대비 강점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395412" y="4052766"/>
            <a:ext cx="3839286" cy="4908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20"/>
              </a:lnSpc>
            </a:pPr>
            <a:r>
              <a:rPr lang="en-US" b="true" sz="2800">
                <a:solidFill>
                  <a:srgbClr val="425AD4"/>
                </a:solidFill>
                <a:latin typeface="프리젠테이션 Semi-Bold"/>
                <a:ea typeface="프리젠테이션 Semi-Bold"/>
                <a:cs typeface="프리젠테이션 Semi-Bold"/>
                <a:sym typeface="프리젠테이션 Semi-Bold"/>
              </a:rPr>
              <a:t>경쟁사 B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053302" y="4052766"/>
            <a:ext cx="3839286" cy="4908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20"/>
              </a:lnSpc>
            </a:pPr>
            <a:r>
              <a:rPr lang="en-US" b="true" sz="2800">
                <a:solidFill>
                  <a:srgbClr val="425AD4"/>
                </a:solidFill>
                <a:latin typeface="프리젠테이션 Semi-Bold"/>
                <a:ea typeface="프리젠테이션 Semi-Bold"/>
                <a:cs typeface="프리젠테이션 Semi-Bold"/>
                <a:sym typeface="프리젠테이션 Semi-Bold"/>
              </a:rPr>
              <a:t>경쟁사 A</a:t>
            </a:r>
          </a:p>
        </p:txBody>
      </p:sp>
    </p:spTree>
  </p:cSld>
  <p:clrMapOvr>
    <a:masterClrMapping/>
  </p:clrMapOvr>
  <p:transition spd="fast">
    <p:fade/>
  </p:transition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425A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905000" y="4168016"/>
            <a:ext cx="4572000" cy="1143000"/>
            <a:chOff x="0" y="0"/>
            <a:chExt cx="1203960" cy="30099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03960" cy="300990"/>
            </a:xfrm>
            <a:custGeom>
              <a:avLst/>
              <a:gdLst/>
              <a:ahLst/>
              <a:cxnLst/>
              <a:rect r="r" b="b" t="t" l="l"/>
              <a:pathLst>
                <a:path h="300990" w="1203960">
                  <a:moveTo>
                    <a:pt x="0" y="0"/>
                  </a:moveTo>
                  <a:lnTo>
                    <a:pt x="1203960" y="0"/>
                  </a:lnTo>
                  <a:lnTo>
                    <a:pt x="1203960" y="300990"/>
                  </a:lnTo>
                  <a:lnTo>
                    <a:pt x="0" y="30099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425AD4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1203960" cy="329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858000" y="4168016"/>
            <a:ext cx="4572000" cy="1143000"/>
            <a:chOff x="0" y="0"/>
            <a:chExt cx="1203960" cy="30099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03960" cy="300990"/>
            </a:xfrm>
            <a:custGeom>
              <a:avLst/>
              <a:gdLst/>
              <a:ahLst/>
              <a:cxnLst/>
              <a:rect r="r" b="b" t="t" l="l"/>
              <a:pathLst>
                <a:path h="300990" w="1203960">
                  <a:moveTo>
                    <a:pt x="0" y="0"/>
                  </a:moveTo>
                  <a:lnTo>
                    <a:pt x="1203960" y="0"/>
                  </a:lnTo>
                  <a:lnTo>
                    <a:pt x="1203960" y="300990"/>
                  </a:lnTo>
                  <a:lnTo>
                    <a:pt x="0" y="30099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425AD4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1203960" cy="329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1811000" y="4168016"/>
            <a:ext cx="4572000" cy="1143000"/>
            <a:chOff x="0" y="0"/>
            <a:chExt cx="1203960" cy="30099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03960" cy="300990"/>
            </a:xfrm>
            <a:custGeom>
              <a:avLst/>
              <a:gdLst/>
              <a:ahLst/>
              <a:cxnLst/>
              <a:rect r="r" b="b" t="t" l="l"/>
              <a:pathLst>
                <a:path h="300990" w="1203960">
                  <a:moveTo>
                    <a:pt x="0" y="0"/>
                  </a:moveTo>
                  <a:lnTo>
                    <a:pt x="1203960" y="0"/>
                  </a:lnTo>
                  <a:lnTo>
                    <a:pt x="1203960" y="300990"/>
                  </a:lnTo>
                  <a:lnTo>
                    <a:pt x="0" y="30099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425AD4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1203960" cy="329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11" id="11"/>
          <p:cNvSpPr/>
          <p:nvPr/>
        </p:nvSpPr>
        <p:spPr>
          <a:xfrm flipV="true">
            <a:off x="4829175" y="3152775"/>
            <a:ext cx="3656967" cy="0"/>
          </a:xfrm>
          <a:prstGeom prst="line">
            <a:avLst/>
          </a:prstGeom>
          <a:ln cap="flat" w="9525">
            <a:solidFill>
              <a:srgbClr val="DDFC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 flipV="true">
            <a:off x="9782808" y="3152775"/>
            <a:ext cx="3656967" cy="0"/>
          </a:xfrm>
          <a:prstGeom prst="line">
            <a:avLst/>
          </a:prstGeom>
          <a:ln cap="flat" w="9525">
            <a:solidFill>
              <a:srgbClr val="DDFC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3" id="13"/>
          <p:cNvSpPr txBox="true"/>
          <p:nvPr/>
        </p:nvSpPr>
        <p:spPr>
          <a:xfrm rot="0">
            <a:off x="3524250" y="3034339"/>
            <a:ext cx="1333500" cy="284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99"/>
              </a:lnSpc>
            </a:pPr>
            <a:r>
              <a:rPr lang="en-US" b="true" sz="2199" spc="-43" u="none">
                <a:solidFill>
                  <a:srgbClr val="95DFFF"/>
                </a:solidFill>
                <a:latin typeface="Garet Bold"/>
                <a:ea typeface="Garet Bold"/>
                <a:cs typeface="Garet Bold"/>
                <a:sym typeface="Garet Bold"/>
              </a:rPr>
              <a:t>Step 1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238500" y="3499941"/>
            <a:ext cx="1905000" cy="1879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00"/>
              </a:lnSpc>
            </a:pPr>
            <a:r>
              <a:rPr lang="en-US" sz="1400" u="none">
                <a:solidFill>
                  <a:srgbClr val="95DFFF"/>
                </a:solidFill>
                <a:latin typeface="프리젠테이션 Light"/>
                <a:ea typeface="프리젠테이션 Light"/>
                <a:cs typeface="프리젠테이션 Light"/>
                <a:sym typeface="프리젠테이션 Light"/>
              </a:rPr>
              <a:t>1~2개월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190750" y="4515687"/>
            <a:ext cx="4000500" cy="4095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19"/>
              </a:lnSpc>
            </a:pPr>
            <a:r>
              <a:rPr lang="en-US" b="true" sz="2599" u="none">
                <a:solidFill>
                  <a:srgbClr val="425AD4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현황 분석 및 진단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741881" y="5577716"/>
            <a:ext cx="3810000" cy="18643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0208" indent="-205104" lvl="1">
              <a:lnSpc>
                <a:spcPts val="3799"/>
              </a:lnSpc>
              <a:buFont typeface="Arial"/>
              <a:buChar char="•"/>
            </a:pPr>
            <a:r>
              <a:rPr lang="en-US" b="true" sz="1899" u="none">
                <a:solidFill>
                  <a:srgbClr val="FFFFFF">
                    <a:alpha val="84706"/>
                  </a:srgbClr>
                </a:solidFill>
                <a:latin typeface="프리젠테이션 Medium"/>
                <a:ea typeface="프리젠테이션 Medium"/>
                <a:cs typeface="프리젠테이션 Medium"/>
                <a:sym typeface="프리젠테이션 Medium"/>
              </a:rPr>
              <a:t>업무 프로세스 전수 조사</a:t>
            </a:r>
          </a:p>
          <a:p>
            <a:pPr algn="l" marL="410208" indent="-205104" lvl="1">
              <a:lnSpc>
                <a:spcPts val="3799"/>
              </a:lnSpc>
              <a:buFont typeface="Arial"/>
              <a:buChar char="•"/>
            </a:pPr>
            <a:r>
              <a:rPr lang="en-US" b="true" sz="1899" u="none">
                <a:solidFill>
                  <a:srgbClr val="FFFFFF">
                    <a:alpha val="84706"/>
                  </a:srgbClr>
                </a:solidFill>
                <a:latin typeface="프리젠테이션 Medium"/>
                <a:ea typeface="프리젠테이션 Medium"/>
                <a:cs typeface="프리젠테이션 Medium"/>
                <a:sym typeface="프리젠테이션 Medium"/>
              </a:rPr>
              <a:t>부서별 비효율 요인 파악</a:t>
            </a:r>
          </a:p>
          <a:p>
            <a:pPr algn="l" marL="410208" indent="-205104" lvl="1">
              <a:lnSpc>
                <a:spcPts val="3799"/>
              </a:lnSpc>
              <a:buFont typeface="Arial"/>
              <a:buChar char="•"/>
            </a:pPr>
            <a:r>
              <a:rPr lang="en-US" b="true" sz="1899" u="none">
                <a:solidFill>
                  <a:srgbClr val="FFFFFF">
                    <a:alpha val="84706"/>
                  </a:srgbClr>
                </a:solidFill>
                <a:latin typeface="프리젠테이션 Medium"/>
                <a:ea typeface="프리젠테이션 Medium"/>
                <a:cs typeface="프리젠테이션 Medium"/>
                <a:sym typeface="프리젠테이션 Medium"/>
              </a:rPr>
              <a:t>반복 작업 목록 정리</a:t>
            </a:r>
          </a:p>
          <a:p>
            <a:pPr algn="l" marL="410208" indent="-205104" lvl="1">
              <a:lnSpc>
                <a:spcPts val="3799"/>
              </a:lnSpc>
              <a:buFont typeface="Arial"/>
              <a:buChar char="•"/>
            </a:pPr>
            <a:r>
              <a:rPr lang="en-US" b="true" sz="1899" u="none">
                <a:solidFill>
                  <a:srgbClr val="FFFFFF">
                    <a:alpha val="84706"/>
                  </a:srgbClr>
                </a:solidFill>
                <a:latin typeface="프리젠테이션 Medium"/>
                <a:ea typeface="프리젠테이션 Medium"/>
                <a:cs typeface="프리젠테이션 Medium"/>
                <a:sym typeface="프리젠테이션 Medium"/>
              </a:rPr>
              <a:t>현재 협업 도구 사용 현황 분석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514717" y="3034339"/>
            <a:ext cx="1258566" cy="284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99"/>
              </a:lnSpc>
            </a:pPr>
            <a:r>
              <a:rPr lang="en-US" b="true" sz="2199" spc="-43" u="none">
                <a:solidFill>
                  <a:srgbClr val="95DFFF"/>
                </a:solidFill>
                <a:latin typeface="Garet Bold"/>
                <a:ea typeface="Garet Bold"/>
                <a:cs typeface="Garet Bold"/>
                <a:sym typeface="Garet Bold"/>
              </a:rPr>
              <a:t>Step 2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191500" y="3499941"/>
            <a:ext cx="1905000" cy="1879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00"/>
              </a:lnSpc>
            </a:pPr>
            <a:r>
              <a:rPr lang="en-US" sz="1400" u="none">
                <a:solidFill>
                  <a:srgbClr val="95DFFF"/>
                </a:solidFill>
                <a:latin typeface="프리젠테이션 Light"/>
                <a:ea typeface="프리젠테이션 Light"/>
                <a:cs typeface="프리젠테이션 Light"/>
                <a:sym typeface="프리젠테이션 Light"/>
              </a:rPr>
              <a:t>3~4개월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143750" y="4515687"/>
            <a:ext cx="4000500" cy="4095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19"/>
              </a:lnSpc>
            </a:pPr>
            <a:r>
              <a:rPr lang="en-US" b="true" sz="2599" u="none">
                <a:solidFill>
                  <a:srgbClr val="425AD4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시스템 구축 및 도입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690918" y="5577716"/>
            <a:ext cx="3810000" cy="18643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0208" indent="-205104" lvl="1">
              <a:lnSpc>
                <a:spcPts val="3799"/>
              </a:lnSpc>
              <a:buFont typeface="Arial"/>
              <a:buChar char="•"/>
            </a:pPr>
            <a:r>
              <a:rPr lang="en-US" b="true" sz="1899" u="none">
                <a:solidFill>
                  <a:srgbClr val="FFFFFF">
                    <a:alpha val="84706"/>
                  </a:srgbClr>
                </a:solidFill>
                <a:latin typeface="프리젠테이션 Medium"/>
                <a:ea typeface="프리젠테이션 Medium"/>
                <a:cs typeface="프리젠테이션 Medium"/>
                <a:sym typeface="프리젠테이션 Medium"/>
              </a:rPr>
              <a:t>올인원 플랫폼 맞춤 설정</a:t>
            </a:r>
          </a:p>
          <a:p>
            <a:pPr algn="l" marL="410208" indent="-205104" lvl="1">
              <a:lnSpc>
                <a:spcPts val="3799"/>
              </a:lnSpc>
              <a:buFont typeface="Arial"/>
              <a:buChar char="•"/>
            </a:pPr>
            <a:r>
              <a:rPr lang="en-US" b="true" sz="1899" u="none">
                <a:solidFill>
                  <a:srgbClr val="FFFFFF">
                    <a:alpha val="84706"/>
                  </a:srgbClr>
                </a:solidFill>
                <a:latin typeface="프리젠테이션 Medium"/>
                <a:ea typeface="프리젠테이션 Medium"/>
                <a:cs typeface="프리젠테이션 Medium"/>
                <a:sym typeface="프리젠테이션 Medium"/>
              </a:rPr>
              <a:t>자동화 워크플로우 구축</a:t>
            </a:r>
          </a:p>
          <a:p>
            <a:pPr algn="l" marL="410208" indent="-205104" lvl="1">
              <a:lnSpc>
                <a:spcPts val="3799"/>
              </a:lnSpc>
              <a:buFont typeface="Arial"/>
              <a:buChar char="•"/>
            </a:pPr>
            <a:r>
              <a:rPr lang="en-US" b="true" sz="1899" u="none">
                <a:solidFill>
                  <a:srgbClr val="FFFFFF">
                    <a:alpha val="84706"/>
                  </a:srgbClr>
                </a:solidFill>
                <a:latin typeface="프리젠테이션 Medium"/>
                <a:ea typeface="프리젠테이션 Medium"/>
                <a:cs typeface="프리젠테이션 Medium"/>
                <a:sym typeface="프리젠테이션 Medium"/>
              </a:rPr>
              <a:t>부서 간 실시간 협업 채널 개설</a:t>
            </a:r>
          </a:p>
          <a:p>
            <a:pPr algn="l" marL="410208" indent="-205104" lvl="1">
              <a:lnSpc>
                <a:spcPts val="3799"/>
              </a:lnSpc>
              <a:buFont typeface="Arial"/>
              <a:buChar char="•"/>
            </a:pPr>
            <a:r>
              <a:rPr lang="en-US" b="true" sz="1899" u="none">
                <a:solidFill>
                  <a:srgbClr val="FFFFFF">
                    <a:alpha val="84706"/>
                  </a:srgbClr>
                </a:solidFill>
                <a:latin typeface="프리젠테이션 Medium"/>
                <a:ea typeface="프리젠테이션 Medium"/>
                <a:cs typeface="프리젠테이션 Medium"/>
                <a:sym typeface="프리젠테이션 Medium"/>
              </a:rPr>
              <a:t>파일럿 팀 대상 시범 운영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3639483" y="3034339"/>
            <a:ext cx="915033" cy="284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99"/>
              </a:lnSpc>
            </a:pPr>
            <a:r>
              <a:rPr lang="en-US" b="true" sz="2199" spc="-43" u="none">
                <a:solidFill>
                  <a:srgbClr val="95DFFF"/>
                </a:solidFill>
                <a:latin typeface="Garet Bold"/>
                <a:ea typeface="Garet Bold"/>
                <a:cs typeface="Garet Bold"/>
                <a:sym typeface="Garet Bold"/>
              </a:rPr>
              <a:t>Step 3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3144500" y="3499941"/>
            <a:ext cx="1905000" cy="1879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00"/>
              </a:lnSpc>
            </a:pPr>
            <a:r>
              <a:rPr lang="en-US" sz="1400" u="none">
                <a:solidFill>
                  <a:srgbClr val="95DFFF"/>
                </a:solidFill>
                <a:latin typeface="프리젠테이션 Light"/>
                <a:ea typeface="프리젠테이션 Light"/>
                <a:cs typeface="프리젠테이션 Light"/>
                <a:sym typeface="프리젠테이션 Light"/>
              </a:rPr>
              <a:t>5~6개월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096750" y="4515687"/>
            <a:ext cx="4000500" cy="4095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19"/>
              </a:lnSpc>
            </a:pPr>
            <a:r>
              <a:rPr lang="en-US" b="true" sz="2599" u="none">
                <a:solidFill>
                  <a:srgbClr val="425AD4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확산 및 최적화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1666821" y="5577716"/>
            <a:ext cx="3810000" cy="18643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0208" indent="-205104" lvl="1">
              <a:lnSpc>
                <a:spcPts val="3799"/>
              </a:lnSpc>
              <a:buFont typeface="Arial"/>
              <a:buChar char="•"/>
            </a:pPr>
            <a:r>
              <a:rPr lang="en-US" b="true" sz="1899" u="none">
                <a:solidFill>
                  <a:srgbClr val="FFFFFF">
                    <a:alpha val="84706"/>
                  </a:srgbClr>
                </a:solidFill>
                <a:latin typeface="프리젠테이션 Medium"/>
                <a:ea typeface="프리젠테이션 Medium"/>
                <a:cs typeface="프리젠테이션 Medium"/>
                <a:sym typeface="프리젠테이션 Medium"/>
              </a:rPr>
              <a:t>전사 확대 적용</a:t>
            </a:r>
          </a:p>
          <a:p>
            <a:pPr algn="l" marL="410208" indent="-205104" lvl="1">
              <a:lnSpc>
                <a:spcPts val="3799"/>
              </a:lnSpc>
              <a:buFont typeface="Arial"/>
              <a:buChar char="•"/>
            </a:pPr>
            <a:r>
              <a:rPr lang="en-US" b="true" sz="1899" u="none">
                <a:solidFill>
                  <a:srgbClr val="FFFFFF">
                    <a:alpha val="84706"/>
                  </a:srgbClr>
                </a:solidFill>
                <a:latin typeface="프리젠테이션 Medium"/>
                <a:ea typeface="프리젠테이션 Medium"/>
                <a:cs typeface="프리젠테이션 Medium"/>
                <a:sym typeface="프리젠테이션 Medium"/>
              </a:rPr>
              <a:t>사용자 피드백 기반 개선</a:t>
            </a:r>
          </a:p>
          <a:p>
            <a:pPr algn="l" marL="410208" indent="-205104" lvl="1">
              <a:lnSpc>
                <a:spcPts val="3799"/>
              </a:lnSpc>
              <a:buFont typeface="Arial"/>
              <a:buChar char="•"/>
            </a:pPr>
            <a:r>
              <a:rPr lang="en-US" b="true" sz="1899" u="none">
                <a:solidFill>
                  <a:srgbClr val="FFFFFF">
                    <a:alpha val="84706"/>
                  </a:srgbClr>
                </a:solidFill>
                <a:latin typeface="프리젠테이션 Medium"/>
                <a:ea typeface="프리젠테이션 Medium"/>
                <a:cs typeface="프리젠테이션 Medium"/>
                <a:sym typeface="프리젠테이션 Medium"/>
              </a:rPr>
              <a:t>성과 지표 모니터링</a:t>
            </a:r>
          </a:p>
          <a:p>
            <a:pPr algn="l" marL="410208" indent="-205104" lvl="1">
              <a:lnSpc>
                <a:spcPts val="3799"/>
              </a:lnSpc>
              <a:buFont typeface="Arial"/>
              <a:buChar char="•"/>
            </a:pPr>
            <a:r>
              <a:rPr lang="en-US" b="true" sz="1899" u="none">
                <a:solidFill>
                  <a:srgbClr val="FFFFFF">
                    <a:alpha val="84706"/>
                  </a:srgbClr>
                </a:solidFill>
                <a:latin typeface="프리젠테이션 Medium"/>
                <a:ea typeface="프리젠테이션 Medium"/>
                <a:cs typeface="프리젠테이션 Medium"/>
                <a:sym typeface="프리젠테이션 Medium"/>
              </a:rPr>
              <a:t>지속적 프로세스 최적화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5749646" y="1282069"/>
            <a:ext cx="6788708" cy="4908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20"/>
              </a:lnSpc>
            </a:pPr>
            <a:r>
              <a:rPr lang="en-US" b="true" sz="2800">
                <a:solidFill>
                  <a:srgbClr val="FFFFFF"/>
                </a:solidFill>
                <a:latin typeface="프리젠테이션 Semi-Bold"/>
                <a:ea typeface="프리젠테이션 Semi-Bold"/>
                <a:cs typeface="프리젠테이션 Semi-Bold"/>
                <a:sym typeface="프리젠테이션 Semi-Bold"/>
              </a:rPr>
              <a:t>실행</a:t>
            </a:r>
            <a:r>
              <a:rPr lang="en-US" b="true" sz="2800">
                <a:solidFill>
                  <a:srgbClr val="FFFFFF"/>
                </a:solidFill>
                <a:latin typeface="프리젠테이션 Semi-Bold"/>
                <a:ea typeface="프리젠테이션 Semi-Bold"/>
                <a:cs typeface="프리젠테이션 Semi-Bold"/>
                <a:sym typeface="프리젠테이션 Semi-Bold"/>
              </a:rPr>
              <a:t> 계획</a:t>
            </a:r>
          </a:p>
        </p:txBody>
      </p:sp>
    </p:spTree>
  </p:cSld>
  <p:clrMapOvr>
    <a:masterClrMapping/>
  </p:clrMapOvr>
  <p:transition spd="fast">
    <p:fade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147083" y="3123224"/>
            <a:ext cx="2485971" cy="2485971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25046" t="0" r="-25046" b="0"/>
              </a:stretch>
            </a:blipFill>
            <a:ln w="9525" cap="sq">
              <a:solidFill>
                <a:srgbClr val="425AD4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9818992" y="3123224"/>
            <a:ext cx="2485971" cy="2485971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3"/>
              <a:stretch>
                <a:fillRect l="-25046" t="0" r="-25046" b="0"/>
              </a:stretch>
            </a:blipFill>
            <a:ln w="9525" cap="sq">
              <a:solidFill>
                <a:srgbClr val="425AD4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5983037" y="3123224"/>
            <a:ext cx="2485971" cy="2485971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25046" r="0" b="-25046"/>
              </a:stretch>
            </a:blipFill>
            <a:ln w="9525" cap="sq">
              <a:solidFill>
                <a:srgbClr val="425AD4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13654946" y="3123224"/>
            <a:ext cx="2485971" cy="2485971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5"/>
              <a:stretch>
                <a:fillRect l="-25046" t="0" r="-25046" b="0"/>
              </a:stretch>
            </a:blipFill>
            <a:ln w="9525" cap="sq">
              <a:solidFill>
                <a:srgbClr val="425AD4"/>
              </a:solidFill>
              <a:prstDash val="solid"/>
              <a:miter/>
            </a:ln>
          </p:spPr>
        </p:sp>
      </p:grpSp>
      <p:sp>
        <p:nvSpPr>
          <p:cNvPr name="TextBox 10" id="10"/>
          <p:cNvSpPr txBox="true"/>
          <p:nvPr/>
        </p:nvSpPr>
        <p:spPr>
          <a:xfrm rot="0">
            <a:off x="1965837" y="6022390"/>
            <a:ext cx="2848462" cy="3390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90"/>
              </a:lnSpc>
              <a:spcBef>
                <a:spcPct val="0"/>
              </a:spcBef>
            </a:pPr>
            <a:r>
              <a:rPr lang="en-US" sz="1800">
                <a:solidFill>
                  <a:srgbClr val="425AD4"/>
                </a:solidFill>
                <a:latin typeface="프리젠테이션"/>
                <a:ea typeface="프리젠테이션"/>
                <a:cs typeface="프리젠테이션"/>
                <a:sym typeface="프리젠테이션"/>
              </a:rPr>
              <a:t>프로젝트 리더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637746" y="6022390"/>
            <a:ext cx="2848462" cy="3390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90"/>
              </a:lnSpc>
              <a:spcBef>
                <a:spcPct val="0"/>
              </a:spcBef>
            </a:pPr>
            <a:r>
              <a:rPr lang="en-US" sz="1800">
                <a:solidFill>
                  <a:srgbClr val="425AD4"/>
                </a:solidFill>
                <a:latin typeface="프리젠테이션"/>
                <a:ea typeface="프리젠테이션"/>
                <a:cs typeface="프리젠테이션"/>
                <a:sym typeface="프리젠테이션"/>
              </a:rPr>
              <a:t>프로젝트 리더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801792" y="6022390"/>
            <a:ext cx="2848462" cy="3390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90"/>
              </a:lnSpc>
              <a:spcBef>
                <a:spcPct val="0"/>
              </a:spcBef>
            </a:pPr>
            <a:r>
              <a:rPr lang="en-US" sz="1800">
                <a:solidFill>
                  <a:srgbClr val="425AD4"/>
                </a:solidFill>
                <a:latin typeface="프리젠테이션"/>
                <a:ea typeface="프리젠테이션"/>
                <a:cs typeface="프리젠테이션"/>
                <a:sym typeface="프리젠테이션"/>
              </a:rPr>
              <a:t>프로젝트 리더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473701" y="6022390"/>
            <a:ext cx="2848462" cy="3390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90"/>
              </a:lnSpc>
              <a:spcBef>
                <a:spcPct val="0"/>
              </a:spcBef>
            </a:pPr>
            <a:r>
              <a:rPr lang="en-US" sz="1800">
                <a:solidFill>
                  <a:srgbClr val="425AD4"/>
                </a:solidFill>
                <a:latin typeface="프리젠테이션"/>
                <a:ea typeface="프리젠테이션"/>
                <a:cs typeface="프리젠테이션"/>
                <a:sym typeface="프리젠테이션"/>
              </a:rPr>
              <a:t>프로젝트 리더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472091" y="7265027"/>
            <a:ext cx="3835954" cy="3873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00"/>
              </a:lnSpc>
              <a:spcBef>
                <a:spcPct val="0"/>
              </a:spcBef>
            </a:pPr>
            <a:r>
              <a:rPr lang="en-US" sz="2000">
                <a:solidFill>
                  <a:srgbClr val="606060"/>
                </a:solidFill>
                <a:latin typeface="프리젠테이션"/>
                <a:ea typeface="프리젠테이션"/>
                <a:cs typeface="프리젠테이션"/>
                <a:sym typeface="프리젠테이션"/>
              </a:rPr>
              <a:t>작업 총괄 및 프로젝트 기획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144000" y="7265027"/>
            <a:ext cx="3835954" cy="3873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00"/>
              </a:lnSpc>
              <a:spcBef>
                <a:spcPct val="0"/>
              </a:spcBef>
            </a:pPr>
            <a:r>
              <a:rPr lang="en-US" sz="2000">
                <a:solidFill>
                  <a:srgbClr val="606060"/>
                </a:solidFill>
                <a:latin typeface="프리젠테이션"/>
                <a:ea typeface="프리젠테이션"/>
                <a:cs typeface="프리젠테이션"/>
                <a:sym typeface="프리젠테이션"/>
              </a:rPr>
              <a:t>작업 총괄 및 프로젝트 기획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308046" y="7265027"/>
            <a:ext cx="3835954" cy="3873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00"/>
              </a:lnSpc>
              <a:spcBef>
                <a:spcPct val="0"/>
              </a:spcBef>
            </a:pPr>
            <a:r>
              <a:rPr lang="en-US" sz="2000">
                <a:solidFill>
                  <a:srgbClr val="606060"/>
                </a:solidFill>
                <a:latin typeface="프리젠테이션"/>
                <a:ea typeface="프리젠테이션"/>
                <a:cs typeface="프리젠테이션"/>
                <a:sym typeface="프리젠테이션"/>
              </a:rPr>
              <a:t>작업 총괄 및 프로젝트 기획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979954" y="7265027"/>
            <a:ext cx="3835954" cy="3873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00"/>
              </a:lnSpc>
              <a:spcBef>
                <a:spcPct val="0"/>
              </a:spcBef>
            </a:pPr>
            <a:r>
              <a:rPr lang="en-US" sz="2000">
                <a:solidFill>
                  <a:srgbClr val="606060"/>
                </a:solidFill>
                <a:latin typeface="프리젠테이션"/>
                <a:ea typeface="프리젠테이션"/>
                <a:cs typeface="프리젠테이션"/>
                <a:sym typeface="프리젠테이션"/>
              </a:rPr>
              <a:t>작업 총괄 및 프로젝트 기획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472091" y="7709511"/>
            <a:ext cx="3835954" cy="3003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480"/>
              </a:lnSpc>
              <a:spcBef>
                <a:spcPct val="0"/>
              </a:spcBef>
            </a:pPr>
            <a:r>
              <a:rPr lang="en-US" sz="1600">
                <a:solidFill>
                  <a:srgbClr val="606060"/>
                </a:solidFill>
                <a:latin typeface="프리젠테이션"/>
                <a:ea typeface="프리젠테이션"/>
                <a:cs typeface="프리젠테이션"/>
                <a:sym typeface="프리젠테이션"/>
              </a:rPr>
              <a:t>dream@canvakorea.co.kr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144000" y="7709511"/>
            <a:ext cx="3835954" cy="3003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480"/>
              </a:lnSpc>
              <a:spcBef>
                <a:spcPct val="0"/>
              </a:spcBef>
            </a:pPr>
            <a:r>
              <a:rPr lang="en-US" sz="1600">
                <a:solidFill>
                  <a:srgbClr val="606060"/>
                </a:solidFill>
                <a:latin typeface="프리젠테이션"/>
                <a:ea typeface="프리젠테이션"/>
                <a:cs typeface="프리젠테이션"/>
                <a:sym typeface="프리젠테이션"/>
              </a:rPr>
              <a:t>dream@canvakorea.co.kr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308046" y="7709511"/>
            <a:ext cx="3835954" cy="3003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480"/>
              </a:lnSpc>
              <a:spcBef>
                <a:spcPct val="0"/>
              </a:spcBef>
            </a:pPr>
            <a:r>
              <a:rPr lang="en-US" sz="1600">
                <a:solidFill>
                  <a:srgbClr val="606060"/>
                </a:solidFill>
                <a:latin typeface="프리젠테이션"/>
                <a:ea typeface="프리젠테이션"/>
                <a:cs typeface="프리젠테이션"/>
                <a:sym typeface="프리젠테이션"/>
              </a:rPr>
              <a:t>dream@canvakorea.co.kr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979954" y="7709511"/>
            <a:ext cx="3835954" cy="3003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480"/>
              </a:lnSpc>
              <a:spcBef>
                <a:spcPct val="0"/>
              </a:spcBef>
            </a:pPr>
            <a:r>
              <a:rPr lang="en-US" sz="1600">
                <a:solidFill>
                  <a:srgbClr val="606060"/>
                </a:solidFill>
                <a:latin typeface="프리젠테이션"/>
                <a:ea typeface="프리젠테이션"/>
                <a:cs typeface="프리젠테이션"/>
                <a:sym typeface="프리젠테이션"/>
              </a:rPr>
              <a:t>dream@canvakorea.co.kr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749646" y="1282069"/>
            <a:ext cx="6788708" cy="4908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20"/>
              </a:lnSpc>
            </a:pPr>
            <a:r>
              <a:rPr lang="en-US" b="true" sz="2800">
                <a:solidFill>
                  <a:srgbClr val="425AD4"/>
                </a:solidFill>
                <a:latin typeface="프리젠테이션 Semi-Bold"/>
                <a:ea typeface="프리젠테이션 Semi-Bold"/>
                <a:cs typeface="프리젠테이션 Semi-Bold"/>
                <a:sym typeface="프리젠테이션 Semi-Bold"/>
              </a:rPr>
              <a:t>함께하는 동료들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843880" y="6361447"/>
            <a:ext cx="3092377" cy="595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b="true" sz="3399">
                <a:solidFill>
                  <a:srgbClr val="425AD4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이수정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515789" y="6361447"/>
            <a:ext cx="3092377" cy="595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b="true" sz="3399">
                <a:solidFill>
                  <a:srgbClr val="425AD4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김진호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5679834" y="6361447"/>
            <a:ext cx="3092377" cy="595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b="true" sz="3399">
                <a:solidFill>
                  <a:srgbClr val="425AD4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김다영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3351743" y="6361447"/>
            <a:ext cx="3092377" cy="595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true">
                <a:solidFill>
                  <a:srgbClr val="425AD4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최 민정</a:t>
            </a:r>
          </a:p>
        </p:txBody>
      </p:sp>
    </p:spTree>
  </p:cSld>
  <p:clrMapOvr>
    <a:masterClrMapping/>
  </p:clrMapOvr>
  <p:transition spd="fast">
    <p:fade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372667" y="3379407"/>
            <a:ext cx="5305486" cy="1167159"/>
            <a:chOff x="0" y="0"/>
            <a:chExt cx="1397330" cy="307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97330" cy="307400"/>
            </a:xfrm>
            <a:custGeom>
              <a:avLst/>
              <a:gdLst/>
              <a:ahLst/>
              <a:cxnLst/>
              <a:rect r="r" b="b" t="t" l="l"/>
              <a:pathLst>
                <a:path h="307400" w="1397330">
                  <a:moveTo>
                    <a:pt x="0" y="0"/>
                  </a:moveTo>
                  <a:lnTo>
                    <a:pt x="1397330" y="0"/>
                  </a:lnTo>
                  <a:lnTo>
                    <a:pt x="1397330" y="307400"/>
                  </a:lnTo>
                  <a:lnTo>
                    <a:pt x="0" y="307400"/>
                  </a:lnTo>
                  <a:close/>
                </a:path>
              </a:pathLst>
            </a:custGeom>
            <a:solidFill>
              <a:srgbClr val="DDFC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397330" cy="355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5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5186627" y="2988949"/>
            <a:ext cx="7914747" cy="16675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612"/>
              </a:lnSpc>
            </a:pPr>
            <a:r>
              <a:rPr lang="en-US" b="true" sz="9722" spc="-97">
                <a:solidFill>
                  <a:srgbClr val="425AD4"/>
                </a:solidFill>
                <a:latin typeface="프리젠테이션 Medium"/>
                <a:ea typeface="프리젠테이션 Medium"/>
                <a:cs typeface="프리젠테이션 Medium"/>
                <a:sym typeface="프리젠테이션 Medium"/>
              </a:rPr>
              <a:t>감사합</a:t>
            </a:r>
            <a:r>
              <a:rPr lang="en-US" b="true" sz="9722" spc="-97">
                <a:solidFill>
                  <a:srgbClr val="425AD4"/>
                </a:solidFill>
                <a:latin typeface="프리젠테이션 Medium"/>
                <a:ea typeface="프리젠테이션 Medium"/>
                <a:cs typeface="프리젠테이션 Medium"/>
                <a:sym typeface="프리젠테이션 Medium"/>
              </a:rPr>
              <a:t>니다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1583936" y="4479891"/>
            <a:ext cx="663609" cy="663609"/>
          </a:xfrm>
          <a:custGeom>
            <a:avLst/>
            <a:gdLst/>
            <a:ahLst/>
            <a:cxnLst/>
            <a:rect r="r" b="b" t="t" l="l"/>
            <a:pathLst>
              <a:path h="663609" w="663609">
                <a:moveTo>
                  <a:pt x="0" y="0"/>
                </a:moveTo>
                <a:lnTo>
                  <a:pt x="663609" y="0"/>
                </a:lnTo>
                <a:lnTo>
                  <a:pt x="663609" y="663609"/>
                </a:lnTo>
                <a:lnTo>
                  <a:pt x="0" y="6636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5471480" y="6963210"/>
            <a:ext cx="7345040" cy="1358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00"/>
              </a:lnSpc>
            </a:pPr>
            <a:r>
              <a:rPr lang="en-US" sz="2000">
                <a:solidFill>
                  <a:srgbClr val="425AD4"/>
                </a:solidFill>
                <a:latin typeface="Garet"/>
                <a:ea typeface="Garet"/>
                <a:cs typeface="Garet"/>
                <a:sym typeface="Garet"/>
              </a:rPr>
              <a:t>Home</a:t>
            </a:r>
            <a:r>
              <a:rPr lang="en-US" sz="2000">
                <a:solidFill>
                  <a:srgbClr val="555555"/>
                </a:solidFill>
                <a:latin typeface="Garet"/>
                <a:ea typeface="Garet"/>
                <a:cs typeface="Garet"/>
                <a:sym typeface="Garet"/>
              </a:rPr>
              <a:t>   www</a:t>
            </a:r>
            <a:r>
              <a:rPr lang="en-US" sz="2000">
                <a:solidFill>
                  <a:srgbClr val="555555"/>
                </a:solidFill>
                <a:latin typeface="Garet"/>
                <a:ea typeface="Garet"/>
                <a:cs typeface="Garet"/>
                <a:sym typeface="Garet"/>
              </a:rPr>
              <a:t>.umchungjoeun.kr</a:t>
            </a:r>
          </a:p>
          <a:p>
            <a:pPr algn="ctr">
              <a:lnSpc>
                <a:spcPts val="3700"/>
              </a:lnSpc>
            </a:pPr>
            <a:r>
              <a:rPr lang="en-US" sz="2000">
                <a:solidFill>
                  <a:srgbClr val="425AD4"/>
                </a:solidFill>
                <a:latin typeface="Garet"/>
                <a:ea typeface="Garet"/>
                <a:cs typeface="Garet"/>
                <a:sym typeface="Garet"/>
              </a:rPr>
              <a:t>Email</a:t>
            </a:r>
            <a:r>
              <a:rPr lang="en-US" sz="2000">
                <a:solidFill>
                  <a:srgbClr val="555555"/>
                </a:solidFill>
                <a:latin typeface="Garet"/>
                <a:ea typeface="Garet"/>
                <a:cs typeface="Garet"/>
                <a:sym typeface="Garet"/>
              </a:rPr>
              <a:t>  dream@canvakorea.co.kr</a:t>
            </a:r>
          </a:p>
          <a:p>
            <a:pPr algn="ctr">
              <a:lnSpc>
                <a:spcPts val="3700"/>
              </a:lnSpc>
            </a:pPr>
            <a:r>
              <a:rPr lang="en-US" sz="2000">
                <a:solidFill>
                  <a:srgbClr val="425AD4"/>
                </a:solidFill>
                <a:latin typeface="Garet"/>
                <a:ea typeface="Garet"/>
                <a:cs typeface="Garet"/>
                <a:sym typeface="Garet"/>
              </a:rPr>
              <a:t>Tel</a:t>
            </a:r>
            <a:r>
              <a:rPr lang="en-US" sz="2000">
                <a:solidFill>
                  <a:srgbClr val="555555"/>
                </a:solidFill>
                <a:latin typeface="Garet"/>
                <a:ea typeface="Garet"/>
                <a:cs typeface="Garet"/>
                <a:sym typeface="Garet"/>
              </a:rPr>
              <a:t>  02-1234-5678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926198" y="6177942"/>
            <a:ext cx="6435605" cy="4578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</a:pPr>
            <a:r>
              <a:rPr lang="en-US" b="true" sz="2600">
                <a:solidFill>
                  <a:srgbClr val="425AD4"/>
                </a:solidFill>
                <a:latin typeface="프리젠테이션 Semi-Bold"/>
                <a:ea typeface="프리젠테이션 Semi-Bold"/>
                <a:cs typeface="프리젠테이션 Semi-Bold"/>
                <a:sym typeface="프리젠테이션 Semi-Bold"/>
              </a:rPr>
              <a:t>궁금한 점이 있으시면 언제든 연락주세요.</a:t>
            </a:r>
          </a:p>
        </p:txBody>
      </p:sp>
    </p:spTree>
  </p:cSld>
  <p:clrMapOvr>
    <a:masterClrMapping/>
  </p:clrMapOvr>
  <p:transition spd="fast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DAHLaFFMYWQ</dc:identifier>
  <dcterms:modified xsi:type="dcterms:W3CDTF">2011-08-01T06:04:30Z</dcterms:modified>
  <cp:revision>1</cp:revision>
  <dc:title>파란색 흰색 깔끔한 기업 사업 스타트업 서비스 피치 덱 인포그래픽 프레젠테이션</dc:title>
</cp:coreProperties>
</file>