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DTD고딕 Bold" charset="1" panose="02000803000000000000"/>
      <p:regular r:id="rId16"/>
    </p:embeddedFont>
    <p:embeddedFont>
      <p:font typeface="TDTD고딕" charset="1" panose="02000603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68790" y="1586375"/>
            <a:ext cx="6559945" cy="1395371"/>
            <a:chOff x="0" y="0"/>
            <a:chExt cx="382115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1151" cy="812800"/>
            </a:xfrm>
            <a:custGeom>
              <a:avLst/>
              <a:gdLst/>
              <a:ahLst/>
              <a:cxnLst/>
              <a:rect r="r" b="b" t="t" l="l"/>
              <a:pathLst>
                <a:path h="812800" w="3821151">
                  <a:moveTo>
                    <a:pt x="1910576" y="0"/>
                  </a:moveTo>
                  <a:cubicBezTo>
                    <a:pt x="855394" y="0"/>
                    <a:pt x="0" y="181951"/>
                    <a:pt x="0" y="406400"/>
                  </a:cubicBezTo>
                  <a:cubicBezTo>
                    <a:pt x="0" y="630849"/>
                    <a:pt x="855394" y="812800"/>
                    <a:pt x="1910576" y="812800"/>
                  </a:cubicBezTo>
                  <a:cubicBezTo>
                    <a:pt x="2965757" y="812800"/>
                    <a:pt x="3821151" y="630849"/>
                    <a:pt x="3821151" y="406400"/>
                  </a:cubicBezTo>
                  <a:cubicBezTo>
                    <a:pt x="3821151" y="181951"/>
                    <a:pt x="2965757" y="0"/>
                    <a:pt x="1910576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358233" y="28575"/>
              <a:ext cx="3104685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68790" y="2086647"/>
            <a:ext cx="6559945" cy="1395371"/>
            <a:chOff x="0" y="0"/>
            <a:chExt cx="382115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21151" cy="812800"/>
            </a:xfrm>
            <a:custGeom>
              <a:avLst/>
              <a:gdLst/>
              <a:ahLst/>
              <a:cxnLst/>
              <a:rect r="r" b="b" t="t" l="l"/>
              <a:pathLst>
                <a:path h="812800" w="3821151">
                  <a:moveTo>
                    <a:pt x="1910576" y="0"/>
                  </a:moveTo>
                  <a:cubicBezTo>
                    <a:pt x="855394" y="0"/>
                    <a:pt x="0" y="181951"/>
                    <a:pt x="0" y="406400"/>
                  </a:cubicBezTo>
                  <a:cubicBezTo>
                    <a:pt x="0" y="630849"/>
                    <a:pt x="855394" y="812800"/>
                    <a:pt x="1910576" y="812800"/>
                  </a:cubicBezTo>
                  <a:cubicBezTo>
                    <a:pt x="2965757" y="812800"/>
                    <a:pt x="3821151" y="630849"/>
                    <a:pt x="3821151" y="406400"/>
                  </a:cubicBezTo>
                  <a:cubicBezTo>
                    <a:pt x="3821151" y="181951"/>
                    <a:pt x="2965757" y="0"/>
                    <a:pt x="1910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58233" y="28575"/>
              <a:ext cx="3104685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793908" y="2193783"/>
            <a:ext cx="670018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프로젝트 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22108" y="3604140"/>
            <a:ext cx="12643785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87237" y="8318732"/>
            <a:ext cx="3313526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발표자   이수진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9153525" y="5911597"/>
            <a:ext cx="0" cy="1898369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1367" y="4111856"/>
            <a:ext cx="4729195" cy="1897980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543960" y="6744357"/>
            <a:ext cx="4024009" cy="0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779402" y="4111856"/>
            <a:ext cx="4729195" cy="1897980"/>
            <a:chOff x="0" y="0"/>
            <a:chExt cx="202525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7131996" y="6744357"/>
            <a:ext cx="4024009" cy="0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567038" y="4111856"/>
            <a:ext cx="4729195" cy="1897980"/>
            <a:chOff x="0" y="0"/>
            <a:chExt cx="202525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919631" y="6744357"/>
            <a:ext cx="4024009" cy="0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2244254" y="4281363"/>
            <a:ext cx="2623421" cy="154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3"/>
              </a:lnSpc>
            </a:pPr>
            <a:r>
              <a:rPr lang="en-US" sz="4395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프로젝트의</a:t>
            </a:r>
          </a:p>
          <a:p>
            <a:pPr algn="ctr">
              <a:lnSpc>
                <a:spcPts val="6153"/>
              </a:lnSpc>
            </a:pPr>
            <a:r>
              <a:rPr lang="en-US" sz="4395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목표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3960" y="7216897"/>
            <a:ext cx="4024009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프로젝트의 목표는 프로젝트가 완료되었을 때, 달성해야 하는 주요 결과물이나 목표를 명시합니다.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32290" y="4281363"/>
            <a:ext cx="2623421" cy="154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3"/>
              </a:lnSpc>
            </a:pPr>
            <a:r>
              <a:rPr lang="en-US" sz="4395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주요</a:t>
            </a:r>
          </a:p>
          <a:p>
            <a:pPr algn="ctr">
              <a:lnSpc>
                <a:spcPts val="6153"/>
              </a:lnSpc>
            </a:pPr>
            <a:r>
              <a:rPr lang="en-US" sz="4395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결과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31996" y="7216897"/>
            <a:ext cx="402400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프로젝트를 통해 얻은 주요 결과물을 설명하고 시각적으로 보여줍니다. 주요 결과물은 프로젝트의 성과를 보여주는 중요한 부분입니다.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19925" y="4281363"/>
            <a:ext cx="2623421" cy="154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3"/>
              </a:lnSpc>
            </a:pPr>
            <a:r>
              <a:rPr lang="en-US" sz="4395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향후</a:t>
            </a:r>
          </a:p>
          <a:p>
            <a:pPr algn="ctr">
              <a:lnSpc>
                <a:spcPts val="6153"/>
              </a:lnSpc>
            </a:pPr>
            <a:r>
              <a:rPr lang="en-US" sz="4395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계획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19631" y="7216897"/>
            <a:ext cx="402400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향후 계획은 프로젝트의 결과를 유용하게 활용하기 위한 방안을 제시하며, 프로젝트의 잠재력을 더욱 발휘할 수 있도록 돕습니다.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74301" y="963744"/>
            <a:ext cx="51393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INDEX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5362" y="1457090"/>
            <a:ext cx="3017533" cy="1211035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2069" y="3891866"/>
            <a:ext cx="7417447" cy="4789170"/>
            <a:chOff x="0" y="0"/>
            <a:chExt cx="1149157" cy="741968"/>
          </a:xfrm>
        </p:grpSpPr>
        <p:sp>
          <p:nvSpPr>
            <p:cNvPr name="Freeform 6" id="6"/>
            <p:cNvSpPr/>
            <p:nvPr/>
          </p:nvSpPr>
          <p:spPr>
            <a:xfrm flipH="false" flipV="false" rot="-72435">
              <a:off x="-7689" y="-12023"/>
              <a:ext cx="1164534" cy="766015"/>
            </a:xfrm>
            <a:custGeom>
              <a:avLst/>
              <a:gdLst/>
              <a:ahLst/>
              <a:cxnLst/>
              <a:rect r="r" b="b" t="t" l="l"/>
              <a:pathLst>
                <a:path h="766015" w="1164534">
                  <a:moveTo>
                    <a:pt x="15633" y="0"/>
                  </a:moveTo>
                  <a:lnTo>
                    <a:pt x="1164534" y="24211"/>
                  </a:lnTo>
                  <a:lnTo>
                    <a:pt x="1148902" y="766014"/>
                  </a:lnTo>
                  <a:lnTo>
                    <a:pt x="0" y="741803"/>
                  </a:lnTo>
                  <a:close/>
                </a:path>
              </a:pathLst>
            </a:custGeom>
            <a:blipFill>
              <a:blip r:embed="rId2"/>
              <a:stretch>
                <a:fillRect l="-14491" t="-10692" r="-11679" b="-1710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372657" y="4925204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키워드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98678" y="4925204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키워드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46637" y="4925204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키워드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016158" y="4599166"/>
            <a:ext cx="2386913" cy="1211035"/>
            <a:chOff x="0" y="0"/>
            <a:chExt cx="1602004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02004" cy="812800"/>
            </a:xfrm>
            <a:custGeom>
              <a:avLst/>
              <a:gdLst/>
              <a:ahLst/>
              <a:cxnLst/>
              <a:rect r="r" b="b" t="t" l="l"/>
              <a:pathLst>
                <a:path h="812800" w="1602004">
                  <a:moveTo>
                    <a:pt x="801002" y="0"/>
                  </a:moveTo>
                  <a:cubicBezTo>
                    <a:pt x="358621" y="0"/>
                    <a:pt x="0" y="181951"/>
                    <a:pt x="0" y="406400"/>
                  </a:cubicBezTo>
                  <a:cubicBezTo>
                    <a:pt x="0" y="630849"/>
                    <a:pt x="358621" y="812800"/>
                    <a:pt x="801002" y="812800"/>
                  </a:cubicBezTo>
                  <a:cubicBezTo>
                    <a:pt x="1243383" y="812800"/>
                    <a:pt x="1602004" y="630849"/>
                    <a:pt x="1602004" y="406400"/>
                  </a:cubicBezTo>
                  <a:cubicBezTo>
                    <a:pt x="1602004" y="181951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50188" y="28575"/>
              <a:ext cx="130162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942178" y="4599166"/>
            <a:ext cx="2386913" cy="1211035"/>
            <a:chOff x="0" y="0"/>
            <a:chExt cx="1602004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02004" cy="812800"/>
            </a:xfrm>
            <a:custGeom>
              <a:avLst/>
              <a:gdLst/>
              <a:ahLst/>
              <a:cxnLst/>
              <a:rect r="r" b="b" t="t" l="l"/>
              <a:pathLst>
                <a:path h="812800" w="1602004">
                  <a:moveTo>
                    <a:pt x="801002" y="0"/>
                  </a:moveTo>
                  <a:cubicBezTo>
                    <a:pt x="358621" y="0"/>
                    <a:pt x="0" y="181951"/>
                    <a:pt x="0" y="406400"/>
                  </a:cubicBezTo>
                  <a:cubicBezTo>
                    <a:pt x="0" y="630849"/>
                    <a:pt x="358621" y="812800"/>
                    <a:pt x="801002" y="812800"/>
                  </a:cubicBezTo>
                  <a:cubicBezTo>
                    <a:pt x="1243383" y="812800"/>
                    <a:pt x="1602004" y="630849"/>
                    <a:pt x="1602004" y="406400"/>
                  </a:cubicBezTo>
                  <a:cubicBezTo>
                    <a:pt x="1602004" y="181951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50188" y="28575"/>
              <a:ext cx="130162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90137" y="4599166"/>
            <a:ext cx="2386913" cy="1211035"/>
            <a:chOff x="0" y="0"/>
            <a:chExt cx="1602004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2004" cy="812800"/>
            </a:xfrm>
            <a:custGeom>
              <a:avLst/>
              <a:gdLst/>
              <a:ahLst/>
              <a:cxnLst/>
              <a:rect r="r" b="b" t="t" l="l"/>
              <a:pathLst>
                <a:path h="812800" w="1602004">
                  <a:moveTo>
                    <a:pt x="801002" y="0"/>
                  </a:moveTo>
                  <a:cubicBezTo>
                    <a:pt x="358621" y="0"/>
                    <a:pt x="0" y="181951"/>
                    <a:pt x="0" y="406400"/>
                  </a:cubicBezTo>
                  <a:cubicBezTo>
                    <a:pt x="0" y="630849"/>
                    <a:pt x="358621" y="812800"/>
                    <a:pt x="801002" y="812800"/>
                  </a:cubicBezTo>
                  <a:cubicBezTo>
                    <a:pt x="1243383" y="812800"/>
                    <a:pt x="1602004" y="630849"/>
                    <a:pt x="1602004" y="406400"/>
                  </a:cubicBezTo>
                  <a:cubicBezTo>
                    <a:pt x="1602004" y="181951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50188" y="28575"/>
              <a:ext cx="130162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022562" y="6743700"/>
            <a:ext cx="6545695" cy="0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592069" y="1221576"/>
            <a:ext cx="1380868" cy="1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7"/>
              </a:lnSpc>
            </a:pPr>
            <a:r>
              <a:rPr lang="en-US" sz="8705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97172" y="1534709"/>
            <a:ext cx="1673913" cy="98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프로젝트의</a:t>
            </a:r>
          </a:p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목표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90234" y="7365015"/>
            <a:ext cx="6578022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이 부분에서는 왜 이 프로젝트를 시작하게 되었는지에 대한 배경을 설명합니다. 해당 문제나 과제가 발생한 이유와 그 중요성을 간략히 소개합니다. 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6699279" y="1548490"/>
            <a:ext cx="0" cy="1028235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7007299" y="1771634"/>
            <a:ext cx="3629321" cy="51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프로젝트의 배경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5362" y="1457090"/>
            <a:ext cx="3017533" cy="1211035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6699279" y="1548490"/>
            <a:ext cx="0" cy="1028235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790979" y="6134100"/>
            <a:ext cx="4819212" cy="0"/>
          </a:xfrm>
          <a:prstGeom prst="line">
            <a:avLst/>
          </a:prstGeom>
          <a:ln cap="flat" w="19050">
            <a:solidFill>
              <a:srgbClr val="79563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541039" y="3968212"/>
            <a:ext cx="3487940" cy="34879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5292" t="-88867" r="-19016" b="-1234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439808" y="3968212"/>
            <a:ext cx="3487940" cy="34879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9115" t="-56439" r="-11411" b="-3910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48053" y="8032335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문제 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85454" y="4364329"/>
            <a:ext cx="4230263" cy="122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6"/>
              </a:lnSpc>
            </a:pPr>
            <a:r>
              <a:rPr lang="en-US" sz="23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이 부분에서는 프로젝트에서 해결하고자 하는 주요 문제나 과제를 명확하게 정의합니다.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46822" y="8032335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문제 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2069" y="1221576"/>
            <a:ext cx="1380868" cy="1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7"/>
              </a:lnSpc>
            </a:pPr>
            <a:r>
              <a:rPr lang="en-US" sz="8705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7172" y="1534709"/>
            <a:ext cx="1673913" cy="98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프로젝트의</a:t>
            </a:r>
          </a:p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목표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07299" y="1771634"/>
            <a:ext cx="3629321" cy="51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문제 정의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85454" y="6521035"/>
            <a:ext cx="4230263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이 부분에서는 프로젝트에서 해결하고자 하는 주요 문제나 과제를 명확하게 정의합니다. 문제의 범위와 중요성을 강조하고, 이를 해결하는 데에 있어 왜 프로젝트가 필요한지 설명합니다.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990322" y="7887272"/>
            <a:ext cx="2386913" cy="849085"/>
            <a:chOff x="0" y="0"/>
            <a:chExt cx="1602004" cy="5698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2004" cy="569873"/>
            </a:xfrm>
            <a:custGeom>
              <a:avLst/>
              <a:gdLst/>
              <a:ahLst/>
              <a:cxnLst/>
              <a:rect r="r" b="b" t="t" l="l"/>
              <a:pathLst>
                <a:path h="569873" w="1602004">
                  <a:moveTo>
                    <a:pt x="801002" y="0"/>
                  </a:moveTo>
                  <a:cubicBezTo>
                    <a:pt x="358621" y="0"/>
                    <a:pt x="0" y="127570"/>
                    <a:pt x="0" y="284937"/>
                  </a:cubicBezTo>
                  <a:cubicBezTo>
                    <a:pt x="0" y="442303"/>
                    <a:pt x="358621" y="569873"/>
                    <a:pt x="801002" y="569873"/>
                  </a:cubicBezTo>
                  <a:cubicBezTo>
                    <a:pt x="1243383" y="569873"/>
                    <a:pt x="1602004" y="442303"/>
                    <a:pt x="1602004" y="284937"/>
                  </a:cubicBezTo>
                  <a:cubicBezTo>
                    <a:pt x="1602004" y="127570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50188" y="5801"/>
              <a:ext cx="1301628" cy="51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91553" y="7887272"/>
            <a:ext cx="2386913" cy="849085"/>
            <a:chOff x="0" y="0"/>
            <a:chExt cx="1602004" cy="5698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02004" cy="569873"/>
            </a:xfrm>
            <a:custGeom>
              <a:avLst/>
              <a:gdLst/>
              <a:ahLst/>
              <a:cxnLst/>
              <a:rect r="r" b="b" t="t" l="l"/>
              <a:pathLst>
                <a:path h="569873" w="1602004">
                  <a:moveTo>
                    <a:pt x="801002" y="0"/>
                  </a:moveTo>
                  <a:cubicBezTo>
                    <a:pt x="358621" y="0"/>
                    <a:pt x="0" y="127570"/>
                    <a:pt x="0" y="284937"/>
                  </a:cubicBezTo>
                  <a:cubicBezTo>
                    <a:pt x="0" y="442303"/>
                    <a:pt x="358621" y="569873"/>
                    <a:pt x="801002" y="569873"/>
                  </a:cubicBezTo>
                  <a:cubicBezTo>
                    <a:pt x="1243383" y="569873"/>
                    <a:pt x="1602004" y="442303"/>
                    <a:pt x="1602004" y="284937"/>
                  </a:cubicBezTo>
                  <a:cubicBezTo>
                    <a:pt x="1602004" y="127570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50188" y="5801"/>
              <a:ext cx="1301628" cy="51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5362" y="1457090"/>
            <a:ext cx="3017533" cy="1211035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6699279" y="1548490"/>
            <a:ext cx="0" cy="1028235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92069" y="1221576"/>
            <a:ext cx="1380868" cy="1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7"/>
              </a:lnSpc>
            </a:pPr>
            <a:r>
              <a:rPr lang="en-US" sz="8705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7172" y="1534709"/>
            <a:ext cx="1673913" cy="98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주요</a:t>
            </a:r>
          </a:p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결과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07299" y="1771634"/>
            <a:ext cx="3629321" cy="51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시각적 분석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4070" y="6272213"/>
            <a:ext cx="6395295" cy="81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6"/>
              </a:lnSpc>
            </a:pPr>
            <a:r>
              <a:rPr lang="en-US" sz="23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그래프, 차트, 사진 또는 다른 시각 자료를 사용하여 결과물을 명확하게 시각화합니다.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84070" y="7423150"/>
            <a:ext cx="6268613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이 부분에서는 프로젝트를 통해 얻은 주요 결과물을 시각적으로 보여주고 설명합니다. 그래프, 차트, 사진 또는 다른 시각 자료를 사용하여 결과물을 명확하게 시각화합니다.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0273" y="3271420"/>
            <a:ext cx="7391566" cy="6457897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1242990" y="4896422"/>
            <a:ext cx="2386913" cy="849085"/>
            <a:chOff x="0" y="0"/>
            <a:chExt cx="1602004" cy="5698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004" cy="569873"/>
            </a:xfrm>
            <a:custGeom>
              <a:avLst/>
              <a:gdLst/>
              <a:ahLst/>
              <a:cxnLst/>
              <a:rect r="r" b="b" t="t" l="l"/>
              <a:pathLst>
                <a:path h="569873" w="1602004">
                  <a:moveTo>
                    <a:pt x="801002" y="0"/>
                  </a:moveTo>
                  <a:cubicBezTo>
                    <a:pt x="358621" y="0"/>
                    <a:pt x="0" y="127570"/>
                    <a:pt x="0" y="284937"/>
                  </a:cubicBezTo>
                  <a:cubicBezTo>
                    <a:pt x="0" y="442303"/>
                    <a:pt x="358621" y="569873"/>
                    <a:pt x="801002" y="569873"/>
                  </a:cubicBezTo>
                  <a:cubicBezTo>
                    <a:pt x="1243383" y="569873"/>
                    <a:pt x="1602004" y="442303"/>
                    <a:pt x="1602004" y="284937"/>
                  </a:cubicBezTo>
                  <a:cubicBezTo>
                    <a:pt x="1602004" y="127570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50188" y="5801"/>
              <a:ext cx="1301628" cy="51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599490" y="5041485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요소 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89509" y="4896422"/>
            <a:ext cx="2386913" cy="849085"/>
            <a:chOff x="0" y="0"/>
            <a:chExt cx="1602004" cy="5698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2004" cy="569873"/>
            </a:xfrm>
            <a:custGeom>
              <a:avLst/>
              <a:gdLst/>
              <a:ahLst/>
              <a:cxnLst/>
              <a:rect r="r" b="b" t="t" l="l"/>
              <a:pathLst>
                <a:path h="569873" w="1602004">
                  <a:moveTo>
                    <a:pt x="801002" y="0"/>
                  </a:moveTo>
                  <a:cubicBezTo>
                    <a:pt x="358621" y="0"/>
                    <a:pt x="0" y="127570"/>
                    <a:pt x="0" y="284937"/>
                  </a:cubicBezTo>
                  <a:cubicBezTo>
                    <a:pt x="0" y="442303"/>
                    <a:pt x="358621" y="569873"/>
                    <a:pt x="801002" y="569873"/>
                  </a:cubicBezTo>
                  <a:cubicBezTo>
                    <a:pt x="1243383" y="569873"/>
                    <a:pt x="1602004" y="442303"/>
                    <a:pt x="1602004" y="284937"/>
                  </a:cubicBezTo>
                  <a:cubicBezTo>
                    <a:pt x="1602004" y="127570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50188" y="5801"/>
              <a:ext cx="1301628" cy="51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46009" y="5041485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요소 01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292452" y="4896422"/>
            <a:ext cx="2386913" cy="849085"/>
            <a:chOff x="0" y="0"/>
            <a:chExt cx="1602004" cy="5698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02004" cy="569873"/>
            </a:xfrm>
            <a:custGeom>
              <a:avLst/>
              <a:gdLst/>
              <a:ahLst/>
              <a:cxnLst/>
              <a:rect r="r" b="b" t="t" l="l"/>
              <a:pathLst>
                <a:path h="569873" w="1602004">
                  <a:moveTo>
                    <a:pt x="801002" y="0"/>
                  </a:moveTo>
                  <a:cubicBezTo>
                    <a:pt x="358621" y="0"/>
                    <a:pt x="0" y="127570"/>
                    <a:pt x="0" y="284937"/>
                  </a:cubicBezTo>
                  <a:cubicBezTo>
                    <a:pt x="0" y="442303"/>
                    <a:pt x="358621" y="569873"/>
                    <a:pt x="801002" y="569873"/>
                  </a:cubicBezTo>
                  <a:cubicBezTo>
                    <a:pt x="1243383" y="569873"/>
                    <a:pt x="1602004" y="442303"/>
                    <a:pt x="1602004" y="284937"/>
                  </a:cubicBezTo>
                  <a:cubicBezTo>
                    <a:pt x="1602004" y="127570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50188" y="5801"/>
              <a:ext cx="1301628" cy="51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648952" y="5041485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요소 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5362" y="1457090"/>
            <a:ext cx="3017533" cy="1211035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6699279" y="1548490"/>
            <a:ext cx="0" cy="1028235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92069" y="1221576"/>
            <a:ext cx="1380868" cy="1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7"/>
              </a:lnSpc>
            </a:pPr>
            <a:r>
              <a:rPr lang="en-US" sz="8705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7172" y="1534709"/>
            <a:ext cx="1673913" cy="98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주요</a:t>
            </a:r>
          </a:p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결과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07299" y="1771634"/>
            <a:ext cx="3629321" cy="51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분석과 해석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6408" y="6272213"/>
            <a:ext cx="6905552" cy="81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6"/>
              </a:lnSpc>
            </a:pPr>
            <a:r>
              <a:rPr lang="en-US" sz="23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어떤 인사이트를 얻었는지와 이를 통해 어떤 결론을 도출할 수 있는지 설명합니다.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6408" y="7423150"/>
            <a:ext cx="685365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이 부분에서는 얻은 결과에 대한 분석과 해석을 제시합니다. 결과물이 의미하는 바를 설명하고, 프로젝트의 의의를 강조합니다. 어떤 인사이트를 얻었는지와 이를 통해 어떤 결론을 도출할 수 있는지 설명합니다.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19290" y="3519526"/>
            <a:ext cx="8171993" cy="6419774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916408" y="5046634"/>
            <a:ext cx="2386913" cy="849085"/>
            <a:chOff x="0" y="0"/>
            <a:chExt cx="1602004" cy="5698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004" cy="569873"/>
            </a:xfrm>
            <a:custGeom>
              <a:avLst/>
              <a:gdLst/>
              <a:ahLst/>
              <a:cxnLst/>
              <a:rect r="r" b="b" t="t" l="l"/>
              <a:pathLst>
                <a:path h="569873" w="1602004">
                  <a:moveTo>
                    <a:pt x="801002" y="0"/>
                  </a:moveTo>
                  <a:cubicBezTo>
                    <a:pt x="358621" y="0"/>
                    <a:pt x="0" y="127570"/>
                    <a:pt x="0" y="284937"/>
                  </a:cubicBezTo>
                  <a:cubicBezTo>
                    <a:pt x="0" y="442303"/>
                    <a:pt x="358621" y="569873"/>
                    <a:pt x="801002" y="569873"/>
                  </a:cubicBezTo>
                  <a:cubicBezTo>
                    <a:pt x="1243383" y="569873"/>
                    <a:pt x="1602004" y="442303"/>
                    <a:pt x="1602004" y="284937"/>
                  </a:cubicBezTo>
                  <a:cubicBezTo>
                    <a:pt x="1602004" y="127570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50188" y="5801"/>
              <a:ext cx="1301628" cy="51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72908" y="5191697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요소 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916408" y="4409288"/>
            <a:ext cx="2386913" cy="849085"/>
            <a:chOff x="0" y="0"/>
            <a:chExt cx="1602004" cy="5698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2004" cy="569873"/>
            </a:xfrm>
            <a:custGeom>
              <a:avLst/>
              <a:gdLst/>
              <a:ahLst/>
              <a:cxnLst/>
              <a:rect r="r" b="b" t="t" l="l"/>
              <a:pathLst>
                <a:path h="569873" w="1602004">
                  <a:moveTo>
                    <a:pt x="801002" y="0"/>
                  </a:moveTo>
                  <a:cubicBezTo>
                    <a:pt x="358621" y="0"/>
                    <a:pt x="0" y="127570"/>
                    <a:pt x="0" y="284937"/>
                  </a:cubicBezTo>
                  <a:cubicBezTo>
                    <a:pt x="0" y="442303"/>
                    <a:pt x="358621" y="569873"/>
                    <a:pt x="801002" y="569873"/>
                  </a:cubicBezTo>
                  <a:cubicBezTo>
                    <a:pt x="1243383" y="569873"/>
                    <a:pt x="1602004" y="442303"/>
                    <a:pt x="1602004" y="284937"/>
                  </a:cubicBezTo>
                  <a:cubicBezTo>
                    <a:pt x="1602004" y="127570"/>
                    <a:pt x="1243383" y="0"/>
                    <a:pt x="801002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50188" y="5801"/>
              <a:ext cx="1301628" cy="51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272908" y="4554351"/>
            <a:ext cx="1673913" cy="4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요소 01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5362" y="1457090"/>
            <a:ext cx="3017533" cy="1211035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6699279" y="1548490"/>
            <a:ext cx="0" cy="1028235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92069" y="1221576"/>
            <a:ext cx="1380868" cy="1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7"/>
              </a:lnSpc>
            </a:pPr>
            <a:r>
              <a:rPr lang="en-US" sz="8705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7172" y="1534709"/>
            <a:ext cx="1673913" cy="98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향후</a:t>
            </a:r>
          </a:p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계획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07299" y="1771634"/>
            <a:ext cx="3629321" cy="51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분석과 해석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6408" y="6253163"/>
            <a:ext cx="6905552" cy="81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6"/>
              </a:lnSpc>
            </a:pPr>
            <a:r>
              <a:rPr lang="en-US" sz="23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이 부분에서는 프로젝트 결과에 대한 향후 계획이나 발전 방향을 소개합니다.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6408" y="7404100"/>
            <a:ext cx="6853653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이 부분에서는 프로젝트 결과에 대한 향후 계획이나 발전 방향을 소개합니다. 추가적인 연구나 개선사항, 확장 가능성 등을 제시하고, 프로젝트의 잠재적인 발전 방향을 논의합니다.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5050" y="4602951"/>
            <a:ext cx="6848830" cy="1073949"/>
            <a:chOff x="0" y="0"/>
            <a:chExt cx="1803807" cy="2828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03807" cy="282851"/>
            </a:xfrm>
            <a:custGeom>
              <a:avLst/>
              <a:gdLst/>
              <a:ahLst/>
              <a:cxnLst/>
              <a:rect r="r" b="b" t="t" l="l"/>
              <a:pathLst>
                <a:path h="282851" w="1803807">
                  <a:moveTo>
                    <a:pt x="0" y="0"/>
                  </a:moveTo>
                  <a:lnTo>
                    <a:pt x="1803807" y="0"/>
                  </a:lnTo>
                  <a:lnTo>
                    <a:pt x="1803807" y="282851"/>
                  </a:lnTo>
                  <a:lnTo>
                    <a:pt x="0" y="282851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03807" cy="33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DTD고딕"/>
                  <a:ea typeface="TDTD고딕"/>
                  <a:cs typeface="TDTD고딕"/>
                  <a:sym typeface="TDTD고딕"/>
                </a:rPr>
                <a:t>첫번째 분석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25050" y="6077341"/>
            <a:ext cx="6848830" cy="1073949"/>
            <a:chOff x="0" y="0"/>
            <a:chExt cx="1803807" cy="2828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3807" cy="282851"/>
            </a:xfrm>
            <a:custGeom>
              <a:avLst/>
              <a:gdLst/>
              <a:ahLst/>
              <a:cxnLst/>
              <a:rect r="r" b="b" t="t" l="l"/>
              <a:pathLst>
                <a:path h="282851" w="1803807">
                  <a:moveTo>
                    <a:pt x="0" y="0"/>
                  </a:moveTo>
                  <a:lnTo>
                    <a:pt x="1803807" y="0"/>
                  </a:lnTo>
                  <a:lnTo>
                    <a:pt x="1803807" y="282851"/>
                  </a:lnTo>
                  <a:lnTo>
                    <a:pt x="0" y="282851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03807" cy="33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DTD고딕"/>
                  <a:ea typeface="TDTD고딕"/>
                  <a:cs typeface="TDTD고딕"/>
                  <a:sym typeface="TDTD고딕"/>
                </a:rPr>
                <a:t>두번째 분석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25050" y="7551732"/>
            <a:ext cx="6848830" cy="1073949"/>
            <a:chOff x="0" y="0"/>
            <a:chExt cx="1803807" cy="2828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03807" cy="282851"/>
            </a:xfrm>
            <a:custGeom>
              <a:avLst/>
              <a:gdLst/>
              <a:ahLst/>
              <a:cxnLst/>
              <a:rect r="r" b="b" t="t" l="l"/>
              <a:pathLst>
                <a:path h="282851" w="1803807">
                  <a:moveTo>
                    <a:pt x="0" y="0"/>
                  </a:moveTo>
                  <a:lnTo>
                    <a:pt x="1803807" y="0"/>
                  </a:lnTo>
                  <a:lnTo>
                    <a:pt x="1803807" y="282851"/>
                  </a:lnTo>
                  <a:lnTo>
                    <a:pt x="0" y="282851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803807" cy="33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DTD고딕"/>
                  <a:ea typeface="TDTD고딕"/>
                  <a:cs typeface="TDTD고딕"/>
                  <a:sym typeface="TDTD고딕"/>
                </a:rPr>
                <a:t>세번째 분석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5362" y="1457090"/>
            <a:ext cx="3017533" cy="1211035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6699279" y="1548490"/>
            <a:ext cx="0" cy="1028235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253737" y="3743757"/>
            <a:ext cx="13780526" cy="3067432"/>
            <a:chOff x="0" y="0"/>
            <a:chExt cx="3333311" cy="7419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33312" cy="741968"/>
            </a:xfrm>
            <a:custGeom>
              <a:avLst/>
              <a:gdLst/>
              <a:ahLst/>
              <a:cxnLst/>
              <a:rect r="r" b="b" t="t" l="l"/>
              <a:pathLst>
                <a:path h="741968" w="3333312">
                  <a:moveTo>
                    <a:pt x="0" y="0"/>
                  </a:moveTo>
                  <a:lnTo>
                    <a:pt x="3333312" y="0"/>
                  </a:lnTo>
                  <a:lnTo>
                    <a:pt x="3333312" y="741968"/>
                  </a:lnTo>
                  <a:lnTo>
                    <a:pt x="0" y="741968"/>
                  </a:lnTo>
                  <a:close/>
                </a:path>
              </a:pathLst>
            </a:custGeom>
            <a:blipFill>
              <a:blip r:embed="rId2"/>
              <a:stretch>
                <a:fillRect l="0" t="-162382" r="0" b="-3693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92069" y="1221576"/>
            <a:ext cx="1380868" cy="1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7"/>
              </a:lnSpc>
            </a:pPr>
            <a:r>
              <a:rPr lang="en-US" sz="8705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97172" y="1534709"/>
            <a:ext cx="1673913" cy="98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향후</a:t>
            </a:r>
          </a:p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계획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07299" y="1771634"/>
            <a:ext cx="3629321" cy="51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피드백 수집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3221" y="7203632"/>
            <a:ext cx="10861557" cy="81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6"/>
              </a:lnSpc>
            </a:pPr>
            <a:r>
              <a:rPr lang="en-US" sz="23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이러한 항목들은 발표의 핵심 부분으로, </a:t>
            </a:r>
          </a:p>
          <a:p>
            <a:pPr algn="ctr">
              <a:lnSpc>
                <a:spcPts val="3226"/>
              </a:lnSpc>
            </a:pPr>
            <a:r>
              <a:rPr lang="en-US" sz="2304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프로젝트의 목적과 결과물을 명확히 보여주고 향후 발전 가능성을 제시합니다.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4499" y="8432800"/>
            <a:ext cx="11559003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피드백 수집은 프로젝트의 중요한 단계 중 하나로, 완료된 결과물에 대한 외부의 의견과 평가를 수집하는 과정입니다. 이는 발표 이후 프로젝트의 성과와 방향성을 개선하는 데에 큰 도움이 됩니다. 이 과정은 다양한 방법으로 수행될 수 있으며, 사용자 설문조사, 전문가 인터뷰, 시연 및 테스트 등이 포함될 수 있습니다.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30462" y="3095390"/>
            <a:ext cx="3627077" cy="1455664"/>
            <a:chOff x="0" y="0"/>
            <a:chExt cx="202525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53" cy="812800"/>
            </a:xfrm>
            <a:custGeom>
              <a:avLst/>
              <a:gdLst/>
              <a:ahLst/>
              <a:cxnLst/>
              <a:rect r="r" b="b" t="t" l="l"/>
              <a:pathLst>
                <a:path h="812800" w="2025253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9867" y="28575"/>
              <a:ext cx="164551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144000" y="4870303"/>
            <a:ext cx="0" cy="1235940"/>
          </a:xfrm>
          <a:prstGeom prst="line">
            <a:avLst/>
          </a:prstGeom>
          <a:ln cap="flat" w="19050">
            <a:solidFill>
              <a:srgbClr val="AB8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137978" y="3339035"/>
            <a:ext cx="201204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Q&amp;A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31503" y="6363418"/>
            <a:ext cx="34249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질문 및 토론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7174" y="7327900"/>
            <a:ext cx="685365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795635"/>
                </a:solidFill>
                <a:latin typeface="TDTD고딕"/>
                <a:ea typeface="TDTD고딕"/>
                <a:cs typeface="TDTD고딕"/>
                <a:sym typeface="TDTD고딕"/>
              </a:rPr>
              <a:t>발표를 마치고 질문을 받거나 토론할 시간을 마련합니다.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0462" y="2082909"/>
            <a:ext cx="1380868" cy="150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7"/>
              </a:lnSpc>
            </a:pPr>
            <a:r>
              <a:rPr lang="en-US" sz="8705" b="true">
                <a:solidFill>
                  <a:srgbClr val="545454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*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EB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4147" y="3295666"/>
            <a:ext cx="6559945" cy="1395371"/>
            <a:chOff x="0" y="0"/>
            <a:chExt cx="382115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1151" cy="812800"/>
            </a:xfrm>
            <a:custGeom>
              <a:avLst/>
              <a:gdLst/>
              <a:ahLst/>
              <a:cxnLst/>
              <a:rect r="r" b="b" t="t" l="l"/>
              <a:pathLst>
                <a:path h="812800" w="3821151">
                  <a:moveTo>
                    <a:pt x="1910576" y="0"/>
                  </a:moveTo>
                  <a:cubicBezTo>
                    <a:pt x="855394" y="0"/>
                    <a:pt x="0" y="181951"/>
                    <a:pt x="0" y="406400"/>
                  </a:cubicBezTo>
                  <a:cubicBezTo>
                    <a:pt x="0" y="630849"/>
                    <a:pt x="855394" y="812800"/>
                    <a:pt x="1910576" y="812800"/>
                  </a:cubicBezTo>
                  <a:cubicBezTo>
                    <a:pt x="2965757" y="812800"/>
                    <a:pt x="3821151" y="630849"/>
                    <a:pt x="3821151" y="406400"/>
                  </a:cubicBezTo>
                  <a:cubicBezTo>
                    <a:pt x="3821151" y="181951"/>
                    <a:pt x="2965757" y="0"/>
                    <a:pt x="1910576" y="0"/>
                  </a:cubicBezTo>
                  <a:close/>
                </a:path>
              </a:pathLst>
            </a:custGeom>
            <a:ln w="19050" cap="sq">
              <a:solidFill>
                <a:srgbClr val="AB8A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358233" y="28575"/>
              <a:ext cx="3104685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64027" y="2827508"/>
            <a:ext cx="6559945" cy="1395371"/>
            <a:chOff x="0" y="0"/>
            <a:chExt cx="382115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21151" cy="812800"/>
            </a:xfrm>
            <a:custGeom>
              <a:avLst/>
              <a:gdLst/>
              <a:ahLst/>
              <a:cxnLst/>
              <a:rect r="r" b="b" t="t" l="l"/>
              <a:pathLst>
                <a:path h="812800" w="3821151">
                  <a:moveTo>
                    <a:pt x="1910576" y="0"/>
                  </a:moveTo>
                  <a:cubicBezTo>
                    <a:pt x="855394" y="0"/>
                    <a:pt x="0" y="181951"/>
                    <a:pt x="0" y="406400"/>
                  </a:cubicBezTo>
                  <a:cubicBezTo>
                    <a:pt x="0" y="630849"/>
                    <a:pt x="855394" y="812800"/>
                    <a:pt x="1910576" y="812800"/>
                  </a:cubicBezTo>
                  <a:cubicBezTo>
                    <a:pt x="2965757" y="812800"/>
                    <a:pt x="3821151" y="630849"/>
                    <a:pt x="3821151" y="406400"/>
                  </a:cubicBezTo>
                  <a:cubicBezTo>
                    <a:pt x="3821151" y="181951"/>
                    <a:pt x="2965757" y="0"/>
                    <a:pt x="1910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58233" y="28575"/>
              <a:ext cx="3104685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793908" y="2945601"/>
            <a:ext cx="670018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AB8A66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감사합니다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22108" y="5032890"/>
            <a:ext cx="12643785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b="true">
                <a:solidFill>
                  <a:srgbClr val="795635"/>
                </a:solidFill>
                <a:latin typeface="TDTD고딕 Bold"/>
                <a:ea typeface="TDTD고딕 Bold"/>
                <a:cs typeface="TDTD고딕 Bold"/>
                <a:sym typeface="TDTD고딕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DAHLaDDskVE</dc:identifier>
  <dcterms:modified xsi:type="dcterms:W3CDTF">2011-08-01T06:04:30Z</dcterms:modified>
  <cp:revision>1</cp:revision>
  <dc:title>베이지색의 심플한 프로젝트 발표 프레젠테이션</dc:title>
</cp:coreProperties>
</file>