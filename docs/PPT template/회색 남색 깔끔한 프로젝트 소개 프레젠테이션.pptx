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abin Bold" charset="1" panose="00000800000000000000"/>
      <p:regular r:id="rId21"/>
    </p:embeddedFont>
    <p:embeddedFont>
      <p:font typeface="Tlab 돋움 레귤러 Bold" charset="1" panose="02060800000000000000"/>
      <p:regular r:id="rId22"/>
    </p:embeddedFont>
    <p:embeddedFont>
      <p:font typeface="Cabin" charset="1" panose="00000500000000000000"/>
      <p:regular r:id="rId23"/>
    </p:embeddedFont>
    <p:embeddedFont>
      <p:font typeface="Tlab 돋움 레귤러" charset="1" panose="0206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DEDEE"/>
        </a:solidFill>
      </p:bgPr>
    </p:bg>
    <p:spTree>
      <p:nvGrpSpPr>
        <p:cNvPr id="1" name=""/>
        <p:cNvGrpSpPr/>
        <p:nvPr/>
      </p:nvGrpSpPr>
      <p:grpSpPr>
        <a:xfrm>
          <a:off x="0" y="0"/>
          <a:ext cx="0" cy="0"/>
          <a:chOff x="0" y="0"/>
          <a:chExt cx="0" cy="0"/>
        </a:xfrm>
      </p:grpSpPr>
      <p:sp>
        <p:nvSpPr>
          <p:cNvPr name="TextBox 2" id="2"/>
          <p:cNvSpPr txBox="true"/>
          <p:nvPr/>
        </p:nvSpPr>
        <p:spPr>
          <a:xfrm rot="0">
            <a:off x="8150369" y="2140154"/>
            <a:ext cx="2070807" cy="853521"/>
          </a:xfrm>
          <a:prstGeom prst="rect">
            <a:avLst/>
          </a:prstGeom>
        </p:spPr>
        <p:txBody>
          <a:bodyPr anchor="t" rtlCol="false" tIns="0" lIns="0" bIns="0" rIns="0">
            <a:spAutoFit/>
          </a:bodyPr>
          <a:lstStyle/>
          <a:p>
            <a:pPr algn="ctr">
              <a:lnSpc>
                <a:spcPts val="2999"/>
              </a:lnSpc>
            </a:pPr>
            <a:r>
              <a:rPr lang="en-US" b="true" sz="2999" spc="821">
                <a:solidFill>
                  <a:srgbClr val="4A60DD"/>
                </a:solidFill>
                <a:latin typeface="Cabin Bold"/>
                <a:ea typeface="Cabin Bold"/>
                <a:cs typeface="Cabin Bold"/>
                <a:sym typeface="Cabin Bold"/>
              </a:rPr>
              <a:t>PROJECT</a:t>
            </a:r>
          </a:p>
        </p:txBody>
      </p:sp>
      <p:grpSp>
        <p:nvGrpSpPr>
          <p:cNvPr name="Group 3" id="3"/>
          <p:cNvGrpSpPr/>
          <p:nvPr/>
        </p:nvGrpSpPr>
        <p:grpSpPr>
          <a:xfrm rot="0">
            <a:off x="8829786" y="2748639"/>
            <a:ext cx="711974" cy="711974"/>
            <a:chOff x="0" y="0"/>
            <a:chExt cx="949298" cy="949298"/>
          </a:xfrm>
        </p:grpSpPr>
        <p:sp>
          <p:nvSpPr>
            <p:cNvPr name="AutoShape 4" id="4"/>
            <p:cNvSpPr/>
            <p:nvPr/>
          </p:nvSpPr>
          <p:spPr>
            <a:xfrm>
              <a:off x="0" y="474649"/>
              <a:ext cx="949298" cy="0"/>
            </a:xfrm>
            <a:prstGeom prst="line">
              <a:avLst/>
            </a:prstGeom>
            <a:ln cap="flat" w="152400">
              <a:solidFill>
                <a:srgbClr val="4A60DD"/>
              </a:solidFill>
              <a:prstDash val="solid"/>
              <a:headEnd type="none" len="sm" w="sm"/>
              <a:tailEnd type="none" len="sm" w="sm"/>
            </a:ln>
          </p:spPr>
        </p:sp>
        <p:sp>
          <p:nvSpPr>
            <p:cNvPr name="AutoShape 5" id="5"/>
            <p:cNvSpPr/>
            <p:nvPr/>
          </p:nvSpPr>
          <p:spPr>
            <a:xfrm flipV="true">
              <a:off x="474649" y="0"/>
              <a:ext cx="0" cy="949298"/>
            </a:xfrm>
            <a:prstGeom prst="line">
              <a:avLst/>
            </a:prstGeom>
            <a:ln cap="flat" w="152400">
              <a:solidFill>
                <a:srgbClr val="4A60DD"/>
              </a:solidFill>
              <a:prstDash val="solid"/>
              <a:headEnd type="none" len="sm" w="sm"/>
              <a:tailEnd type="none" len="sm" w="sm"/>
            </a:ln>
          </p:spPr>
        </p:sp>
        <p:sp>
          <p:nvSpPr>
            <p:cNvPr name="AutoShape 6" id="6"/>
            <p:cNvSpPr/>
            <p:nvPr/>
          </p:nvSpPr>
          <p:spPr>
            <a:xfrm flipV="true">
              <a:off x="139021" y="139021"/>
              <a:ext cx="671255" cy="671255"/>
            </a:xfrm>
            <a:prstGeom prst="line">
              <a:avLst/>
            </a:prstGeom>
            <a:ln cap="flat" w="152400">
              <a:solidFill>
                <a:srgbClr val="4A60DD"/>
              </a:solidFill>
              <a:prstDash val="solid"/>
              <a:headEnd type="none" len="sm" w="sm"/>
              <a:tailEnd type="none" len="sm" w="sm"/>
            </a:ln>
          </p:spPr>
        </p:sp>
        <p:sp>
          <p:nvSpPr>
            <p:cNvPr name="AutoShape 7" id="7"/>
            <p:cNvSpPr/>
            <p:nvPr/>
          </p:nvSpPr>
          <p:spPr>
            <a:xfrm flipH="true" flipV="true">
              <a:off x="139021" y="139021"/>
              <a:ext cx="671255" cy="671255"/>
            </a:xfrm>
            <a:prstGeom prst="line">
              <a:avLst/>
            </a:prstGeom>
            <a:ln cap="flat" w="152400">
              <a:solidFill>
                <a:srgbClr val="4A60DD"/>
              </a:solidFill>
              <a:prstDash val="solid"/>
              <a:headEnd type="none" len="sm" w="sm"/>
              <a:tailEnd type="none" len="sm" w="sm"/>
            </a:ln>
          </p:spPr>
        </p:sp>
      </p:grpSp>
      <p:sp>
        <p:nvSpPr>
          <p:cNvPr name="TextBox 8" id="8"/>
          <p:cNvSpPr txBox="true"/>
          <p:nvPr/>
        </p:nvSpPr>
        <p:spPr>
          <a:xfrm rot="0">
            <a:off x="3190952" y="3909191"/>
            <a:ext cx="11989640" cy="1308734"/>
          </a:xfrm>
          <a:prstGeom prst="rect">
            <a:avLst/>
          </a:prstGeom>
        </p:spPr>
        <p:txBody>
          <a:bodyPr anchor="t" rtlCol="false" tIns="0" lIns="0" bIns="0" rIns="0">
            <a:spAutoFit/>
          </a:bodyPr>
          <a:lstStyle/>
          <a:p>
            <a:pPr algn="ctr">
              <a:lnSpc>
                <a:spcPts val="10169"/>
              </a:lnSpc>
            </a:pPr>
            <a:r>
              <a:rPr lang="en-US" b="true" sz="8999" spc="-440">
                <a:solidFill>
                  <a:srgbClr val="4A60DD"/>
                </a:solidFill>
                <a:latin typeface="Tlab 돋움 레귤러 Bold"/>
                <a:ea typeface="Tlab 돋움 레귤러 Bold"/>
                <a:cs typeface="Tlab 돋움 레귤러 Bold"/>
                <a:sym typeface="Tlab 돋움 레귤러 Bold"/>
              </a:rPr>
              <a:t>프로젝트 프레젠테이션</a:t>
            </a:r>
          </a:p>
        </p:txBody>
      </p:sp>
      <p:sp>
        <p:nvSpPr>
          <p:cNvPr name="TextBox 9" id="9"/>
          <p:cNvSpPr txBox="true"/>
          <p:nvPr/>
        </p:nvSpPr>
        <p:spPr>
          <a:xfrm rot="0">
            <a:off x="5816731" y="8164780"/>
            <a:ext cx="6654539" cy="481965"/>
          </a:xfrm>
          <a:prstGeom prst="rect">
            <a:avLst/>
          </a:prstGeom>
        </p:spPr>
        <p:txBody>
          <a:bodyPr anchor="t" rtlCol="false" tIns="0" lIns="0" bIns="0" rIns="0">
            <a:spAutoFit/>
          </a:bodyPr>
          <a:lstStyle/>
          <a:p>
            <a:pPr algn="ctr">
              <a:lnSpc>
                <a:spcPts val="3600"/>
              </a:lnSpc>
            </a:pPr>
            <a:r>
              <a:rPr lang="en-US" sz="3600" spc="-79">
                <a:solidFill>
                  <a:srgbClr val="424242"/>
                </a:solidFill>
                <a:latin typeface="Cabin"/>
                <a:ea typeface="Cabin"/>
                <a:cs typeface="Cabin"/>
                <a:sym typeface="Cabin"/>
              </a:rPr>
              <a:t>2050. 2. 10</a:t>
            </a:r>
          </a:p>
        </p:txBody>
      </p:sp>
      <p:sp>
        <p:nvSpPr>
          <p:cNvPr name="TextBox 10" id="10"/>
          <p:cNvSpPr txBox="true"/>
          <p:nvPr/>
        </p:nvSpPr>
        <p:spPr>
          <a:xfrm rot="0">
            <a:off x="5858503" y="5408201"/>
            <a:ext cx="6654539" cy="641858"/>
          </a:xfrm>
          <a:prstGeom prst="rect">
            <a:avLst/>
          </a:prstGeom>
        </p:spPr>
        <p:txBody>
          <a:bodyPr anchor="t" rtlCol="false" tIns="0" lIns="0" bIns="0" rIns="0">
            <a:spAutoFit/>
          </a:bodyPr>
          <a:lstStyle/>
          <a:p>
            <a:pPr algn="ctr">
              <a:lnSpc>
                <a:spcPts val="5206"/>
              </a:lnSpc>
            </a:pPr>
            <a:r>
              <a:rPr lang="en-US" b="true" sz="3800" spc="91">
                <a:solidFill>
                  <a:srgbClr val="424242"/>
                </a:solidFill>
                <a:latin typeface="Tlab 돋움 레귤러 Bold"/>
                <a:ea typeface="Tlab 돋움 레귤러 Bold"/>
                <a:cs typeface="Tlab 돋움 레귤러 Bold"/>
                <a:sym typeface="Tlab 돋움 레귤러 Bold"/>
              </a:rPr>
              <a:t>마케팅팀. 이수진</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19065"/>
            <a:ext cx="673000" cy="673000"/>
            <a:chOff x="0" y="0"/>
            <a:chExt cx="897333" cy="897333"/>
          </a:xfrm>
        </p:grpSpPr>
        <p:sp>
          <p:nvSpPr>
            <p:cNvPr name="AutoShape 3" id="3"/>
            <p:cNvSpPr/>
            <p:nvPr/>
          </p:nvSpPr>
          <p:spPr>
            <a:xfrm>
              <a:off x="0" y="448667"/>
              <a:ext cx="897333"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48667" y="0"/>
              <a:ext cx="0" cy="897333"/>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31411" y="131411"/>
              <a:ext cx="634511" cy="634511"/>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31411" y="131411"/>
              <a:ext cx="634511" cy="634511"/>
            </a:xfrm>
            <a:prstGeom prst="line">
              <a:avLst/>
            </a:prstGeom>
            <a:ln cap="flat" w="139700">
              <a:solidFill>
                <a:srgbClr val="4A60DD"/>
              </a:solidFill>
              <a:prstDash val="solid"/>
              <a:headEnd type="none" len="sm" w="sm"/>
              <a:tailEnd type="none" len="sm" w="sm"/>
            </a:ln>
          </p:spPr>
        </p:sp>
      </p:grpSp>
      <p:sp>
        <p:nvSpPr>
          <p:cNvPr name="TextBox 7" id="7"/>
          <p:cNvSpPr txBox="true"/>
          <p:nvPr/>
        </p:nvSpPr>
        <p:spPr>
          <a:xfrm rot="0">
            <a:off x="1970583" y="1180906"/>
            <a:ext cx="4219724" cy="1120769"/>
          </a:xfrm>
          <a:prstGeom prst="rect">
            <a:avLst/>
          </a:prstGeom>
        </p:spPr>
        <p:txBody>
          <a:bodyPr anchor="t" rtlCol="false" tIns="0" lIns="0" bIns="0" rIns="0">
            <a:spAutoFit/>
          </a:bodyPr>
          <a:lstStyle/>
          <a:p>
            <a:pPr algn="l">
              <a:lnSpc>
                <a:spcPts val="8499"/>
              </a:lnSpc>
            </a:pPr>
            <a:r>
              <a:rPr lang="en-US" sz="8499" spc="-254" b="true">
                <a:solidFill>
                  <a:srgbClr val="4A60DD"/>
                </a:solidFill>
                <a:latin typeface="Cabin Bold"/>
                <a:ea typeface="Cabin Bold"/>
                <a:cs typeface="Cabin Bold"/>
                <a:sym typeface="Cabin Bold"/>
              </a:rPr>
              <a:t>Contents</a:t>
            </a:r>
          </a:p>
        </p:txBody>
      </p:sp>
      <p:sp>
        <p:nvSpPr>
          <p:cNvPr name="TextBox 8" id="8"/>
          <p:cNvSpPr txBox="true"/>
          <p:nvPr/>
        </p:nvSpPr>
        <p:spPr>
          <a:xfrm rot="0">
            <a:off x="1303971" y="2740427"/>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1.</a:t>
            </a:r>
          </a:p>
        </p:txBody>
      </p:sp>
      <p:sp>
        <p:nvSpPr>
          <p:cNvPr name="TextBox 9" id="9"/>
          <p:cNvSpPr txBox="true"/>
          <p:nvPr/>
        </p:nvSpPr>
        <p:spPr>
          <a:xfrm rot="0">
            <a:off x="9545633" y="2740427"/>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6.</a:t>
            </a:r>
          </a:p>
        </p:txBody>
      </p:sp>
      <p:sp>
        <p:nvSpPr>
          <p:cNvPr name="TextBox 10" id="10"/>
          <p:cNvSpPr txBox="true"/>
          <p:nvPr/>
        </p:nvSpPr>
        <p:spPr>
          <a:xfrm rot="0">
            <a:off x="1303971" y="3923066"/>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2.</a:t>
            </a:r>
          </a:p>
        </p:txBody>
      </p:sp>
      <p:sp>
        <p:nvSpPr>
          <p:cNvPr name="TextBox 11" id="11"/>
          <p:cNvSpPr txBox="true"/>
          <p:nvPr/>
        </p:nvSpPr>
        <p:spPr>
          <a:xfrm rot="0">
            <a:off x="9545633" y="3923066"/>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7.</a:t>
            </a:r>
          </a:p>
        </p:txBody>
      </p:sp>
      <p:sp>
        <p:nvSpPr>
          <p:cNvPr name="TextBox 12" id="12"/>
          <p:cNvSpPr txBox="true"/>
          <p:nvPr/>
        </p:nvSpPr>
        <p:spPr>
          <a:xfrm rot="0">
            <a:off x="1303971" y="5148939"/>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3.</a:t>
            </a:r>
          </a:p>
        </p:txBody>
      </p:sp>
      <p:sp>
        <p:nvSpPr>
          <p:cNvPr name="TextBox 13" id="13"/>
          <p:cNvSpPr txBox="true"/>
          <p:nvPr/>
        </p:nvSpPr>
        <p:spPr>
          <a:xfrm rot="0">
            <a:off x="9545633" y="5160936"/>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8.</a:t>
            </a:r>
          </a:p>
        </p:txBody>
      </p:sp>
      <p:sp>
        <p:nvSpPr>
          <p:cNvPr name="TextBox 14" id="14"/>
          <p:cNvSpPr txBox="true"/>
          <p:nvPr/>
        </p:nvSpPr>
        <p:spPr>
          <a:xfrm rot="0">
            <a:off x="1303971" y="6370230"/>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4.</a:t>
            </a:r>
          </a:p>
        </p:txBody>
      </p:sp>
      <p:sp>
        <p:nvSpPr>
          <p:cNvPr name="TextBox 15" id="15"/>
          <p:cNvSpPr txBox="true"/>
          <p:nvPr/>
        </p:nvSpPr>
        <p:spPr>
          <a:xfrm rot="0">
            <a:off x="1303971" y="7606956"/>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5.</a:t>
            </a:r>
          </a:p>
        </p:txBody>
      </p:sp>
      <p:sp>
        <p:nvSpPr>
          <p:cNvPr name="TextBox 16" id="16"/>
          <p:cNvSpPr txBox="true"/>
          <p:nvPr/>
        </p:nvSpPr>
        <p:spPr>
          <a:xfrm rot="0">
            <a:off x="9545633" y="6370230"/>
            <a:ext cx="552818"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9.</a:t>
            </a:r>
          </a:p>
        </p:txBody>
      </p:sp>
      <p:sp>
        <p:nvSpPr>
          <p:cNvPr name="TextBox 17" id="17"/>
          <p:cNvSpPr txBox="true"/>
          <p:nvPr/>
        </p:nvSpPr>
        <p:spPr>
          <a:xfrm rot="0">
            <a:off x="9144000" y="7550950"/>
            <a:ext cx="954450" cy="989076"/>
          </a:xfrm>
          <a:prstGeom prst="rect">
            <a:avLst/>
          </a:prstGeom>
        </p:spPr>
        <p:txBody>
          <a:bodyPr anchor="t" rtlCol="false" tIns="0" lIns="0" bIns="0" rIns="0">
            <a:spAutoFit/>
          </a:bodyPr>
          <a:lstStyle/>
          <a:p>
            <a:pPr algn="r">
              <a:lnSpc>
                <a:spcPts val="8891"/>
              </a:lnSpc>
            </a:pPr>
            <a:r>
              <a:rPr lang="en-US" b="true" sz="3900" spc="117">
                <a:solidFill>
                  <a:srgbClr val="4A60DD"/>
                </a:solidFill>
                <a:latin typeface="Tlab 돋움 레귤러 Bold"/>
                <a:ea typeface="Tlab 돋움 레귤러 Bold"/>
                <a:cs typeface="Tlab 돋움 레귤러 Bold"/>
                <a:sym typeface="Tlab 돋움 레귤러 Bold"/>
              </a:rPr>
              <a:t>10.</a:t>
            </a:r>
          </a:p>
        </p:txBody>
      </p:sp>
      <p:sp>
        <p:nvSpPr>
          <p:cNvPr name="TextBox 18" id="18"/>
          <p:cNvSpPr txBox="true"/>
          <p:nvPr/>
        </p:nvSpPr>
        <p:spPr>
          <a:xfrm rot="0">
            <a:off x="10325574" y="2717073"/>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KPI 달성을 위한 전략</a:t>
            </a:r>
          </a:p>
        </p:txBody>
      </p:sp>
      <p:sp>
        <p:nvSpPr>
          <p:cNvPr name="TextBox 19" id="19"/>
          <p:cNvSpPr txBox="true"/>
          <p:nvPr/>
        </p:nvSpPr>
        <p:spPr>
          <a:xfrm rot="0">
            <a:off x="10325574" y="3902872"/>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프로젝트 범위</a:t>
            </a:r>
          </a:p>
        </p:txBody>
      </p:sp>
      <p:sp>
        <p:nvSpPr>
          <p:cNvPr name="TextBox 20" id="20"/>
          <p:cNvSpPr txBox="true"/>
          <p:nvPr/>
        </p:nvSpPr>
        <p:spPr>
          <a:xfrm rot="0">
            <a:off x="10325574" y="5131217"/>
            <a:ext cx="6933726"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주요 마일스톤 및 프로젝트 일정</a:t>
            </a:r>
          </a:p>
        </p:txBody>
      </p:sp>
      <p:sp>
        <p:nvSpPr>
          <p:cNvPr name="TextBox 21" id="21"/>
          <p:cNvSpPr txBox="true"/>
          <p:nvPr/>
        </p:nvSpPr>
        <p:spPr>
          <a:xfrm rot="0">
            <a:off x="10325574" y="6350037"/>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기대효과</a:t>
            </a:r>
          </a:p>
        </p:txBody>
      </p:sp>
      <p:sp>
        <p:nvSpPr>
          <p:cNvPr name="TextBox 22" id="22"/>
          <p:cNvSpPr txBox="true"/>
          <p:nvPr/>
        </p:nvSpPr>
        <p:spPr>
          <a:xfrm rot="0">
            <a:off x="10325574" y="7530756"/>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결론</a:t>
            </a:r>
          </a:p>
        </p:txBody>
      </p:sp>
      <p:sp>
        <p:nvSpPr>
          <p:cNvPr name="TextBox 23" id="23"/>
          <p:cNvSpPr txBox="true"/>
          <p:nvPr/>
        </p:nvSpPr>
        <p:spPr>
          <a:xfrm rot="0">
            <a:off x="2085389" y="2717073"/>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프로젝트 배경</a:t>
            </a:r>
          </a:p>
        </p:txBody>
      </p:sp>
      <p:sp>
        <p:nvSpPr>
          <p:cNvPr name="TextBox 24" id="24"/>
          <p:cNvSpPr txBox="true"/>
          <p:nvPr/>
        </p:nvSpPr>
        <p:spPr>
          <a:xfrm rot="0">
            <a:off x="2085389" y="3923066"/>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시장분석</a:t>
            </a:r>
          </a:p>
        </p:txBody>
      </p:sp>
      <p:sp>
        <p:nvSpPr>
          <p:cNvPr name="TextBox 25" id="25"/>
          <p:cNvSpPr txBox="true"/>
          <p:nvPr/>
        </p:nvSpPr>
        <p:spPr>
          <a:xfrm rot="0">
            <a:off x="2085389" y="5160936"/>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프로젝트 목적</a:t>
            </a:r>
          </a:p>
        </p:txBody>
      </p:sp>
      <p:sp>
        <p:nvSpPr>
          <p:cNvPr name="TextBox 26" id="26"/>
          <p:cNvSpPr txBox="true"/>
          <p:nvPr/>
        </p:nvSpPr>
        <p:spPr>
          <a:xfrm rot="0">
            <a:off x="2085389" y="6370230"/>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SMART 목적</a:t>
            </a:r>
          </a:p>
        </p:txBody>
      </p:sp>
      <p:sp>
        <p:nvSpPr>
          <p:cNvPr name="TextBox 27" id="27"/>
          <p:cNvSpPr txBox="true"/>
          <p:nvPr/>
        </p:nvSpPr>
        <p:spPr>
          <a:xfrm rot="0">
            <a:off x="2085389" y="7606956"/>
            <a:ext cx="5403203" cy="989076"/>
          </a:xfrm>
          <a:prstGeom prst="rect">
            <a:avLst/>
          </a:prstGeom>
        </p:spPr>
        <p:txBody>
          <a:bodyPr anchor="t" rtlCol="false" tIns="0" lIns="0" bIns="0" rIns="0">
            <a:spAutoFit/>
          </a:bodyPr>
          <a:lstStyle/>
          <a:p>
            <a:pPr algn="l">
              <a:lnSpc>
                <a:spcPts val="8891"/>
              </a:lnSpc>
            </a:pPr>
            <a:r>
              <a:rPr lang="en-US" sz="3900" b="true">
                <a:solidFill>
                  <a:srgbClr val="424242"/>
                </a:solidFill>
                <a:latin typeface="Tlab 돋움 레귤러 Bold"/>
                <a:ea typeface="Tlab 돋움 레귤러 Bold"/>
                <a:cs typeface="Tlab 돋움 레귤러 Bold"/>
                <a:sym typeface="Tlab 돋움 레귤러 Bold"/>
              </a:rPr>
              <a:t>핵심 성과 지표(KPI)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sp>
        <p:nvSpPr>
          <p:cNvPr name="Freeform 2" id="2"/>
          <p:cNvSpPr/>
          <p:nvPr/>
        </p:nvSpPr>
        <p:spPr>
          <a:xfrm flipH="false" flipV="false" rot="0">
            <a:off x="12541824" y="4832450"/>
            <a:ext cx="4717476" cy="4425850"/>
          </a:xfrm>
          <a:custGeom>
            <a:avLst/>
            <a:gdLst/>
            <a:ahLst/>
            <a:cxnLst/>
            <a:rect r="r" b="b" t="t" l="l"/>
            <a:pathLst>
              <a:path h="4425850" w="4717476">
                <a:moveTo>
                  <a:pt x="0" y="0"/>
                </a:moveTo>
                <a:lnTo>
                  <a:pt x="4717476" y="0"/>
                </a:lnTo>
                <a:lnTo>
                  <a:pt x="4717476" y="4425850"/>
                </a:lnTo>
                <a:lnTo>
                  <a:pt x="0" y="44258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17138" y="3067724"/>
            <a:ext cx="8069615" cy="644525"/>
          </a:xfrm>
          <a:prstGeom prst="rect">
            <a:avLst/>
          </a:prstGeom>
        </p:spPr>
        <p:txBody>
          <a:bodyPr anchor="t" rtlCol="false" tIns="0" lIns="0" bIns="0" rIns="0">
            <a:spAutoFit/>
          </a:bodyPr>
          <a:lstStyle/>
          <a:p>
            <a:pPr algn="l">
              <a:lnSpc>
                <a:spcPts val="5199"/>
              </a:lnSpc>
            </a:pPr>
            <a:r>
              <a:rPr lang="en-US" sz="3999" spc="-39" b="true">
                <a:solidFill>
                  <a:srgbClr val="424242"/>
                </a:solidFill>
                <a:latin typeface="Tlab 돋움 레귤러 Bold"/>
                <a:ea typeface="Tlab 돋움 레귤러 Bold"/>
                <a:cs typeface="Tlab 돋움 레귤러 Bold"/>
                <a:sym typeface="Tlab 돋움 레귤러 Bold"/>
              </a:rPr>
              <a:t>온라인 마케팅 활용을 통한 매출 증진</a:t>
            </a:r>
          </a:p>
        </p:txBody>
      </p:sp>
      <p:sp>
        <p:nvSpPr>
          <p:cNvPr name="TextBox 4" id="4"/>
          <p:cNvSpPr txBox="true"/>
          <p:nvPr/>
        </p:nvSpPr>
        <p:spPr>
          <a:xfrm rot="0">
            <a:off x="1317138" y="3959522"/>
            <a:ext cx="10800232" cy="3216276"/>
          </a:xfrm>
          <a:prstGeom prst="rect">
            <a:avLst/>
          </a:prstGeom>
        </p:spPr>
        <p:txBody>
          <a:bodyPr anchor="t" rtlCol="false" tIns="0" lIns="0" bIns="0" rIns="0">
            <a:spAutoFit/>
          </a:bodyPr>
          <a:lstStyle/>
          <a:p>
            <a:pPr algn="l">
              <a:lnSpc>
                <a:spcPts val="4299"/>
              </a:lnSpc>
            </a:pPr>
            <a:r>
              <a:rPr lang="en-US" sz="2499">
                <a:solidFill>
                  <a:srgbClr val="424242"/>
                </a:solidFill>
                <a:latin typeface="Tlab 돋움 레귤러"/>
                <a:ea typeface="Tlab 돋움 레귤러"/>
                <a:cs typeface="Tlab 돋움 레귤러"/>
                <a:sym typeface="Tlab 돋움 레귤러"/>
              </a:rPr>
              <a:t>Lorem ipsum dolor sit amet, consectetur adipiscing elit. Integer elementum, ex eu pharetra pharetra, ligula velit suscipit libero, </a:t>
            </a:r>
          </a:p>
          <a:p>
            <a:pPr algn="l">
              <a:lnSpc>
                <a:spcPts val="4299"/>
              </a:lnSpc>
            </a:pPr>
            <a:r>
              <a:rPr lang="en-US" sz="2499">
                <a:solidFill>
                  <a:srgbClr val="424242"/>
                </a:solidFill>
                <a:latin typeface="Tlab 돋움 레귤러"/>
                <a:ea typeface="Tlab 돋움 레귤러"/>
                <a:cs typeface="Tlab 돋움 레귤러"/>
                <a:sym typeface="Tlab 돋움 레귤러"/>
              </a:rPr>
              <a:t>vel suscipit lectus est in magna. Donec et egestas justo, vel tempus ipsum. Aenean at lectus nec mauris molestie consectetur ac in massa. Praesent tincidunt vel justo ut condimentum. Cras nec purus magna.</a:t>
            </a:r>
          </a:p>
          <a:p>
            <a:pPr algn="l">
              <a:lnSpc>
                <a:spcPts val="4299"/>
              </a:lnSpc>
            </a:pPr>
          </a:p>
        </p:txBody>
      </p:sp>
      <p:sp>
        <p:nvSpPr>
          <p:cNvPr name="TextBox 5" id="5"/>
          <p:cNvSpPr txBox="true"/>
          <p:nvPr/>
        </p:nvSpPr>
        <p:spPr>
          <a:xfrm rot="0">
            <a:off x="1982796" y="1257103"/>
            <a:ext cx="5997609" cy="930275"/>
          </a:xfrm>
          <a:prstGeom prst="rect">
            <a:avLst/>
          </a:prstGeom>
        </p:spPr>
        <p:txBody>
          <a:bodyPr anchor="t" rtlCol="false" tIns="0" lIns="0" bIns="0" rIns="0">
            <a:spAutoFit/>
          </a:bodyPr>
          <a:lstStyle/>
          <a:p>
            <a:pPr algn="l">
              <a:lnSpc>
                <a:spcPts val="6999"/>
              </a:lnSpc>
            </a:pPr>
            <a:r>
              <a:rPr lang="en-US" b="true" sz="6999" spc="-209">
                <a:solidFill>
                  <a:srgbClr val="4A60DD"/>
                </a:solidFill>
                <a:latin typeface="Tlab 돋움 레귤러 Bold"/>
                <a:ea typeface="Tlab 돋움 레귤러 Bold"/>
                <a:cs typeface="Tlab 돋움 레귤러 Bold"/>
                <a:sym typeface="Tlab 돋움 레귤러 Bold"/>
              </a:rPr>
              <a:t>프로젝트 배경</a:t>
            </a:r>
          </a:p>
        </p:txBody>
      </p:sp>
      <p:grpSp>
        <p:nvGrpSpPr>
          <p:cNvPr name="Group 6" id="6"/>
          <p:cNvGrpSpPr/>
          <p:nvPr/>
        </p:nvGrpSpPr>
        <p:grpSpPr>
          <a:xfrm rot="0">
            <a:off x="1028700" y="1330298"/>
            <a:ext cx="650534" cy="650534"/>
            <a:chOff x="0" y="0"/>
            <a:chExt cx="867378" cy="867378"/>
          </a:xfrm>
        </p:grpSpPr>
        <p:sp>
          <p:nvSpPr>
            <p:cNvPr name="AutoShape 7" id="7"/>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8" id="8"/>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9" id="9"/>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10" id="10"/>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10711866" y="2537252"/>
            <a:ext cx="7135352" cy="6781088"/>
          </a:xfrm>
          <a:prstGeom prst="rect">
            <a:avLst/>
          </a:prstGeom>
        </p:spPr>
      </p:pic>
      <p:sp>
        <p:nvSpPr>
          <p:cNvPr name="TextBox 3" id="3"/>
          <p:cNvSpPr txBox="true"/>
          <p:nvPr/>
        </p:nvSpPr>
        <p:spPr>
          <a:xfrm rot="0">
            <a:off x="1028700" y="6736670"/>
            <a:ext cx="8896883" cy="2082163"/>
          </a:xfrm>
          <a:prstGeom prst="rect">
            <a:avLst/>
          </a:prstGeom>
        </p:spPr>
        <p:txBody>
          <a:bodyPr anchor="t" rtlCol="false" tIns="0" lIns="0" bIns="0" rIns="0">
            <a:spAutoFit/>
          </a:bodyPr>
          <a:lstStyle/>
          <a:p>
            <a:pPr algn="l">
              <a:lnSpc>
                <a:spcPts val="3360"/>
              </a:lnSpc>
            </a:pPr>
            <a:r>
              <a:rPr lang="en-US" sz="2400">
                <a:solidFill>
                  <a:srgbClr val="292929"/>
                </a:solidFill>
                <a:latin typeface="Tlab 돋움 레귤러"/>
                <a:ea typeface="Tlab 돋움 레귤러"/>
                <a:cs typeface="Tlab 돋움 레귤러"/>
                <a:sym typeface="Tlab 돋움 레귤러"/>
              </a:rPr>
              <a:t>Lorem ipsum dolor sit amet, consectetur adipiscing elit. Integer elementum, ex eu pharetra pharetra, ligula velit suscipit libero, vel suscipit lectus est in magna. Donec et egestas justo, vel tempus ipsum. Aenean at lectus nec mauris molestie consectetur ac in massa.</a:t>
            </a:r>
            <a:r>
              <a:rPr lang="en-US" sz="2400">
                <a:solidFill>
                  <a:srgbClr val="292929"/>
                </a:solidFill>
                <a:latin typeface="Tlab 돋움 레귤러"/>
                <a:ea typeface="Tlab 돋움 레귤러"/>
                <a:cs typeface="Tlab 돋움 레귤러"/>
                <a:sym typeface="Tlab 돋움 레귤러"/>
              </a:rPr>
              <a:t> </a:t>
            </a:r>
          </a:p>
        </p:txBody>
      </p:sp>
      <p:sp>
        <p:nvSpPr>
          <p:cNvPr name="TextBox 4" id="4"/>
          <p:cNvSpPr txBox="true"/>
          <p:nvPr/>
        </p:nvSpPr>
        <p:spPr>
          <a:xfrm rot="0">
            <a:off x="1028700" y="3530641"/>
            <a:ext cx="8896883" cy="2082163"/>
          </a:xfrm>
          <a:prstGeom prst="rect">
            <a:avLst/>
          </a:prstGeom>
        </p:spPr>
        <p:txBody>
          <a:bodyPr anchor="t" rtlCol="false" tIns="0" lIns="0" bIns="0" rIns="0">
            <a:spAutoFit/>
          </a:bodyPr>
          <a:lstStyle/>
          <a:p>
            <a:pPr algn="l">
              <a:lnSpc>
                <a:spcPts val="3360"/>
              </a:lnSpc>
            </a:pPr>
            <a:r>
              <a:rPr lang="en-US" sz="2400">
                <a:solidFill>
                  <a:srgbClr val="292929"/>
                </a:solidFill>
                <a:latin typeface="Tlab 돋움 레귤러"/>
                <a:ea typeface="Tlab 돋움 레귤러"/>
                <a:cs typeface="Tlab 돋움 레귤러"/>
                <a:sym typeface="Tlab 돋움 레귤러"/>
              </a:rPr>
              <a:t>Lorem ipsum dolor sit amet, consectetur adipiscing elit. Integer elementum, ex eu pharetra pharetra, ligula velit suscipit libero, vel suscipit lectus est in magna. Donec et egestas justo, vel tempus ipsum. Aenean at lectus nec mauris molestie consectetur ac in massa.</a:t>
            </a:r>
            <a:r>
              <a:rPr lang="en-US" sz="2400">
                <a:solidFill>
                  <a:srgbClr val="292929"/>
                </a:solidFill>
                <a:latin typeface="Tlab 돋움 레귤러"/>
                <a:ea typeface="Tlab 돋움 레귤러"/>
                <a:cs typeface="Tlab 돋움 레귤러"/>
                <a:sym typeface="Tlab 돋움 레귤러"/>
              </a:rPr>
              <a:t> </a:t>
            </a:r>
          </a:p>
        </p:txBody>
      </p:sp>
      <p:sp>
        <p:nvSpPr>
          <p:cNvPr name="TextBox 5" id="5"/>
          <p:cNvSpPr txBox="true"/>
          <p:nvPr/>
        </p:nvSpPr>
        <p:spPr>
          <a:xfrm rot="0">
            <a:off x="1028700" y="2690730"/>
            <a:ext cx="5389995" cy="648963"/>
          </a:xfrm>
          <a:prstGeom prst="rect">
            <a:avLst/>
          </a:prstGeom>
        </p:spPr>
        <p:txBody>
          <a:bodyPr anchor="t" rtlCol="false" tIns="0" lIns="0" bIns="0" rIns="0">
            <a:spAutoFit/>
          </a:bodyPr>
          <a:lstStyle/>
          <a:p>
            <a:pPr algn="l">
              <a:lnSpc>
                <a:spcPts val="5600"/>
              </a:lnSpc>
            </a:pPr>
            <a:r>
              <a:rPr lang="en-US" sz="2800" spc="28" b="true">
                <a:solidFill>
                  <a:srgbClr val="4A60DD"/>
                </a:solidFill>
                <a:latin typeface="Tlab 돋움 레귤러 Bold"/>
                <a:ea typeface="Tlab 돋움 레귤러 Bold"/>
                <a:cs typeface="Tlab 돋움 레귤러 Bold"/>
                <a:sym typeface="Tlab 돋움 레귤러 Bold"/>
              </a:rPr>
              <a:t>소비패턴</a:t>
            </a:r>
          </a:p>
        </p:txBody>
      </p:sp>
      <p:sp>
        <p:nvSpPr>
          <p:cNvPr name="TextBox 6" id="6"/>
          <p:cNvSpPr txBox="true"/>
          <p:nvPr/>
        </p:nvSpPr>
        <p:spPr>
          <a:xfrm rot="0">
            <a:off x="1028700" y="5883235"/>
            <a:ext cx="5389995" cy="648963"/>
          </a:xfrm>
          <a:prstGeom prst="rect">
            <a:avLst/>
          </a:prstGeom>
        </p:spPr>
        <p:txBody>
          <a:bodyPr anchor="t" rtlCol="false" tIns="0" lIns="0" bIns="0" rIns="0">
            <a:spAutoFit/>
          </a:bodyPr>
          <a:lstStyle/>
          <a:p>
            <a:pPr algn="l">
              <a:lnSpc>
                <a:spcPts val="5600"/>
              </a:lnSpc>
            </a:pPr>
            <a:r>
              <a:rPr lang="en-US" sz="2800" spc="28" b="true">
                <a:solidFill>
                  <a:srgbClr val="4A60DD"/>
                </a:solidFill>
                <a:latin typeface="Tlab 돋움 레귤러 Bold"/>
                <a:ea typeface="Tlab 돋움 레귤러 Bold"/>
                <a:cs typeface="Tlab 돋움 레귤러 Bold"/>
                <a:sym typeface="Tlab 돋움 레귤러 Bold"/>
              </a:rPr>
              <a:t>시장 동향</a:t>
            </a:r>
          </a:p>
        </p:txBody>
      </p:sp>
      <p:grpSp>
        <p:nvGrpSpPr>
          <p:cNvPr name="Group 7" id="7"/>
          <p:cNvGrpSpPr/>
          <p:nvPr/>
        </p:nvGrpSpPr>
        <p:grpSpPr>
          <a:xfrm rot="0">
            <a:off x="1028700" y="1330298"/>
            <a:ext cx="650534" cy="650534"/>
            <a:chOff x="0" y="0"/>
            <a:chExt cx="867378" cy="867378"/>
          </a:xfrm>
        </p:grpSpPr>
        <p:sp>
          <p:nvSpPr>
            <p:cNvPr name="AutoShape 8" id="8"/>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9" id="9"/>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10" id="10"/>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11" id="11"/>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
        <p:nvSpPr>
          <p:cNvPr name="TextBox 12" id="12"/>
          <p:cNvSpPr txBox="true"/>
          <p:nvPr/>
        </p:nvSpPr>
        <p:spPr>
          <a:xfrm rot="0">
            <a:off x="1982796" y="1257103"/>
            <a:ext cx="8192746" cy="930275"/>
          </a:xfrm>
          <a:prstGeom prst="rect">
            <a:avLst/>
          </a:prstGeom>
        </p:spPr>
        <p:txBody>
          <a:bodyPr anchor="t" rtlCol="false" tIns="0" lIns="0" bIns="0" rIns="0">
            <a:spAutoFit/>
          </a:bodyPr>
          <a:lstStyle/>
          <a:p>
            <a:pPr algn="l">
              <a:lnSpc>
                <a:spcPts val="6999"/>
              </a:lnSpc>
            </a:pPr>
            <a:r>
              <a:rPr lang="en-US" b="true" sz="6999" spc="-209">
                <a:solidFill>
                  <a:srgbClr val="4A60DD"/>
                </a:solidFill>
                <a:latin typeface="Tlab 돋움 레귤러 Bold"/>
                <a:ea typeface="Tlab 돋움 레귤러 Bold"/>
                <a:cs typeface="Tlab 돋움 레귤러 Bold"/>
                <a:sym typeface="Tlab 돋움 레귤러 Bold"/>
              </a:rPr>
              <a:t>시장 분석</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sp>
        <p:nvSpPr>
          <p:cNvPr name="TextBox 2" id="2"/>
          <p:cNvSpPr txBox="true"/>
          <p:nvPr/>
        </p:nvSpPr>
        <p:spPr>
          <a:xfrm rot="0">
            <a:off x="1982796" y="1257103"/>
            <a:ext cx="8192746" cy="930275"/>
          </a:xfrm>
          <a:prstGeom prst="rect">
            <a:avLst/>
          </a:prstGeom>
        </p:spPr>
        <p:txBody>
          <a:bodyPr anchor="t" rtlCol="false" tIns="0" lIns="0" bIns="0" rIns="0">
            <a:spAutoFit/>
          </a:bodyPr>
          <a:lstStyle/>
          <a:p>
            <a:pPr algn="l">
              <a:lnSpc>
                <a:spcPts val="6999"/>
              </a:lnSpc>
            </a:pPr>
            <a:r>
              <a:rPr lang="en-US" b="true" sz="6999" spc="-209">
                <a:solidFill>
                  <a:srgbClr val="4A60DD"/>
                </a:solidFill>
                <a:latin typeface="Tlab 돋움 레귤러 Bold"/>
                <a:ea typeface="Tlab 돋움 레귤러 Bold"/>
                <a:cs typeface="Tlab 돋움 레귤러 Bold"/>
                <a:sym typeface="Tlab 돋움 레귤러 Bold"/>
              </a:rPr>
              <a:t>시장 분석</a:t>
            </a:r>
          </a:p>
        </p:txBody>
      </p:sp>
      <p:sp>
        <p:nvSpPr>
          <p:cNvPr name="TextBox 3" id="3"/>
          <p:cNvSpPr txBox="true"/>
          <p:nvPr/>
        </p:nvSpPr>
        <p:spPr>
          <a:xfrm rot="0">
            <a:off x="1028700" y="6736670"/>
            <a:ext cx="8896883" cy="2082163"/>
          </a:xfrm>
          <a:prstGeom prst="rect">
            <a:avLst/>
          </a:prstGeom>
        </p:spPr>
        <p:txBody>
          <a:bodyPr anchor="t" rtlCol="false" tIns="0" lIns="0" bIns="0" rIns="0">
            <a:spAutoFit/>
          </a:bodyPr>
          <a:lstStyle/>
          <a:p>
            <a:pPr algn="l">
              <a:lnSpc>
                <a:spcPts val="3360"/>
              </a:lnSpc>
            </a:pPr>
            <a:r>
              <a:rPr lang="en-US" sz="2400">
                <a:solidFill>
                  <a:srgbClr val="292929"/>
                </a:solidFill>
                <a:latin typeface="Tlab 돋움 레귤러"/>
                <a:ea typeface="Tlab 돋움 레귤러"/>
                <a:cs typeface="Tlab 돋움 레귤러"/>
                <a:sym typeface="Tlab 돋움 레귤러"/>
              </a:rPr>
              <a:t>Lorem ipsum dolor sit amet, consectetur adipiscing elit. Integer elementum, ex eu pharetra pharetra, ligula velit suscipit libero, vel suscipit lectus est in magna. Donec et egestas justo, vel tempus ipsum. Aenean at lectus nec mauris molestie consectetur ac in massa.</a:t>
            </a:r>
            <a:r>
              <a:rPr lang="en-US" sz="2400">
                <a:solidFill>
                  <a:srgbClr val="292929"/>
                </a:solidFill>
                <a:latin typeface="Tlab 돋움 레귤러"/>
                <a:ea typeface="Tlab 돋움 레귤러"/>
                <a:cs typeface="Tlab 돋움 레귤러"/>
                <a:sym typeface="Tlab 돋움 레귤러"/>
              </a:rPr>
              <a:t> </a:t>
            </a:r>
          </a:p>
        </p:txBody>
      </p:sp>
      <p:sp>
        <p:nvSpPr>
          <p:cNvPr name="TextBox 4" id="4"/>
          <p:cNvSpPr txBox="true"/>
          <p:nvPr/>
        </p:nvSpPr>
        <p:spPr>
          <a:xfrm rot="0">
            <a:off x="1028700" y="3530641"/>
            <a:ext cx="8896883" cy="2082163"/>
          </a:xfrm>
          <a:prstGeom prst="rect">
            <a:avLst/>
          </a:prstGeom>
        </p:spPr>
        <p:txBody>
          <a:bodyPr anchor="t" rtlCol="false" tIns="0" lIns="0" bIns="0" rIns="0">
            <a:spAutoFit/>
          </a:bodyPr>
          <a:lstStyle/>
          <a:p>
            <a:pPr algn="l">
              <a:lnSpc>
                <a:spcPts val="3360"/>
              </a:lnSpc>
            </a:pPr>
            <a:r>
              <a:rPr lang="en-US" sz="2400">
                <a:solidFill>
                  <a:srgbClr val="292929"/>
                </a:solidFill>
                <a:latin typeface="Tlab 돋움 레귤러"/>
                <a:ea typeface="Tlab 돋움 레귤러"/>
                <a:cs typeface="Tlab 돋움 레귤러"/>
                <a:sym typeface="Tlab 돋움 레귤러"/>
              </a:rPr>
              <a:t>Lorem ipsum dolor sit amet, consectetur adipiscing elit. Integer elementum, ex eu pharetra pharetra, ligula velit suscipit libero, vel suscipit lectus est in magna. Donec et egestas justo, vel tempus ipsum. Aenean at lectus nec mauris molestie consectetur ac in massa.</a:t>
            </a:r>
            <a:r>
              <a:rPr lang="en-US" sz="2400">
                <a:solidFill>
                  <a:srgbClr val="292929"/>
                </a:solidFill>
                <a:latin typeface="Tlab 돋움 레귤러"/>
                <a:ea typeface="Tlab 돋움 레귤러"/>
                <a:cs typeface="Tlab 돋움 레귤러"/>
                <a:sym typeface="Tlab 돋움 레귤러"/>
              </a:rPr>
              <a:t> </a:t>
            </a:r>
          </a:p>
        </p:txBody>
      </p:sp>
      <p:sp>
        <p:nvSpPr>
          <p:cNvPr name="TextBox 5" id="5"/>
          <p:cNvSpPr txBox="true"/>
          <p:nvPr/>
        </p:nvSpPr>
        <p:spPr>
          <a:xfrm rot="0">
            <a:off x="1028700" y="2690730"/>
            <a:ext cx="5389995" cy="648963"/>
          </a:xfrm>
          <a:prstGeom prst="rect">
            <a:avLst/>
          </a:prstGeom>
        </p:spPr>
        <p:txBody>
          <a:bodyPr anchor="t" rtlCol="false" tIns="0" lIns="0" bIns="0" rIns="0">
            <a:spAutoFit/>
          </a:bodyPr>
          <a:lstStyle/>
          <a:p>
            <a:pPr algn="l">
              <a:lnSpc>
                <a:spcPts val="5600"/>
              </a:lnSpc>
            </a:pPr>
            <a:r>
              <a:rPr lang="en-US" sz="2800" spc="28" b="true">
                <a:solidFill>
                  <a:srgbClr val="4A60DD"/>
                </a:solidFill>
                <a:latin typeface="Tlab 돋움 레귤러 Bold"/>
                <a:ea typeface="Tlab 돋움 레귤러 Bold"/>
                <a:cs typeface="Tlab 돋움 레귤러 Bold"/>
                <a:sym typeface="Tlab 돋움 레귤러 Bold"/>
              </a:rPr>
              <a:t>소비패턴</a:t>
            </a:r>
          </a:p>
        </p:txBody>
      </p:sp>
      <p:sp>
        <p:nvSpPr>
          <p:cNvPr name="TextBox 6" id="6"/>
          <p:cNvSpPr txBox="true"/>
          <p:nvPr/>
        </p:nvSpPr>
        <p:spPr>
          <a:xfrm rot="0">
            <a:off x="1028700" y="5883235"/>
            <a:ext cx="5389995" cy="648963"/>
          </a:xfrm>
          <a:prstGeom prst="rect">
            <a:avLst/>
          </a:prstGeom>
        </p:spPr>
        <p:txBody>
          <a:bodyPr anchor="t" rtlCol="false" tIns="0" lIns="0" bIns="0" rIns="0">
            <a:spAutoFit/>
          </a:bodyPr>
          <a:lstStyle/>
          <a:p>
            <a:pPr algn="l">
              <a:lnSpc>
                <a:spcPts val="5600"/>
              </a:lnSpc>
            </a:pPr>
            <a:r>
              <a:rPr lang="en-US" sz="2800" spc="28" b="true">
                <a:solidFill>
                  <a:srgbClr val="4A60DD"/>
                </a:solidFill>
                <a:latin typeface="Tlab 돋움 레귤러 Bold"/>
                <a:ea typeface="Tlab 돋움 레귤러 Bold"/>
                <a:cs typeface="Tlab 돋움 레귤러 Bold"/>
                <a:sym typeface="Tlab 돋움 레귤러 Bold"/>
              </a:rPr>
              <a:t>시장 동향</a:t>
            </a:r>
          </a:p>
        </p:txBody>
      </p:sp>
      <p:pic>
        <p:nvPicPr>
          <p:cNvPr name="Picture 7" id="7"/>
          <p:cNvPicPr>
            <a:picLocks noChangeAspect="true"/>
          </p:cNvPicPr>
          <p:nvPr/>
        </p:nvPicPr>
        <p:blipFill>
          <a:blip r:embed="rId2"/>
          <a:stretch>
            <a:fillRect/>
          </a:stretch>
        </p:blipFill>
        <p:spPr>
          <a:xfrm rot="0">
            <a:off x="10107367" y="2269154"/>
            <a:ext cx="7802108" cy="7630086"/>
          </a:xfrm>
          <a:prstGeom prst="rect">
            <a:avLst/>
          </a:prstGeom>
        </p:spPr>
      </p:pic>
      <p:grpSp>
        <p:nvGrpSpPr>
          <p:cNvPr name="Group 8" id="8"/>
          <p:cNvGrpSpPr/>
          <p:nvPr/>
        </p:nvGrpSpPr>
        <p:grpSpPr>
          <a:xfrm rot="0">
            <a:off x="1028700" y="1330298"/>
            <a:ext cx="650534" cy="650534"/>
            <a:chOff x="0" y="0"/>
            <a:chExt cx="867378" cy="867378"/>
          </a:xfrm>
        </p:grpSpPr>
        <p:sp>
          <p:nvSpPr>
            <p:cNvPr name="AutoShape 9" id="9"/>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10" id="10"/>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11" id="11"/>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12" id="12"/>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sp>
        <p:nvSpPr>
          <p:cNvPr name="AutoShape 2" id="2"/>
          <p:cNvSpPr/>
          <p:nvPr/>
        </p:nvSpPr>
        <p:spPr>
          <a:xfrm flipH="true" flipV="true">
            <a:off x="6055074" y="2963586"/>
            <a:ext cx="0" cy="6246630"/>
          </a:xfrm>
          <a:prstGeom prst="line">
            <a:avLst/>
          </a:prstGeom>
          <a:ln cap="rnd" w="38100">
            <a:solidFill>
              <a:srgbClr val="424242"/>
            </a:solidFill>
            <a:prstDash val="sysDot"/>
            <a:headEnd type="none" len="sm" w="sm"/>
            <a:tailEnd type="none" len="sm" w="sm"/>
          </a:ln>
        </p:spPr>
      </p:sp>
      <p:sp>
        <p:nvSpPr>
          <p:cNvPr name="AutoShape 3" id="3"/>
          <p:cNvSpPr/>
          <p:nvPr/>
        </p:nvSpPr>
        <p:spPr>
          <a:xfrm flipH="true" flipV="true">
            <a:off x="12227198" y="2963586"/>
            <a:ext cx="0" cy="6246630"/>
          </a:xfrm>
          <a:prstGeom prst="line">
            <a:avLst/>
          </a:prstGeom>
          <a:ln cap="rnd" w="38100">
            <a:solidFill>
              <a:srgbClr val="424242"/>
            </a:solidFill>
            <a:prstDash val="sysDot"/>
            <a:headEnd type="none" len="sm" w="sm"/>
            <a:tailEnd type="none" len="sm" w="sm"/>
          </a:ln>
        </p:spPr>
      </p:sp>
      <p:sp>
        <p:nvSpPr>
          <p:cNvPr name="Freeform 4" id="4"/>
          <p:cNvSpPr/>
          <p:nvPr/>
        </p:nvSpPr>
        <p:spPr>
          <a:xfrm flipH="false" flipV="false" rot="0">
            <a:off x="7549407" y="4198281"/>
            <a:ext cx="3158800" cy="2303053"/>
          </a:xfrm>
          <a:custGeom>
            <a:avLst/>
            <a:gdLst/>
            <a:ahLst/>
            <a:cxnLst/>
            <a:rect r="r" b="b" t="t" l="l"/>
            <a:pathLst>
              <a:path h="2303053" w="3158800">
                <a:moveTo>
                  <a:pt x="0" y="0"/>
                </a:moveTo>
                <a:lnTo>
                  <a:pt x="3158801" y="0"/>
                </a:lnTo>
                <a:lnTo>
                  <a:pt x="3158801" y="2303053"/>
                </a:lnTo>
                <a:lnTo>
                  <a:pt x="0" y="23030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850525" y="3971102"/>
            <a:ext cx="2591485" cy="2530232"/>
          </a:xfrm>
          <a:custGeom>
            <a:avLst/>
            <a:gdLst/>
            <a:ahLst/>
            <a:cxnLst/>
            <a:rect r="r" b="b" t="t" l="l"/>
            <a:pathLst>
              <a:path h="2530232" w="2591485">
                <a:moveTo>
                  <a:pt x="0" y="0"/>
                </a:moveTo>
                <a:lnTo>
                  <a:pt x="2591485" y="0"/>
                </a:lnTo>
                <a:lnTo>
                  <a:pt x="2591485" y="2530232"/>
                </a:lnTo>
                <a:lnTo>
                  <a:pt x="0" y="2530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280109" y="4094052"/>
            <a:ext cx="4066042" cy="2520946"/>
          </a:xfrm>
          <a:custGeom>
            <a:avLst/>
            <a:gdLst/>
            <a:ahLst/>
            <a:cxnLst/>
            <a:rect r="r" b="b" t="t" l="l"/>
            <a:pathLst>
              <a:path h="2520946" w="4066042">
                <a:moveTo>
                  <a:pt x="0" y="0"/>
                </a:moveTo>
                <a:lnTo>
                  <a:pt x="4066042" y="0"/>
                </a:lnTo>
                <a:lnTo>
                  <a:pt x="4066042" y="2520946"/>
                </a:lnTo>
                <a:lnTo>
                  <a:pt x="0" y="25209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194864" y="7348656"/>
            <a:ext cx="3612435" cy="1099786"/>
          </a:xfrm>
          <a:prstGeom prst="rect">
            <a:avLst/>
          </a:prstGeom>
        </p:spPr>
        <p:txBody>
          <a:bodyPr anchor="t" rtlCol="false" tIns="0" lIns="0" bIns="0" rIns="0">
            <a:spAutoFit/>
          </a:bodyPr>
          <a:lstStyle/>
          <a:p>
            <a:pPr algn="ctr">
              <a:lnSpc>
                <a:spcPts val="4481"/>
              </a:lnSpc>
            </a:pPr>
            <a:r>
              <a:rPr lang="en-US" b="true" sz="3201" spc="-32">
                <a:solidFill>
                  <a:srgbClr val="424242"/>
                </a:solidFill>
                <a:latin typeface="Tlab 돋움 레귤러 Bold"/>
                <a:ea typeface="Tlab 돋움 레귤러 Bold"/>
                <a:cs typeface="Tlab 돋움 레귤러 Bold"/>
                <a:sym typeface="Tlab 돋움 레귤러 Bold"/>
              </a:rPr>
              <a:t>효율적인 업무</a:t>
            </a:r>
          </a:p>
          <a:p>
            <a:pPr algn="ctr">
              <a:lnSpc>
                <a:spcPts val="4481"/>
              </a:lnSpc>
            </a:pPr>
            <a:r>
              <a:rPr lang="en-US" b="true" sz="3201" spc="-32">
                <a:solidFill>
                  <a:srgbClr val="424242"/>
                </a:solidFill>
                <a:latin typeface="Tlab 돋움 레귤러 Bold"/>
                <a:ea typeface="Tlab 돋움 레귤러 Bold"/>
                <a:cs typeface="Tlab 돋움 레귤러 Bold"/>
                <a:sym typeface="Tlab 돋움 레귤러 Bold"/>
              </a:rPr>
              <a:t>프로세스 개선</a:t>
            </a:r>
          </a:p>
        </p:txBody>
      </p:sp>
      <p:sp>
        <p:nvSpPr>
          <p:cNvPr name="TextBox 8" id="8"/>
          <p:cNvSpPr txBox="true"/>
          <p:nvPr/>
        </p:nvSpPr>
        <p:spPr>
          <a:xfrm rot="0">
            <a:off x="7369524" y="7348656"/>
            <a:ext cx="3612435" cy="1099786"/>
          </a:xfrm>
          <a:prstGeom prst="rect">
            <a:avLst/>
          </a:prstGeom>
        </p:spPr>
        <p:txBody>
          <a:bodyPr anchor="t" rtlCol="false" tIns="0" lIns="0" bIns="0" rIns="0">
            <a:spAutoFit/>
          </a:bodyPr>
          <a:lstStyle/>
          <a:p>
            <a:pPr algn="ctr">
              <a:lnSpc>
                <a:spcPts val="4481"/>
              </a:lnSpc>
            </a:pPr>
            <a:r>
              <a:rPr lang="en-US" b="true" sz="3201" spc="-32">
                <a:solidFill>
                  <a:srgbClr val="424242"/>
                </a:solidFill>
                <a:latin typeface="Tlab 돋움 레귤러 Bold"/>
                <a:ea typeface="Tlab 돋움 레귤러 Bold"/>
                <a:cs typeface="Tlab 돋움 레귤러 Bold"/>
                <a:sym typeface="Tlab 돋움 레귤러 Bold"/>
              </a:rPr>
              <a:t>신규 제품 출시로 </a:t>
            </a:r>
          </a:p>
          <a:p>
            <a:pPr algn="ctr">
              <a:lnSpc>
                <a:spcPts val="4481"/>
              </a:lnSpc>
            </a:pPr>
            <a:r>
              <a:rPr lang="en-US" b="true" sz="3201" spc="-32">
                <a:solidFill>
                  <a:srgbClr val="424242"/>
                </a:solidFill>
                <a:latin typeface="Tlab 돋움 레귤러 Bold"/>
                <a:ea typeface="Tlab 돋움 레귤러 Bold"/>
                <a:cs typeface="Tlab 돋움 레귤러 Bold"/>
                <a:sym typeface="Tlab 돋움 레귤러 Bold"/>
              </a:rPr>
              <a:t>매출 증가 도모</a:t>
            </a:r>
          </a:p>
        </p:txBody>
      </p:sp>
      <p:sp>
        <p:nvSpPr>
          <p:cNvPr name="TextBox 9" id="9"/>
          <p:cNvSpPr txBox="true"/>
          <p:nvPr/>
        </p:nvSpPr>
        <p:spPr>
          <a:xfrm rot="0">
            <a:off x="13506912" y="7348656"/>
            <a:ext cx="3612435" cy="1099786"/>
          </a:xfrm>
          <a:prstGeom prst="rect">
            <a:avLst/>
          </a:prstGeom>
        </p:spPr>
        <p:txBody>
          <a:bodyPr anchor="t" rtlCol="false" tIns="0" lIns="0" bIns="0" rIns="0">
            <a:spAutoFit/>
          </a:bodyPr>
          <a:lstStyle/>
          <a:p>
            <a:pPr algn="ctr">
              <a:lnSpc>
                <a:spcPts val="4481"/>
              </a:lnSpc>
            </a:pPr>
            <a:r>
              <a:rPr lang="en-US" b="true" sz="3201" spc="-32">
                <a:solidFill>
                  <a:srgbClr val="424242"/>
                </a:solidFill>
                <a:latin typeface="Tlab 돋움 레귤러 Bold"/>
                <a:ea typeface="Tlab 돋움 레귤러 Bold"/>
                <a:cs typeface="Tlab 돋움 레귤러 Bold"/>
                <a:sym typeface="Tlab 돋움 레귤러 Bold"/>
              </a:rPr>
              <a:t>고객 만족도</a:t>
            </a:r>
          </a:p>
          <a:p>
            <a:pPr algn="ctr">
              <a:lnSpc>
                <a:spcPts val="4481"/>
              </a:lnSpc>
            </a:pPr>
            <a:r>
              <a:rPr lang="en-US" b="true" sz="3201" spc="-32">
                <a:solidFill>
                  <a:srgbClr val="424242"/>
                </a:solidFill>
                <a:latin typeface="Tlab 돋움 레귤러 Bold"/>
                <a:ea typeface="Tlab 돋움 레귤러 Bold"/>
                <a:cs typeface="Tlab 돋움 레귤러 Bold"/>
                <a:sym typeface="Tlab 돋움 레귤러 Bold"/>
              </a:rPr>
              <a:t>증진</a:t>
            </a:r>
          </a:p>
        </p:txBody>
      </p:sp>
      <p:sp>
        <p:nvSpPr>
          <p:cNvPr name="TextBox 10" id="10"/>
          <p:cNvSpPr txBox="true"/>
          <p:nvPr/>
        </p:nvSpPr>
        <p:spPr>
          <a:xfrm rot="0">
            <a:off x="1982796" y="1257103"/>
            <a:ext cx="14582912" cy="930275"/>
          </a:xfrm>
          <a:prstGeom prst="rect">
            <a:avLst/>
          </a:prstGeom>
        </p:spPr>
        <p:txBody>
          <a:bodyPr anchor="t" rtlCol="false" tIns="0" lIns="0" bIns="0" rIns="0">
            <a:spAutoFit/>
          </a:bodyPr>
          <a:lstStyle/>
          <a:p>
            <a:pPr algn="l">
              <a:lnSpc>
                <a:spcPts val="6999"/>
              </a:lnSpc>
            </a:pPr>
            <a:r>
              <a:rPr lang="en-US" b="true" sz="6999" spc="-209">
                <a:solidFill>
                  <a:srgbClr val="4A60DD"/>
                </a:solidFill>
                <a:latin typeface="Tlab 돋움 레귤러 Bold"/>
                <a:ea typeface="Tlab 돋움 레귤러 Bold"/>
                <a:cs typeface="Tlab 돋움 레귤러 Bold"/>
                <a:sym typeface="Tlab 돋움 레귤러 Bold"/>
              </a:rPr>
              <a:t>프로젝트 목적</a:t>
            </a:r>
          </a:p>
        </p:txBody>
      </p:sp>
      <p:sp>
        <p:nvSpPr>
          <p:cNvPr name="AutoShape 11" id="11"/>
          <p:cNvSpPr/>
          <p:nvPr/>
        </p:nvSpPr>
        <p:spPr>
          <a:xfrm>
            <a:off x="0" y="2953602"/>
            <a:ext cx="18288000" cy="0"/>
          </a:xfrm>
          <a:prstGeom prst="line">
            <a:avLst/>
          </a:prstGeom>
          <a:ln cap="rnd" w="38100">
            <a:solidFill>
              <a:srgbClr val="424242"/>
            </a:solidFill>
            <a:prstDash val="sysDot"/>
            <a:headEnd type="none" len="sm" w="sm"/>
            <a:tailEnd type="none" len="sm" w="sm"/>
          </a:ln>
        </p:spPr>
      </p:sp>
      <p:sp>
        <p:nvSpPr>
          <p:cNvPr name="AutoShape 12" id="12"/>
          <p:cNvSpPr/>
          <p:nvPr/>
        </p:nvSpPr>
        <p:spPr>
          <a:xfrm>
            <a:off x="0" y="9258300"/>
            <a:ext cx="18288000" cy="0"/>
          </a:xfrm>
          <a:prstGeom prst="line">
            <a:avLst/>
          </a:prstGeom>
          <a:ln cap="rnd" w="38100">
            <a:solidFill>
              <a:srgbClr val="424242"/>
            </a:solidFill>
            <a:prstDash val="sysDot"/>
            <a:headEnd type="none" len="sm" w="sm"/>
            <a:tailEnd type="none" len="sm" w="sm"/>
          </a:ln>
        </p:spPr>
      </p:sp>
      <p:grpSp>
        <p:nvGrpSpPr>
          <p:cNvPr name="Group 13" id="13"/>
          <p:cNvGrpSpPr/>
          <p:nvPr/>
        </p:nvGrpSpPr>
        <p:grpSpPr>
          <a:xfrm rot="0">
            <a:off x="1028700" y="1330298"/>
            <a:ext cx="650534" cy="650534"/>
            <a:chOff x="0" y="0"/>
            <a:chExt cx="867378" cy="867378"/>
          </a:xfrm>
        </p:grpSpPr>
        <p:sp>
          <p:nvSpPr>
            <p:cNvPr name="AutoShape 14" id="14"/>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15" id="15"/>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16" id="16"/>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17" id="17"/>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EDEDEE"/>
        </a:solidFill>
      </p:bgPr>
    </p:bg>
    <p:spTree>
      <p:nvGrpSpPr>
        <p:cNvPr id="1" name=""/>
        <p:cNvGrpSpPr/>
        <p:nvPr/>
      </p:nvGrpSpPr>
      <p:grpSpPr>
        <a:xfrm>
          <a:off x="0" y="0"/>
          <a:ext cx="0" cy="0"/>
          <a:chOff x="0" y="0"/>
          <a:chExt cx="0" cy="0"/>
        </a:xfrm>
      </p:grpSpPr>
      <p:sp>
        <p:nvSpPr>
          <p:cNvPr name="TextBox 2" id="2"/>
          <p:cNvSpPr txBox="true"/>
          <p:nvPr/>
        </p:nvSpPr>
        <p:spPr>
          <a:xfrm rot="0">
            <a:off x="1982796" y="1257103"/>
            <a:ext cx="14586701" cy="930275"/>
          </a:xfrm>
          <a:prstGeom prst="rect">
            <a:avLst/>
          </a:prstGeom>
        </p:spPr>
        <p:txBody>
          <a:bodyPr anchor="t" rtlCol="false" tIns="0" lIns="0" bIns="0" rIns="0">
            <a:spAutoFit/>
          </a:bodyPr>
          <a:lstStyle/>
          <a:p>
            <a:pPr algn="l">
              <a:lnSpc>
                <a:spcPts val="6999"/>
              </a:lnSpc>
            </a:pPr>
            <a:r>
              <a:rPr lang="en-US" b="true" sz="6999" spc="-209">
                <a:solidFill>
                  <a:srgbClr val="4A60DD"/>
                </a:solidFill>
                <a:latin typeface="Tlab 돋움 레귤러 Bold"/>
                <a:ea typeface="Tlab 돋움 레귤러 Bold"/>
                <a:cs typeface="Tlab 돋움 레귤러 Bold"/>
                <a:sym typeface="Tlab 돋움 레귤러 Bold"/>
              </a:rPr>
              <a:t>SMART 목표</a:t>
            </a:r>
          </a:p>
        </p:txBody>
      </p:sp>
      <p:sp>
        <p:nvSpPr>
          <p:cNvPr name="TextBox 3" id="3"/>
          <p:cNvSpPr txBox="true"/>
          <p:nvPr/>
        </p:nvSpPr>
        <p:spPr>
          <a:xfrm rot="0">
            <a:off x="1317138" y="3578500"/>
            <a:ext cx="6991253" cy="860424"/>
          </a:xfrm>
          <a:prstGeom prst="rect">
            <a:avLst/>
          </a:prstGeom>
        </p:spPr>
        <p:txBody>
          <a:bodyPr anchor="t" rtlCol="false" tIns="0" lIns="0" bIns="0" rIns="0">
            <a:spAutoFit/>
          </a:bodyPr>
          <a:lstStyle/>
          <a:p>
            <a:pPr algn="l">
              <a:lnSpc>
                <a:spcPts val="3500"/>
              </a:lnSpc>
            </a:pPr>
            <a:r>
              <a:rPr lang="en-US" sz="2500" spc="-25">
                <a:solidFill>
                  <a:srgbClr val="424242"/>
                </a:solidFill>
                <a:latin typeface="Tlab 돋움 레귤러"/>
                <a:ea typeface="Tlab 돋움 레귤러"/>
                <a:cs typeface="Tlab 돋움 레귤러"/>
                <a:sym typeface="Tlab 돋움 레귤러"/>
              </a:rPr>
              <a:t>온라인 광고 캠페인을 통해 웹사이트 방문자 수를 </a:t>
            </a:r>
          </a:p>
          <a:p>
            <a:pPr algn="l">
              <a:lnSpc>
                <a:spcPts val="3500"/>
              </a:lnSpc>
            </a:pPr>
            <a:r>
              <a:rPr lang="en-US" sz="2500" spc="-25">
                <a:solidFill>
                  <a:srgbClr val="424242"/>
                </a:solidFill>
                <a:latin typeface="Tlab 돋움 레귤러"/>
                <a:ea typeface="Tlab 돋움 레귤러"/>
                <a:cs typeface="Tlab 돋움 레귤러"/>
                <a:sym typeface="Tlab 돋움 레귤러"/>
              </a:rPr>
              <a:t>증가시킨다.</a:t>
            </a:r>
          </a:p>
        </p:txBody>
      </p:sp>
      <p:sp>
        <p:nvSpPr>
          <p:cNvPr name="TextBox 4" id="4"/>
          <p:cNvSpPr txBox="true"/>
          <p:nvPr/>
        </p:nvSpPr>
        <p:spPr>
          <a:xfrm rot="0">
            <a:off x="9298466" y="3578500"/>
            <a:ext cx="7714471" cy="860424"/>
          </a:xfrm>
          <a:prstGeom prst="rect">
            <a:avLst/>
          </a:prstGeom>
        </p:spPr>
        <p:txBody>
          <a:bodyPr anchor="t" rtlCol="false" tIns="0" lIns="0" bIns="0" rIns="0">
            <a:spAutoFit/>
          </a:bodyPr>
          <a:lstStyle/>
          <a:p>
            <a:pPr algn="l">
              <a:lnSpc>
                <a:spcPts val="3500"/>
              </a:lnSpc>
            </a:pPr>
            <a:r>
              <a:rPr lang="en-US" sz="2500" spc="-25">
                <a:solidFill>
                  <a:srgbClr val="424242"/>
                </a:solidFill>
                <a:latin typeface="Tlab 돋움 레귤러"/>
                <a:ea typeface="Tlab 돋움 레귤러"/>
                <a:cs typeface="Tlab 돋움 레귤러"/>
                <a:sym typeface="Tlab 돋움 레귤러"/>
              </a:rPr>
              <a:t>온라인 광고 캠페인을 통해 웹사이트 방문자 수를 </a:t>
            </a:r>
          </a:p>
          <a:p>
            <a:pPr algn="l">
              <a:lnSpc>
                <a:spcPts val="3500"/>
              </a:lnSpc>
            </a:pPr>
            <a:r>
              <a:rPr lang="en-US" sz="2500" spc="-25">
                <a:solidFill>
                  <a:srgbClr val="424242"/>
                </a:solidFill>
                <a:latin typeface="Tlab 돋움 레귤러"/>
                <a:ea typeface="Tlab 돋움 레귤러"/>
                <a:cs typeface="Tlab 돋움 레귤러"/>
                <a:sym typeface="Tlab 돋움 레귤러"/>
              </a:rPr>
              <a:t>증가시킨다.</a:t>
            </a:r>
          </a:p>
        </p:txBody>
      </p:sp>
      <p:sp>
        <p:nvSpPr>
          <p:cNvPr name="TextBox 5" id="5"/>
          <p:cNvSpPr txBox="true"/>
          <p:nvPr/>
        </p:nvSpPr>
        <p:spPr>
          <a:xfrm rot="0">
            <a:off x="1317138" y="5721243"/>
            <a:ext cx="6991253" cy="422274"/>
          </a:xfrm>
          <a:prstGeom prst="rect">
            <a:avLst/>
          </a:prstGeom>
        </p:spPr>
        <p:txBody>
          <a:bodyPr anchor="t" rtlCol="false" tIns="0" lIns="0" bIns="0" rIns="0">
            <a:spAutoFit/>
          </a:bodyPr>
          <a:lstStyle/>
          <a:p>
            <a:pPr algn="l">
              <a:lnSpc>
                <a:spcPts val="3500"/>
              </a:lnSpc>
            </a:pPr>
            <a:r>
              <a:rPr lang="en-US" sz="2500" spc="-25">
                <a:solidFill>
                  <a:srgbClr val="424242"/>
                </a:solidFill>
                <a:latin typeface="Tlab 돋움 레귤러"/>
                <a:ea typeface="Tlab 돋움 레귤러"/>
                <a:cs typeface="Tlab 돋움 레귤러"/>
                <a:sym typeface="Tlab 돋움 레귤러"/>
              </a:rPr>
              <a:t>3개월 안에 웹사이트 방문자 수를 15% 증가시킨다.</a:t>
            </a:r>
          </a:p>
        </p:txBody>
      </p:sp>
      <p:sp>
        <p:nvSpPr>
          <p:cNvPr name="TextBox 6" id="6"/>
          <p:cNvSpPr txBox="true"/>
          <p:nvPr/>
        </p:nvSpPr>
        <p:spPr>
          <a:xfrm rot="0">
            <a:off x="9298466" y="5721243"/>
            <a:ext cx="7714471" cy="422274"/>
          </a:xfrm>
          <a:prstGeom prst="rect">
            <a:avLst/>
          </a:prstGeom>
        </p:spPr>
        <p:txBody>
          <a:bodyPr anchor="t" rtlCol="false" tIns="0" lIns="0" bIns="0" rIns="0">
            <a:spAutoFit/>
          </a:bodyPr>
          <a:lstStyle/>
          <a:p>
            <a:pPr algn="l">
              <a:lnSpc>
                <a:spcPts val="3500"/>
              </a:lnSpc>
            </a:pPr>
            <a:r>
              <a:rPr lang="en-US" sz="2500" spc="-25">
                <a:solidFill>
                  <a:srgbClr val="424242"/>
                </a:solidFill>
                <a:latin typeface="Tlab 돋움 레귤러"/>
                <a:ea typeface="Tlab 돋움 레귤러"/>
                <a:cs typeface="Tlab 돋움 레귤러"/>
                <a:sym typeface="Tlab 돋움 레귤러"/>
              </a:rPr>
              <a:t>목표 달성 기한은 다음 분기 종료일까지이다.</a:t>
            </a:r>
          </a:p>
        </p:txBody>
      </p:sp>
      <p:sp>
        <p:nvSpPr>
          <p:cNvPr name="TextBox 7" id="7"/>
          <p:cNvSpPr txBox="true"/>
          <p:nvPr/>
        </p:nvSpPr>
        <p:spPr>
          <a:xfrm rot="0">
            <a:off x="1317138" y="7429265"/>
            <a:ext cx="6991253" cy="860424"/>
          </a:xfrm>
          <a:prstGeom prst="rect">
            <a:avLst/>
          </a:prstGeom>
        </p:spPr>
        <p:txBody>
          <a:bodyPr anchor="t" rtlCol="false" tIns="0" lIns="0" bIns="0" rIns="0">
            <a:spAutoFit/>
          </a:bodyPr>
          <a:lstStyle/>
          <a:p>
            <a:pPr algn="l">
              <a:lnSpc>
                <a:spcPts val="3500"/>
              </a:lnSpc>
            </a:pPr>
            <a:r>
              <a:rPr lang="en-US" sz="2500" spc="-25">
                <a:solidFill>
                  <a:srgbClr val="424242"/>
                </a:solidFill>
                <a:latin typeface="Tlab 돋움 레귤러"/>
                <a:ea typeface="Tlab 돋움 레귤러"/>
                <a:cs typeface="Tlab 돋움 레귤러"/>
                <a:sym typeface="Tlab 돋움 레귤러"/>
              </a:rPr>
              <a:t>추가 광고 예산을 활용하고, 소셜 미디어와 </a:t>
            </a:r>
          </a:p>
          <a:p>
            <a:pPr algn="l">
              <a:lnSpc>
                <a:spcPts val="3500"/>
              </a:lnSpc>
            </a:pPr>
            <a:r>
              <a:rPr lang="en-US" sz="2500" spc="-25">
                <a:solidFill>
                  <a:srgbClr val="424242"/>
                </a:solidFill>
                <a:latin typeface="Tlab 돋움 레귤러"/>
                <a:ea typeface="Tlab 돋움 레귤러"/>
                <a:cs typeface="Tlab 돋움 레귤러"/>
                <a:sym typeface="Tlab 돋움 레귤러"/>
              </a:rPr>
              <a:t>검색 엔진 마케팅을 병행한다.</a:t>
            </a:r>
          </a:p>
        </p:txBody>
      </p:sp>
      <p:sp>
        <p:nvSpPr>
          <p:cNvPr name="TextBox 8" id="8"/>
          <p:cNvSpPr txBox="true"/>
          <p:nvPr/>
        </p:nvSpPr>
        <p:spPr>
          <a:xfrm rot="0">
            <a:off x="9298466" y="7429265"/>
            <a:ext cx="7714471" cy="1298574"/>
          </a:xfrm>
          <a:prstGeom prst="rect">
            <a:avLst/>
          </a:prstGeom>
        </p:spPr>
        <p:txBody>
          <a:bodyPr anchor="t" rtlCol="false" tIns="0" lIns="0" bIns="0" rIns="0">
            <a:spAutoFit/>
          </a:bodyPr>
          <a:lstStyle/>
          <a:p>
            <a:pPr algn="l">
              <a:lnSpc>
                <a:spcPts val="3500"/>
              </a:lnSpc>
            </a:pPr>
            <a:r>
              <a:rPr lang="en-US" sz="2500" spc="-25">
                <a:solidFill>
                  <a:srgbClr val="4A60DD"/>
                </a:solidFill>
                <a:latin typeface="Tlab 돋움 레귤러"/>
                <a:ea typeface="Tlab 돋움 레귤러"/>
                <a:cs typeface="Tlab 돋움 레귤러"/>
                <a:sym typeface="Tlab 돋움 레귤러"/>
              </a:rPr>
              <a:t>온라인 광고 캠페인을 통해 웹사이트 방문자 수를 15% 증가시키고, 이를 위해 추가 광고 예산을 활용하여 소셜 미디어와 검색 엔진 마케팅을 병행할 것이다.</a:t>
            </a:r>
          </a:p>
        </p:txBody>
      </p:sp>
      <p:sp>
        <p:nvSpPr>
          <p:cNvPr name="TextBox 9" id="9"/>
          <p:cNvSpPr txBox="true"/>
          <p:nvPr/>
        </p:nvSpPr>
        <p:spPr>
          <a:xfrm rot="0">
            <a:off x="1317138" y="2912900"/>
            <a:ext cx="3868586" cy="475361"/>
          </a:xfrm>
          <a:prstGeom prst="rect">
            <a:avLst/>
          </a:prstGeom>
        </p:spPr>
        <p:txBody>
          <a:bodyPr anchor="t" rtlCol="false" tIns="0" lIns="0" bIns="0" rIns="0">
            <a:spAutoFit/>
          </a:bodyPr>
          <a:lstStyle/>
          <a:p>
            <a:pPr algn="l">
              <a:lnSpc>
                <a:spcPts val="3892"/>
              </a:lnSpc>
            </a:pPr>
            <a:r>
              <a:rPr lang="en-US" sz="2800" spc="-28" b="true">
                <a:solidFill>
                  <a:srgbClr val="4A60DD"/>
                </a:solidFill>
                <a:latin typeface="Tlab 돋움 레귤러 Bold"/>
                <a:ea typeface="Tlab 돋움 레귤러 Bold"/>
                <a:cs typeface="Tlab 돋움 레귤러 Bold"/>
                <a:sym typeface="Tlab 돋움 레귤러 Bold"/>
              </a:rPr>
              <a:t>Specific</a:t>
            </a:r>
          </a:p>
        </p:txBody>
      </p:sp>
      <p:sp>
        <p:nvSpPr>
          <p:cNvPr name="TextBox 10" id="10"/>
          <p:cNvSpPr txBox="true"/>
          <p:nvPr/>
        </p:nvSpPr>
        <p:spPr>
          <a:xfrm rot="0">
            <a:off x="9298466" y="2912900"/>
            <a:ext cx="3868586" cy="475361"/>
          </a:xfrm>
          <a:prstGeom prst="rect">
            <a:avLst/>
          </a:prstGeom>
        </p:spPr>
        <p:txBody>
          <a:bodyPr anchor="t" rtlCol="false" tIns="0" lIns="0" bIns="0" rIns="0">
            <a:spAutoFit/>
          </a:bodyPr>
          <a:lstStyle/>
          <a:p>
            <a:pPr algn="l">
              <a:lnSpc>
                <a:spcPts val="3892"/>
              </a:lnSpc>
            </a:pPr>
            <a:r>
              <a:rPr lang="en-US" sz="2800" spc="-28" b="true">
                <a:solidFill>
                  <a:srgbClr val="4A60DD"/>
                </a:solidFill>
                <a:latin typeface="Tlab 돋움 레귤러 Bold"/>
                <a:ea typeface="Tlab 돋움 레귤러 Bold"/>
                <a:cs typeface="Tlab 돋움 레귤러 Bold"/>
                <a:sym typeface="Tlab 돋움 레귤러 Bold"/>
              </a:rPr>
              <a:t>Relevant</a:t>
            </a:r>
          </a:p>
        </p:txBody>
      </p:sp>
      <p:sp>
        <p:nvSpPr>
          <p:cNvPr name="TextBox 11" id="11"/>
          <p:cNvSpPr txBox="true"/>
          <p:nvPr/>
        </p:nvSpPr>
        <p:spPr>
          <a:xfrm rot="0">
            <a:off x="1317138" y="5065034"/>
            <a:ext cx="5448070" cy="475361"/>
          </a:xfrm>
          <a:prstGeom prst="rect">
            <a:avLst/>
          </a:prstGeom>
        </p:spPr>
        <p:txBody>
          <a:bodyPr anchor="t" rtlCol="false" tIns="0" lIns="0" bIns="0" rIns="0">
            <a:spAutoFit/>
          </a:bodyPr>
          <a:lstStyle/>
          <a:p>
            <a:pPr algn="l">
              <a:lnSpc>
                <a:spcPts val="3892"/>
              </a:lnSpc>
            </a:pPr>
            <a:r>
              <a:rPr lang="en-US" sz="2800" spc="-28" b="true">
                <a:solidFill>
                  <a:srgbClr val="4A60DD"/>
                </a:solidFill>
                <a:latin typeface="Tlab 돋움 레귤러 Bold"/>
                <a:ea typeface="Tlab 돋움 레귤러 Bold"/>
                <a:cs typeface="Tlab 돋움 레귤러 Bold"/>
                <a:sym typeface="Tlab 돋움 레귤러 Bold"/>
              </a:rPr>
              <a:t>Measurable </a:t>
            </a:r>
          </a:p>
        </p:txBody>
      </p:sp>
      <p:sp>
        <p:nvSpPr>
          <p:cNvPr name="TextBox 12" id="12"/>
          <p:cNvSpPr txBox="true"/>
          <p:nvPr/>
        </p:nvSpPr>
        <p:spPr>
          <a:xfrm rot="0">
            <a:off x="9298466" y="5065034"/>
            <a:ext cx="5448070" cy="475361"/>
          </a:xfrm>
          <a:prstGeom prst="rect">
            <a:avLst/>
          </a:prstGeom>
        </p:spPr>
        <p:txBody>
          <a:bodyPr anchor="t" rtlCol="false" tIns="0" lIns="0" bIns="0" rIns="0">
            <a:spAutoFit/>
          </a:bodyPr>
          <a:lstStyle/>
          <a:p>
            <a:pPr algn="l">
              <a:lnSpc>
                <a:spcPts val="3892"/>
              </a:lnSpc>
            </a:pPr>
            <a:r>
              <a:rPr lang="en-US" sz="2800" spc="-28" b="true">
                <a:solidFill>
                  <a:srgbClr val="4A60DD"/>
                </a:solidFill>
                <a:latin typeface="Tlab 돋움 레귤러 Bold"/>
                <a:ea typeface="Tlab 돋움 레귤러 Bold"/>
                <a:cs typeface="Tlab 돋움 레귤러 Bold"/>
                <a:sym typeface="Tlab 돋움 레귤러 Bold"/>
              </a:rPr>
              <a:t>Time-bound</a:t>
            </a:r>
          </a:p>
        </p:txBody>
      </p:sp>
      <p:sp>
        <p:nvSpPr>
          <p:cNvPr name="TextBox 13" id="13"/>
          <p:cNvSpPr txBox="true"/>
          <p:nvPr/>
        </p:nvSpPr>
        <p:spPr>
          <a:xfrm rot="0">
            <a:off x="1317138" y="6758705"/>
            <a:ext cx="5448070" cy="475361"/>
          </a:xfrm>
          <a:prstGeom prst="rect">
            <a:avLst/>
          </a:prstGeom>
        </p:spPr>
        <p:txBody>
          <a:bodyPr anchor="t" rtlCol="false" tIns="0" lIns="0" bIns="0" rIns="0">
            <a:spAutoFit/>
          </a:bodyPr>
          <a:lstStyle/>
          <a:p>
            <a:pPr algn="l">
              <a:lnSpc>
                <a:spcPts val="3892"/>
              </a:lnSpc>
            </a:pPr>
            <a:r>
              <a:rPr lang="en-US" sz="2800" spc="-28" b="true">
                <a:solidFill>
                  <a:srgbClr val="4A60DD"/>
                </a:solidFill>
                <a:latin typeface="Tlab 돋움 레귤러 Bold"/>
                <a:ea typeface="Tlab 돋움 레귤러 Bold"/>
                <a:cs typeface="Tlab 돋움 레귤러 Bold"/>
                <a:sym typeface="Tlab 돋움 레귤러 Bold"/>
              </a:rPr>
              <a:t>Achievable</a:t>
            </a:r>
          </a:p>
        </p:txBody>
      </p:sp>
      <p:sp>
        <p:nvSpPr>
          <p:cNvPr name="TextBox 14" id="14"/>
          <p:cNvSpPr txBox="true"/>
          <p:nvPr/>
        </p:nvSpPr>
        <p:spPr>
          <a:xfrm rot="0">
            <a:off x="9298466" y="6731527"/>
            <a:ext cx="5448070" cy="456311"/>
          </a:xfrm>
          <a:prstGeom prst="rect">
            <a:avLst/>
          </a:prstGeom>
        </p:spPr>
        <p:txBody>
          <a:bodyPr anchor="t" rtlCol="false" tIns="0" lIns="0" bIns="0" rIns="0">
            <a:spAutoFit/>
          </a:bodyPr>
          <a:lstStyle/>
          <a:p>
            <a:pPr algn="l">
              <a:lnSpc>
                <a:spcPts val="3892"/>
              </a:lnSpc>
            </a:pPr>
            <a:r>
              <a:rPr lang="en-US" sz="2800" spc="-28" b="true">
                <a:solidFill>
                  <a:srgbClr val="FFFFFF"/>
                </a:solidFill>
                <a:latin typeface="Cabin Bold"/>
                <a:ea typeface="Cabin Bold"/>
                <a:cs typeface="Cabin Bold"/>
                <a:sym typeface="Cabin Bold"/>
              </a:rPr>
              <a:t>최종 SMART 목표</a:t>
            </a:r>
          </a:p>
        </p:txBody>
      </p:sp>
      <p:grpSp>
        <p:nvGrpSpPr>
          <p:cNvPr name="Group 15" id="15"/>
          <p:cNvGrpSpPr/>
          <p:nvPr/>
        </p:nvGrpSpPr>
        <p:grpSpPr>
          <a:xfrm rot="0">
            <a:off x="1028700" y="1330298"/>
            <a:ext cx="650534" cy="650534"/>
            <a:chOff x="0" y="0"/>
            <a:chExt cx="867378" cy="867378"/>
          </a:xfrm>
        </p:grpSpPr>
        <p:sp>
          <p:nvSpPr>
            <p:cNvPr name="AutoShape 16" id="16"/>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17" id="17"/>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18" id="18"/>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19" id="19"/>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317138" y="3817820"/>
            <a:ext cx="4441784" cy="444178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DEE"/>
            </a:solidFill>
            <a:ln w="76200" cap="sq">
              <a:solidFill>
                <a:srgbClr val="4A60DD"/>
              </a:solidFill>
              <a:prstDash val="solid"/>
              <a:miter/>
            </a:ln>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3640"/>
                </a:lnSpc>
              </a:pPr>
            </a:p>
          </p:txBody>
        </p:sp>
      </p:grpSp>
      <p:sp>
        <p:nvSpPr>
          <p:cNvPr name="Freeform 5" id="5"/>
          <p:cNvSpPr/>
          <p:nvPr/>
        </p:nvSpPr>
        <p:spPr>
          <a:xfrm flipH="false" flipV="false" rot="0">
            <a:off x="2200731" y="4968872"/>
            <a:ext cx="2674598" cy="2139678"/>
          </a:xfrm>
          <a:custGeom>
            <a:avLst/>
            <a:gdLst/>
            <a:ahLst/>
            <a:cxnLst/>
            <a:rect r="r" b="b" t="t" l="l"/>
            <a:pathLst>
              <a:path h="2139678" w="2674598">
                <a:moveTo>
                  <a:pt x="0" y="0"/>
                </a:moveTo>
                <a:lnTo>
                  <a:pt x="2674597" y="0"/>
                </a:lnTo>
                <a:lnTo>
                  <a:pt x="2674597" y="2139678"/>
                </a:lnTo>
                <a:lnTo>
                  <a:pt x="0" y="21396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36537" y="1076128"/>
            <a:ext cx="15496807"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핵심 성과 지표(KPI)</a:t>
            </a:r>
          </a:p>
        </p:txBody>
      </p:sp>
      <p:sp>
        <p:nvSpPr>
          <p:cNvPr name="TextBox 7" id="7"/>
          <p:cNvSpPr txBox="true"/>
          <p:nvPr/>
        </p:nvSpPr>
        <p:spPr>
          <a:xfrm rot="0">
            <a:off x="6519589" y="4121157"/>
            <a:ext cx="8069615" cy="644525"/>
          </a:xfrm>
          <a:prstGeom prst="rect">
            <a:avLst/>
          </a:prstGeom>
        </p:spPr>
        <p:txBody>
          <a:bodyPr anchor="t" rtlCol="false" tIns="0" lIns="0" bIns="0" rIns="0">
            <a:spAutoFit/>
          </a:bodyPr>
          <a:lstStyle/>
          <a:p>
            <a:pPr algn="l">
              <a:lnSpc>
                <a:spcPts val="5199"/>
              </a:lnSpc>
            </a:pPr>
            <a:r>
              <a:rPr lang="en-US" sz="3999" spc="-39" b="true">
                <a:solidFill>
                  <a:srgbClr val="4A60DD"/>
                </a:solidFill>
                <a:latin typeface="Tlab 돋움 레귤러 Bold"/>
                <a:ea typeface="Tlab 돋움 레귤러 Bold"/>
                <a:cs typeface="Tlab 돋움 레귤러 Bold"/>
                <a:sym typeface="Tlab 돋움 레귤러 Bold"/>
              </a:rPr>
              <a:t>웹사이트 트래픽</a:t>
            </a:r>
          </a:p>
        </p:txBody>
      </p:sp>
      <p:sp>
        <p:nvSpPr>
          <p:cNvPr name="TextBox 8" id="8"/>
          <p:cNvSpPr txBox="true"/>
          <p:nvPr/>
        </p:nvSpPr>
        <p:spPr>
          <a:xfrm rot="0">
            <a:off x="6313656" y="4930051"/>
            <a:ext cx="8919461" cy="2809876"/>
          </a:xfrm>
          <a:prstGeom prst="rect">
            <a:avLst/>
          </a:prstGeom>
        </p:spPr>
        <p:txBody>
          <a:bodyPr anchor="t" rtlCol="false" tIns="0" lIns="0" bIns="0" rIns="0">
            <a:spAutoFit/>
          </a:bodyPr>
          <a:lstStyle/>
          <a:p>
            <a:pPr algn="l" marL="539748" indent="-269874" lvl="1">
              <a:lnSpc>
                <a:spcPts val="4574"/>
              </a:lnSpc>
              <a:buFont typeface="Arial"/>
              <a:buChar char="•"/>
            </a:pPr>
            <a:r>
              <a:rPr lang="en-US" sz="2499">
                <a:solidFill>
                  <a:srgbClr val="424242"/>
                </a:solidFill>
                <a:latin typeface="Tlab 돋움 레귤러"/>
                <a:ea typeface="Tlab 돋움 레귤러"/>
                <a:cs typeface="Tlab 돋움 레귤러"/>
                <a:sym typeface="Tlab 돋움 레귤러"/>
              </a:rPr>
              <a:t>정의: 월간 웹사이트 방문자 수</a:t>
            </a:r>
          </a:p>
          <a:p>
            <a:pPr algn="l" marL="539748" indent="-269874" lvl="1">
              <a:lnSpc>
                <a:spcPts val="4574"/>
              </a:lnSpc>
              <a:buFont typeface="Arial"/>
              <a:buChar char="•"/>
            </a:pPr>
            <a:r>
              <a:rPr lang="en-US" sz="2499">
                <a:solidFill>
                  <a:srgbClr val="424242"/>
                </a:solidFill>
                <a:latin typeface="Tlab 돋움 레귤러"/>
                <a:ea typeface="Tlab 돋움 레귤러"/>
                <a:cs typeface="Tlab 돋움 레귤러"/>
                <a:sym typeface="Tlab 돋움 레귤러"/>
              </a:rPr>
              <a:t>목표: 3개월 내에 웹사이트 방문자 수 15% 증가</a:t>
            </a:r>
          </a:p>
          <a:p>
            <a:pPr algn="l" marL="539748" indent="-269874" lvl="1">
              <a:lnSpc>
                <a:spcPts val="4574"/>
              </a:lnSpc>
              <a:buFont typeface="Arial"/>
              <a:buChar char="•"/>
            </a:pPr>
            <a:r>
              <a:rPr lang="en-US" sz="2499">
                <a:solidFill>
                  <a:srgbClr val="424242"/>
                </a:solidFill>
                <a:latin typeface="Tlab 돋움 레귤러"/>
                <a:ea typeface="Tlab 돋움 레귤러"/>
                <a:cs typeface="Tlab 돋움 레귤러"/>
                <a:sym typeface="Tlab 돋움 레귤러"/>
              </a:rPr>
              <a:t>측정 방법: 웹사이트 로그 데이터</a:t>
            </a:r>
          </a:p>
          <a:p>
            <a:pPr algn="l" marL="539748" indent="-269874" lvl="1">
              <a:lnSpc>
                <a:spcPts val="4574"/>
              </a:lnSpc>
              <a:buFont typeface="Arial"/>
              <a:buChar char="•"/>
            </a:pPr>
            <a:r>
              <a:rPr lang="en-US" sz="2499">
                <a:solidFill>
                  <a:srgbClr val="424242"/>
                </a:solidFill>
                <a:latin typeface="Tlab 돋움 레귤러"/>
                <a:ea typeface="Tlab 돋움 레귤러"/>
                <a:cs typeface="Tlab 돋움 레귤러"/>
                <a:sym typeface="Tlab 돋움 레귤러"/>
              </a:rPr>
              <a:t>현재 상태: 월 10,000명 방문</a:t>
            </a:r>
          </a:p>
          <a:p>
            <a:pPr algn="l" marL="539748" indent="-269874" lvl="1">
              <a:lnSpc>
                <a:spcPts val="4574"/>
              </a:lnSpc>
              <a:buFont typeface="Arial"/>
              <a:buChar char="•"/>
            </a:pPr>
            <a:r>
              <a:rPr lang="en-US" sz="2499">
                <a:solidFill>
                  <a:srgbClr val="424242"/>
                </a:solidFill>
                <a:latin typeface="Tlab 돋움 레귤러"/>
                <a:ea typeface="Tlab 돋움 레귤러"/>
                <a:cs typeface="Tlab 돋움 레귤러"/>
                <a:sym typeface="Tlab 돋움 레귤러"/>
              </a:rPr>
              <a:t>목표 상태: 월 11,500명 방문</a:t>
            </a:r>
          </a:p>
        </p:txBody>
      </p:sp>
      <p:grpSp>
        <p:nvGrpSpPr>
          <p:cNvPr name="Group 9" id="9"/>
          <p:cNvGrpSpPr/>
          <p:nvPr/>
        </p:nvGrpSpPr>
        <p:grpSpPr>
          <a:xfrm rot="0">
            <a:off x="1028700" y="1330298"/>
            <a:ext cx="650534" cy="650534"/>
            <a:chOff x="0" y="0"/>
            <a:chExt cx="867378" cy="867378"/>
          </a:xfrm>
        </p:grpSpPr>
        <p:sp>
          <p:nvSpPr>
            <p:cNvPr name="AutoShape 10" id="10"/>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11" id="11"/>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12" id="12"/>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13" id="13"/>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30298"/>
            <a:ext cx="650534" cy="650534"/>
            <a:chOff x="0" y="0"/>
            <a:chExt cx="867378" cy="867378"/>
          </a:xfrm>
        </p:grpSpPr>
        <p:sp>
          <p:nvSpPr>
            <p:cNvPr name="AutoShape 3" id="3"/>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
        <p:nvSpPr>
          <p:cNvPr name="AutoShape 7" id="7"/>
          <p:cNvSpPr/>
          <p:nvPr/>
        </p:nvSpPr>
        <p:spPr>
          <a:xfrm flipH="true">
            <a:off x="11554883" y="4442684"/>
            <a:ext cx="5704417" cy="0"/>
          </a:xfrm>
          <a:prstGeom prst="line">
            <a:avLst/>
          </a:prstGeom>
          <a:ln cap="rnd" w="19050">
            <a:solidFill>
              <a:srgbClr val="424242"/>
            </a:solidFill>
            <a:prstDash val="solid"/>
            <a:headEnd type="none" len="sm" w="sm"/>
            <a:tailEnd type="none" len="sm" w="sm"/>
          </a:ln>
        </p:spPr>
      </p:sp>
      <p:sp>
        <p:nvSpPr>
          <p:cNvPr name="AutoShape 8" id="8"/>
          <p:cNvSpPr/>
          <p:nvPr/>
        </p:nvSpPr>
        <p:spPr>
          <a:xfrm flipH="true">
            <a:off x="11554883" y="5499960"/>
            <a:ext cx="5704417" cy="0"/>
          </a:xfrm>
          <a:prstGeom prst="line">
            <a:avLst/>
          </a:prstGeom>
          <a:ln cap="rnd" w="19050">
            <a:solidFill>
              <a:srgbClr val="424242"/>
            </a:solidFill>
            <a:prstDash val="solid"/>
            <a:headEnd type="none" len="sm" w="sm"/>
            <a:tailEnd type="none" len="sm" w="sm"/>
          </a:ln>
        </p:spPr>
      </p:sp>
      <p:sp>
        <p:nvSpPr>
          <p:cNvPr name="AutoShape 9" id="9"/>
          <p:cNvSpPr/>
          <p:nvPr/>
        </p:nvSpPr>
        <p:spPr>
          <a:xfrm flipH="true">
            <a:off x="11554883" y="7025612"/>
            <a:ext cx="5704417" cy="0"/>
          </a:xfrm>
          <a:prstGeom prst="line">
            <a:avLst/>
          </a:prstGeom>
          <a:ln cap="rnd" w="19050">
            <a:solidFill>
              <a:srgbClr val="424242"/>
            </a:solidFill>
            <a:prstDash val="solid"/>
            <a:headEnd type="none" len="sm" w="sm"/>
            <a:tailEnd type="none" len="sm" w="sm"/>
          </a:ln>
        </p:spPr>
      </p:sp>
      <p:sp>
        <p:nvSpPr>
          <p:cNvPr name="Freeform 10" id="10"/>
          <p:cNvSpPr/>
          <p:nvPr/>
        </p:nvSpPr>
        <p:spPr>
          <a:xfrm flipH="false" flipV="false" rot="0">
            <a:off x="10478059" y="5221003"/>
            <a:ext cx="409578" cy="612332"/>
          </a:xfrm>
          <a:custGeom>
            <a:avLst/>
            <a:gdLst/>
            <a:ahLst/>
            <a:cxnLst/>
            <a:rect r="r" b="b" t="t" l="l"/>
            <a:pathLst>
              <a:path h="612332" w="409578">
                <a:moveTo>
                  <a:pt x="0" y="0"/>
                </a:moveTo>
                <a:lnTo>
                  <a:pt x="409578" y="0"/>
                </a:lnTo>
                <a:lnTo>
                  <a:pt x="409578" y="612332"/>
                </a:lnTo>
                <a:lnTo>
                  <a:pt x="0" y="6123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0144665" y="5221003"/>
            <a:ext cx="409578" cy="612332"/>
          </a:xfrm>
          <a:custGeom>
            <a:avLst/>
            <a:gdLst/>
            <a:ahLst/>
            <a:cxnLst/>
            <a:rect r="r" b="b" t="t" l="l"/>
            <a:pathLst>
              <a:path h="612332" w="409578">
                <a:moveTo>
                  <a:pt x="0" y="0"/>
                </a:moveTo>
                <a:lnTo>
                  <a:pt x="409578" y="0"/>
                </a:lnTo>
                <a:lnTo>
                  <a:pt x="409578" y="612332"/>
                </a:lnTo>
                <a:lnTo>
                  <a:pt x="0" y="6123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9814894" y="5221003"/>
            <a:ext cx="409578" cy="612332"/>
          </a:xfrm>
          <a:custGeom>
            <a:avLst/>
            <a:gdLst/>
            <a:ahLst/>
            <a:cxnLst/>
            <a:rect r="r" b="b" t="t" l="l"/>
            <a:pathLst>
              <a:path h="612332" w="409578">
                <a:moveTo>
                  <a:pt x="0" y="0"/>
                </a:moveTo>
                <a:lnTo>
                  <a:pt x="409578" y="0"/>
                </a:lnTo>
                <a:lnTo>
                  <a:pt x="409578" y="612332"/>
                </a:lnTo>
                <a:lnTo>
                  <a:pt x="0" y="612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925061" y="1076128"/>
            <a:ext cx="15334239"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KPI 달성을 위한 전략</a:t>
            </a:r>
          </a:p>
        </p:txBody>
      </p:sp>
      <p:sp>
        <p:nvSpPr>
          <p:cNvPr name="TextBox 14" id="14"/>
          <p:cNvSpPr txBox="true"/>
          <p:nvPr/>
        </p:nvSpPr>
        <p:spPr>
          <a:xfrm rot="0">
            <a:off x="1317138" y="2941402"/>
            <a:ext cx="2346407" cy="459740"/>
          </a:xfrm>
          <a:prstGeom prst="rect">
            <a:avLst/>
          </a:prstGeom>
        </p:spPr>
        <p:txBody>
          <a:bodyPr anchor="t" rtlCol="false" tIns="0" lIns="0" bIns="0" rIns="0">
            <a:spAutoFit/>
          </a:bodyPr>
          <a:lstStyle/>
          <a:p>
            <a:pPr algn="l">
              <a:lnSpc>
                <a:spcPts val="3640"/>
              </a:lnSpc>
            </a:pPr>
            <a:r>
              <a:rPr lang="en-US" sz="2800" spc="-28" b="true">
                <a:solidFill>
                  <a:srgbClr val="4A60DD"/>
                </a:solidFill>
                <a:latin typeface="Tlab 돋움 레귤러 Bold"/>
                <a:ea typeface="Tlab 돋움 레귤러 Bold"/>
                <a:cs typeface="Tlab 돋움 레귤러 Bold"/>
                <a:sym typeface="Tlab 돋움 레귤러 Bold"/>
              </a:rPr>
              <a:t>SEO 강화</a:t>
            </a:r>
          </a:p>
        </p:txBody>
      </p:sp>
      <p:sp>
        <p:nvSpPr>
          <p:cNvPr name="TextBox 15" id="15"/>
          <p:cNvSpPr txBox="true"/>
          <p:nvPr/>
        </p:nvSpPr>
        <p:spPr>
          <a:xfrm rot="0">
            <a:off x="11804842" y="2871347"/>
            <a:ext cx="2346407" cy="485775"/>
          </a:xfrm>
          <a:prstGeom prst="rect">
            <a:avLst/>
          </a:prstGeom>
        </p:spPr>
        <p:txBody>
          <a:bodyPr anchor="t" rtlCol="false" tIns="0" lIns="0" bIns="0" rIns="0">
            <a:spAutoFit/>
          </a:bodyPr>
          <a:lstStyle/>
          <a:p>
            <a:pPr algn="l">
              <a:lnSpc>
                <a:spcPts val="3900"/>
              </a:lnSpc>
            </a:pPr>
            <a:r>
              <a:rPr lang="en-US" sz="3000" spc="-30" b="true">
                <a:solidFill>
                  <a:srgbClr val="4A60DD"/>
                </a:solidFill>
                <a:latin typeface="Tlab 돋움 레귤러 Bold"/>
                <a:ea typeface="Tlab 돋움 레귤러 Bold"/>
                <a:cs typeface="Tlab 돋움 레귤러 Bold"/>
                <a:sym typeface="Tlab 돋움 레귤러 Bold"/>
              </a:rPr>
              <a:t>기대효과</a:t>
            </a:r>
          </a:p>
        </p:txBody>
      </p:sp>
      <p:sp>
        <p:nvSpPr>
          <p:cNvPr name="TextBox 16" id="16"/>
          <p:cNvSpPr txBox="true"/>
          <p:nvPr/>
        </p:nvSpPr>
        <p:spPr>
          <a:xfrm rot="0">
            <a:off x="1317474" y="4423634"/>
            <a:ext cx="3784058" cy="459740"/>
          </a:xfrm>
          <a:prstGeom prst="rect">
            <a:avLst/>
          </a:prstGeom>
        </p:spPr>
        <p:txBody>
          <a:bodyPr anchor="t" rtlCol="false" tIns="0" lIns="0" bIns="0" rIns="0">
            <a:spAutoFit/>
          </a:bodyPr>
          <a:lstStyle/>
          <a:p>
            <a:pPr algn="l">
              <a:lnSpc>
                <a:spcPts val="3640"/>
              </a:lnSpc>
            </a:pPr>
            <a:r>
              <a:rPr lang="en-US" sz="2800" spc="-28" b="true">
                <a:solidFill>
                  <a:srgbClr val="4A60DD"/>
                </a:solidFill>
                <a:latin typeface="Tlab 돋움 레귤러 Bold"/>
                <a:ea typeface="Tlab 돋움 레귤러 Bold"/>
                <a:cs typeface="Tlab 돋움 레귤러 Bold"/>
                <a:sym typeface="Tlab 돋움 레귤러 Bold"/>
              </a:rPr>
              <a:t>소셜 미디어 광고 확대</a:t>
            </a:r>
          </a:p>
        </p:txBody>
      </p:sp>
      <p:sp>
        <p:nvSpPr>
          <p:cNvPr name="TextBox 17" id="17"/>
          <p:cNvSpPr txBox="true"/>
          <p:nvPr/>
        </p:nvSpPr>
        <p:spPr>
          <a:xfrm rot="0">
            <a:off x="1317474" y="5934173"/>
            <a:ext cx="3784058" cy="459740"/>
          </a:xfrm>
          <a:prstGeom prst="rect">
            <a:avLst/>
          </a:prstGeom>
        </p:spPr>
        <p:txBody>
          <a:bodyPr anchor="t" rtlCol="false" tIns="0" lIns="0" bIns="0" rIns="0">
            <a:spAutoFit/>
          </a:bodyPr>
          <a:lstStyle/>
          <a:p>
            <a:pPr algn="l">
              <a:lnSpc>
                <a:spcPts val="3640"/>
              </a:lnSpc>
            </a:pPr>
            <a:r>
              <a:rPr lang="en-US" sz="2800" spc="-28" b="true">
                <a:solidFill>
                  <a:srgbClr val="4A60DD"/>
                </a:solidFill>
                <a:latin typeface="Tlab 돋움 레귤러 Bold"/>
                <a:ea typeface="Tlab 돋움 레귤러 Bold"/>
                <a:cs typeface="Tlab 돋움 레귤러 Bold"/>
                <a:sym typeface="Tlab 돋움 레귤러 Bold"/>
              </a:rPr>
              <a:t>리타겟팅 캠페인 실행</a:t>
            </a:r>
          </a:p>
        </p:txBody>
      </p:sp>
      <p:sp>
        <p:nvSpPr>
          <p:cNvPr name="TextBox 18" id="18"/>
          <p:cNvSpPr txBox="true"/>
          <p:nvPr/>
        </p:nvSpPr>
        <p:spPr>
          <a:xfrm rot="0">
            <a:off x="1317138" y="7444712"/>
            <a:ext cx="3784058" cy="459740"/>
          </a:xfrm>
          <a:prstGeom prst="rect">
            <a:avLst/>
          </a:prstGeom>
        </p:spPr>
        <p:txBody>
          <a:bodyPr anchor="t" rtlCol="false" tIns="0" lIns="0" bIns="0" rIns="0">
            <a:spAutoFit/>
          </a:bodyPr>
          <a:lstStyle/>
          <a:p>
            <a:pPr algn="l">
              <a:lnSpc>
                <a:spcPts val="3640"/>
              </a:lnSpc>
            </a:pPr>
            <a:r>
              <a:rPr lang="en-US" sz="2800" spc="-28" b="true">
                <a:solidFill>
                  <a:srgbClr val="4A60DD"/>
                </a:solidFill>
                <a:latin typeface="Tlab 돋움 레귤러 Bold"/>
                <a:ea typeface="Tlab 돋움 레귤러 Bold"/>
                <a:cs typeface="Tlab 돋움 레귤러 Bold"/>
                <a:sym typeface="Tlab 돋움 레귤러 Bold"/>
              </a:rPr>
              <a:t>CRM 개선</a:t>
            </a:r>
          </a:p>
        </p:txBody>
      </p:sp>
      <p:sp>
        <p:nvSpPr>
          <p:cNvPr name="TextBox 19" id="19"/>
          <p:cNvSpPr txBox="true"/>
          <p:nvPr/>
        </p:nvSpPr>
        <p:spPr>
          <a:xfrm rot="0">
            <a:off x="1317306" y="3512902"/>
            <a:ext cx="8264071" cy="422275"/>
          </a:xfrm>
          <a:prstGeom prst="rect">
            <a:avLst/>
          </a:prstGeom>
        </p:spPr>
        <p:txBody>
          <a:bodyPr anchor="t" rtlCol="false" tIns="0" lIns="0" bIns="0" rIns="0">
            <a:spAutoFit/>
          </a:bodyPr>
          <a:lstStyle/>
          <a:p>
            <a:pPr algn="l">
              <a:lnSpc>
                <a:spcPts val="3499"/>
              </a:lnSpc>
            </a:pPr>
            <a:r>
              <a:rPr lang="en-US" sz="2499">
                <a:solidFill>
                  <a:srgbClr val="424242"/>
                </a:solidFill>
                <a:latin typeface="Tlab 돋움 레귤러"/>
                <a:ea typeface="Tlab 돋움 레귤러"/>
                <a:cs typeface="Tlab 돋움 레귤러"/>
                <a:sym typeface="Tlab 돋움 레귤러"/>
              </a:rPr>
              <a:t>콘텐츠 최적화를 통해 자연 검색 트래픽 증가</a:t>
            </a:r>
          </a:p>
        </p:txBody>
      </p:sp>
      <p:sp>
        <p:nvSpPr>
          <p:cNvPr name="TextBox 20" id="20"/>
          <p:cNvSpPr txBox="true"/>
          <p:nvPr/>
        </p:nvSpPr>
        <p:spPr>
          <a:xfrm rot="0">
            <a:off x="11804842" y="3594959"/>
            <a:ext cx="5454458" cy="501651"/>
          </a:xfrm>
          <a:prstGeom prst="rect">
            <a:avLst/>
          </a:prstGeom>
        </p:spPr>
        <p:txBody>
          <a:bodyPr anchor="t" rtlCol="false" tIns="0" lIns="0" bIns="0" rIns="0">
            <a:spAutoFit/>
          </a:bodyPr>
          <a:lstStyle/>
          <a:p>
            <a:pPr algn="l">
              <a:lnSpc>
                <a:spcPts val="4299"/>
              </a:lnSpc>
            </a:pPr>
            <a:r>
              <a:rPr lang="en-US" b="true" sz="2499" spc="24">
                <a:solidFill>
                  <a:srgbClr val="424242"/>
                </a:solidFill>
                <a:latin typeface="Tlab 돋움 레귤러 Bold"/>
                <a:ea typeface="Tlab 돋움 레귤러 Bold"/>
                <a:cs typeface="Tlab 돋움 레귤러 Bold"/>
                <a:sym typeface="Tlab 돋움 레귤러 Bold"/>
              </a:rPr>
              <a:t>웹사이트 방문자 수 15% 증가</a:t>
            </a:r>
          </a:p>
        </p:txBody>
      </p:sp>
      <p:sp>
        <p:nvSpPr>
          <p:cNvPr name="TextBox 21" id="21"/>
          <p:cNvSpPr txBox="true"/>
          <p:nvPr/>
        </p:nvSpPr>
        <p:spPr>
          <a:xfrm rot="0">
            <a:off x="11804842" y="4652234"/>
            <a:ext cx="5454458" cy="501651"/>
          </a:xfrm>
          <a:prstGeom prst="rect">
            <a:avLst/>
          </a:prstGeom>
        </p:spPr>
        <p:txBody>
          <a:bodyPr anchor="t" rtlCol="false" tIns="0" lIns="0" bIns="0" rIns="0">
            <a:spAutoFit/>
          </a:bodyPr>
          <a:lstStyle/>
          <a:p>
            <a:pPr algn="l">
              <a:lnSpc>
                <a:spcPts val="4299"/>
              </a:lnSpc>
            </a:pPr>
            <a:r>
              <a:rPr lang="en-US" b="true" sz="2499" spc="24">
                <a:solidFill>
                  <a:srgbClr val="424242"/>
                </a:solidFill>
                <a:latin typeface="Tlab 돋움 레귤러 Bold"/>
                <a:ea typeface="Tlab 돋움 레귤러 Bold"/>
                <a:cs typeface="Tlab 돋움 레귤러 Bold"/>
                <a:sym typeface="Tlab 돋움 레귤러 Bold"/>
              </a:rPr>
              <a:t>전환율 2%p 향상으로 매출 증대</a:t>
            </a:r>
          </a:p>
        </p:txBody>
      </p:sp>
      <p:sp>
        <p:nvSpPr>
          <p:cNvPr name="TextBox 22" id="22"/>
          <p:cNvSpPr txBox="true"/>
          <p:nvPr/>
        </p:nvSpPr>
        <p:spPr>
          <a:xfrm rot="0">
            <a:off x="11804842" y="5776185"/>
            <a:ext cx="5454458" cy="866775"/>
          </a:xfrm>
          <a:prstGeom prst="rect">
            <a:avLst/>
          </a:prstGeom>
        </p:spPr>
        <p:txBody>
          <a:bodyPr anchor="t" rtlCol="false" tIns="0" lIns="0" bIns="0" rIns="0">
            <a:spAutoFit/>
          </a:bodyPr>
          <a:lstStyle/>
          <a:p>
            <a:pPr algn="l">
              <a:lnSpc>
                <a:spcPts val="3524"/>
              </a:lnSpc>
            </a:pPr>
            <a:r>
              <a:rPr lang="en-US" sz="2499" spc="24" b="true">
                <a:solidFill>
                  <a:srgbClr val="424242"/>
                </a:solidFill>
                <a:latin typeface="Tlab 돋움 레귤러 Bold"/>
                <a:ea typeface="Tlab 돋움 레귤러 Bold"/>
                <a:cs typeface="Tlab 돋움 레귤러 Bold"/>
                <a:sym typeface="Tlab 돋움 레귤러 Bold"/>
              </a:rPr>
              <a:t>고객 획득 비용 절감으로 마케팅</a:t>
            </a:r>
          </a:p>
          <a:p>
            <a:pPr algn="l">
              <a:lnSpc>
                <a:spcPts val="3524"/>
              </a:lnSpc>
            </a:pPr>
            <a:r>
              <a:rPr lang="en-US" b="true" sz="2499" spc="24">
                <a:solidFill>
                  <a:srgbClr val="424242"/>
                </a:solidFill>
                <a:latin typeface="Tlab 돋움 레귤러 Bold"/>
                <a:ea typeface="Tlab 돋움 레귤러 Bold"/>
                <a:cs typeface="Tlab 돋움 레귤러 Bold"/>
                <a:sym typeface="Tlab 돋움 레귤러 Bold"/>
              </a:rPr>
              <a:t>ROI 개선</a:t>
            </a:r>
          </a:p>
        </p:txBody>
      </p:sp>
      <p:sp>
        <p:nvSpPr>
          <p:cNvPr name="TextBox 23" id="23"/>
          <p:cNvSpPr txBox="true"/>
          <p:nvPr/>
        </p:nvSpPr>
        <p:spPr>
          <a:xfrm rot="0">
            <a:off x="11804842" y="7301837"/>
            <a:ext cx="5454458" cy="866775"/>
          </a:xfrm>
          <a:prstGeom prst="rect">
            <a:avLst/>
          </a:prstGeom>
        </p:spPr>
        <p:txBody>
          <a:bodyPr anchor="t" rtlCol="false" tIns="0" lIns="0" bIns="0" rIns="0">
            <a:spAutoFit/>
          </a:bodyPr>
          <a:lstStyle/>
          <a:p>
            <a:pPr algn="l">
              <a:lnSpc>
                <a:spcPts val="3524"/>
              </a:lnSpc>
            </a:pPr>
            <a:r>
              <a:rPr lang="en-US" sz="2499" spc="24" b="true">
                <a:solidFill>
                  <a:srgbClr val="424242"/>
                </a:solidFill>
                <a:latin typeface="Tlab 돋움 레귤러 Bold"/>
                <a:ea typeface="Tlab 돋움 레귤러 Bold"/>
                <a:cs typeface="Tlab 돋움 레귤러 Bold"/>
                <a:sym typeface="Tlab 돋움 레귤러 Bold"/>
              </a:rPr>
              <a:t>소셜 미디어 참여율 상승을 통한</a:t>
            </a:r>
          </a:p>
          <a:p>
            <a:pPr algn="l">
              <a:lnSpc>
                <a:spcPts val="3524"/>
              </a:lnSpc>
            </a:pPr>
            <a:r>
              <a:rPr lang="en-US" b="true" sz="2499" spc="24">
                <a:solidFill>
                  <a:srgbClr val="424242"/>
                </a:solidFill>
                <a:latin typeface="Tlab 돋움 레귤러 Bold"/>
                <a:ea typeface="Tlab 돋움 레귤러 Bold"/>
                <a:cs typeface="Tlab 돋움 레귤러 Bold"/>
                <a:sym typeface="Tlab 돋움 레귤러 Bold"/>
              </a:rPr>
              <a:t>브랜드 인지도 확대</a:t>
            </a:r>
          </a:p>
        </p:txBody>
      </p:sp>
      <p:sp>
        <p:nvSpPr>
          <p:cNvPr name="TextBox 24" id="24"/>
          <p:cNvSpPr txBox="true"/>
          <p:nvPr/>
        </p:nvSpPr>
        <p:spPr>
          <a:xfrm rot="0">
            <a:off x="1317462" y="5023709"/>
            <a:ext cx="8264071" cy="422275"/>
          </a:xfrm>
          <a:prstGeom prst="rect">
            <a:avLst/>
          </a:prstGeom>
        </p:spPr>
        <p:txBody>
          <a:bodyPr anchor="t" rtlCol="false" tIns="0" lIns="0" bIns="0" rIns="0">
            <a:spAutoFit/>
          </a:bodyPr>
          <a:lstStyle/>
          <a:p>
            <a:pPr algn="l">
              <a:lnSpc>
                <a:spcPts val="3499"/>
              </a:lnSpc>
            </a:pPr>
            <a:r>
              <a:rPr lang="en-US" sz="2499">
                <a:solidFill>
                  <a:srgbClr val="424242"/>
                </a:solidFill>
                <a:latin typeface="Tlab 돋움 레귤러"/>
                <a:ea typeface="Tlab 돋움 레귤러"/>
                <a:cs typeface="Tlab 돋움 레귤러"/>
                <a:sym typeface="Tlab 돋움 레귤러"/>
              </a:rPr>
              <a:t>타겟 맞춤형 광고로 전환율 향상</a:t>
            </a:r>
          </a:p>
        </p:txBody>
      </p:sp>
      <p:sp>
        <p:nvSpPr>
          <p:cNvPr name="TextBox 25" id="25"/>
          <p:cNvSpPr txBox="true"/>
          <p:nvPr/>
        </p:nvSpPr>
        <p:spPr>
          <a:xfrm rot="0">
            <a:off x="1317306" y="6534248"/>
            <a:ext cx="8264071" cy="422275"/>
          </a:xfrm>
          <a:prstGeom prst="rect">
            <a:avLst/>
          </a:prstGeom>
        </p:spPr>
        <p:txBody>
          <a:bodyPr anchor="t" rtlCol="false" tIns="0" lIns="0" bIns="0" rIns="0">
            <a:spAutoFit/>
          </a:bodyPr>
          <a:lstStyle/>
          <a:p>
            <a:pPr algn="l">
              <a:lnSpc>
                <a:spcPts val="3499"/>
              </a:lnSpc>
            </a:pPr>
            <a:r>
              <a:rPr lang="en-US" sz="2499">
                <a:solidFill>
                  <a:srgbClr val="424242"/>
                </a:solidFill>
                <a:latin typeface="Tlab 돋움 레귤러"/>
                <a:ea typeface="Tlab 돋움 레귤러"/>
                <a:cs typeface="Tlab 돋움 레귤러"/>
                <a:sym typeface="Tlab 돋움 레귤러"/>
              </a:rPr>
              <a:t>방문 후 이탈 고객을 대상으로 리타겟팅 광고 진행</a:t>
            </a:r>
          </a:p>
        </p:txBody>
      </p:sp>
      <p:sp>
        <p:nvSpPr>
          <p:cNvPr name="TextBox 26" id="26"/>
          <p:cNvSpPr txBox="true"/>
          <p:nvPr/>
        </p:nvSpPr>
        <p:spPr>
          <a:xfrm rot="0">
            <a:off x="1317462" y="8014942"/>
            <a:ext cx="8389050" cy="860425"/>
          </a:xfrm>
          <a:prstGeom prst="rect">
            <a:avLst/>
          </a:prstGeom>
        </p:spPr>
        <p:txBody>
          <a:bodyPr anchor="t" rtlCol="false" tIns="0" lIns="0" bIns="0" rIns="0">
            <a:spAutoFit/>
          </a:bodyPr>
          <a:lstStyle/>
          <a:p>
            <a:pPr algn="l">
              <a:lnSpc>
                <a:spcPts val="3499"/>
              </a:lnSpc>
            </a:pPr>
            <a:r>
              <a:rPr lang="en-US" sz="2499">
                <a:solidFill>
                  <a:srgbClr val="424242"/>
                </a:solidFill>
                <a:latin typeface="Tlab 돋움 레귤러"/>
                <a:ea typeface="Tlab 돋움 레귤러"/>
                <a:cs typeface="Tlab 돋움 레귤러"/>
                <a:sym typeface="Tlab 돋움 레귤러"/>
              </a:rPr>
              <a:t>잠재 고객 관리와 맞춤형 마케팅을 강화하여 </a:t>
            </a:r>
          </a:p>
          <a:p>
            <a:pPr algn="l">
              <a:lnSpc>
                <a:spcPts val="3499"/>
              </a:lnSpc>
            </a:pPr>
            <a:r>
              <a:rPr lang="en-US" sz="2499">
                <a:solidFill>
                  <a:srgbClr val="424242"/>
                </a:solidFill>
                <a:latin typeface="Tlab 돋움 레귤러"/>
                <a:ea typeface="Tlab 돋움 레귤러"/>
                <a:cs typeface="Tlab 돋움 레귤러"/>
                <a:sym typeface="Tlab 돋움 레귤러"/>
              </a:rPr>
              <a:t>전환율 증대</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30298"/>
            <a:ext cx="650534" cy="650534"/>
            <a:chOff x="0" y="0"/>
            <a:chExt cx="867378" cy="867378"/>
          </a:xfrm>
        </p:grpSpPr>
        <p:sp>
          <p:nvSpPr>
            <p:cNvPr name="AutoShape 3" id="3"/>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
        <p:nvSpPr>
          <p:cNvPr name="Freeform 7" id="7"/>
          <p:cNvSpPr/>
          <p:nvPr/>
        </p:nvSpPr>
        <p:spPr>
          <a:xfrm flipH="false" flipV="false" rot="0">
            <a:off x="13174078" y="5373625"/>
            <a:ext cx="4085222" cy="3884675"/>
          </a:xfrm>
          <a:custGeom>
            <a:avLst/>
            <a:gdLst/>
            <a:ahLst/>
            <a:cxnLst/>
            <a:rect r="r" b="b" t="t" l="l"/>
            <a:pathLst>
              <a:path h="3884675" w="4085222">
                <a:moveTo>
                  <a:pt x="0" y="0"/>
                </a:moveTo>
                <a:lnTo>
                  <a:pt x="4085222" y="0"/>
                </a:lnTo>
                <a:lnTo>
                  <a:pt x="4085222" y="3884675"/>
                </a:lnTo>
                <a:lnTo>
                  <a:pt x="0" y="38846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925061" y="1076128"/>
            <a:ext cx="15334239"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프로젝트 범위</a:t>
            </a:r>
          </a:p>
        </p:txBody>
      </p:sp>
      <p:sp>
        <p:nvSpPr>
          <p:cNvPr name="TextBox 9" id="9"/>
          <p:cNvSpPr txBox="true"/>
          <p:nvPr/>
        </p:nvSpPr>
        <p:spPr>
          <a:xfrm rot="0">
            <a:off x="1317138" y="2751846"/>
            <a:ext cx="5727062"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디지털 마케팅 전략 수립</a:t>
            </a:r>
          </a:p>
        </p:txBody>
      </p:sp>
      <p:sp>
        <p:nvSpPr>
          <p:cNvPr name="TextBox 10" id="10"/>
          <p:cNvSpPr txBox="true"/>
          <p:nvPr/>
        </p:nvSpPr>
        <p:spPr>
          <a:xfrm rot="0">
            <a:off x="1317138" y="4544825"/>
            <a:ext cx="5727062"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광고 캠페인 기획 및 실행</a:t>
            </a:r>
          </a:p>
        </p:txBody>
      </p:sp>
      <p:sp>
        <p:nvSpPr>
          <p:cNvPr name="TextBox 11" id="11"/>
          <p:cNvSpPr txBox="true"/>
          <p:nvPr/>
        </p:nvSpPr>
        <p:spPr>
          <a:xfrm rot="0">
            <a:off x="1317138" y="6340605"/>
            <a:ext cx="5727062"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웹사이트 트래픽 및 전환율 분석</a:t>
            </a:r>
          </a:p>
        </p:txBody>
      </p:sp>
      <p:sp>
        <p:nvSpPr>
          <p:cNvPr name="TextBox 12" id="12"/>
          <p:cNvSpPr txBox="true"/>
          <p:nvPr/>
        </p:nvSpPr>
        <p:spPr>
          <a:xfrm rot="0">
            <a:off x="1317138" y="7641085"/>
            <a:ext cx="5727062"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소셜 미디어 콘텐츠 관리</a:t>
            </a:r>
          </a:p>
        </p:txBody>
      </p:sp>
      <p:sp>
        <p:nvSpPr>
          <p:cNvPr name="TextBox 13" id="13"/>
          <p:cNvSpPr txBox="true"/>
          <p:nvPr/>
        </p:nvSpPr>
        <p:spPr>
          <a:xfrm rot="0">
            <a:off x="1317306" y="3303400"/>
            <a:ext cx="11767907" cy="86042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시장 조사 및 경쟁 분석</a:t>
            </a:r>
          </a:p>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소셜 미디어, 이메일 마케팅, </a:t>
            </a:r>
            <a:r>
              <a:rPr lang="en-US" sz="2499">
                <a:solidFill>
                  <a:srgbClr val="424242"/>
                </a:solidFill>
                <a:latin typeface="Tlab 돋움 레귤러"/>
                <a:ea typeface="Tlab 돋움 레귤러"/>
                <a:cs typeface="Tlab 돋움 레귤러"/>
                <a:sym typeface="Tlab 돋움 레귤러"/>
              </a:rPr>
              <a:t>콘텐츠 마케팅 전략 개발</a:t>
            </a:r>
          </a:p>
        </p:txBody>
      </p:sp>
      <p:sp>
        <p:nvSpPr>
          <p:cNvPr name="TextBox 14" id="14"/>
          <p:cNvSpPr txBox="true"/>
          <p:nvPr/>
        </p:nvSpPr>
        <p:spPr>
          <a:xfrm rot="0">
            <a:off x="1317306" y="5097275"/>
            <a:ext cx="11767907" cy="86042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주요 플랫폼에서의 광고 캠페인 실행</a:t>
            </a:r>
          </a:p>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타겟팅 광고 및 리타겟팅 캠페인 운영</a:t>
            </a:r>
          </a:p>
        </p:txBody>
      </p:sp>
      <p:sp>
        <p:nvSpPr>
          <p:cNvPr name="TextBox 15" id="15"/>
          <p:cNvSpPr txBox="true"/>
          <p:nvPr/>
        </p:nvSpPr>
        <p:spPr>
          <a:xfrm rot="0">
            <a:off x="1317306" y="6888610"/>
            <a:ext cx="11767907" cy="42227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실시간 트래픽 및 전환율 모니터링</a:t>
            </a:r>
          </a:p>
        </p:txBody>
      </p:sp>
      <p:sp>
        <p:nvSpPr>
          <p:cNvPr name="TextBox 16" id="16"/>
          <p:cNvSpPr txBox="true"/>
          <p:nvPr/>
        </p:nvSpPr>
        <p:spPr>
          <a:xfrm rot="0">
            <a:off x="1317306" y="8189090"/>
            <a:ext cx="11767907" cy="86042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소셜 미디어 계정 운영 및 콘텐츠 게시</a:t>
            </a:r>
          </a:p>
          <a:p>
            <a:pPr algn="l" marL="539748" indent="-269874" lvl="1">
              <a:lnSpc>
                <a:spcPts val="3499"/>
              </a:lnSpc>
              <a:buFont typeface="Arial"/>
              <a:buChar char="•"/>
            </a:pPr>
            <a:r>
              <a:rPr lang="en-US" sz="2499">
                <a:solidFill>
                  <a:srgbClr val="424242"/>
                </a:solidFill>
                <a:latin typeface="Tlab 돋움 레귤러"/>
                <a:ea typeface="Tlab 돋움 레귤러"/>
                <a:cs typeface="Tlab 돋움 레귤러"/>
                <a:sym typeface="Tlab 돋움 레귤러"/>
              </a:rPr>
              <a:t>인플루언서 협업 및 브랜드 홍보 콘텐츠 제작</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30298"/>
            <a:ext cx="650534" cy="650534"/>
            <a:chOff x="0" y="0"/>
            <a:chExt cx="867378" cy="867378"/>
          </a:xfrm>
        </p:grpSpPr>
        <p:sp>
          <p:nvSpPr>
            <p:cNvPr name="AutoShape 3" id="3"/>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
        <p:nvSpPr>
          <p:cNvPr name="AutoShape 7" id="7"/>
          <p:cNvSpPr/>
          <p:nvPr/>
        </p:nvSpPr>
        <p:spPr>
          <a:xfrm>
            <a:off x="1353967" y="3143103"/>
            <a:ext cx="0" cy="5885962"/>
          </a:xfrm>
          <a:prstGeom prst="line">
            <a:avLst/>
          </a:prstGeom>
          <a:ln cap="rnd" w="19050">
            <a:solidFill>
              <a:srgbClr val="4A60DD"/>
            </a:solidFill>
            <a:prstDash val="solid"/>
            <a:headEnd type="none" len="sm" w="sm"/>
            <a:tailEnd type="none" len="sm" w="sm"/>
          </a:ln>
        </p:spPr>
      </p:sp>
      <p:grpSp>
        <p:nvGrpSpPr>
          <p:cNvPr name="Group 8" id="8"/>
          <p:cNvGrpSpPr/>
          <p:nvPr/>
        </p:nvGrpSpPr>
        <p:grpSpPr>
          <a:xfrm rot="5400000">
            <a:off x="1224595" y="2980076"/>
            <a:ext cx="258744" cy="258744"/>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0DD"/>
            </a:solidFill>
          </p:spPr>
        </p:sp>
      </p:grpSp>
      <p:grpSp>
        <p:nvGrpSpPr>
          <p:cNvPr name="Group 10" id="10"/>
          <p:cNvGrpSpPr/>
          <p:nvPr/>
        </p:nvGrpSpPr>
        <p:grpSpPr>
          <a:xfrm rot="5400000">
            <a:off x="1224595" y="4163999"/>
            <a:ext cx="258744" cy="258744"/>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0DD"/>
            </a:solidFill>
          </p:spPr>
        </p:sp>
      </p:grpSp>
      <p:grpSp>
        <p:nvGrpSpPr>
          <p:cNvPr name="Group 12" id="12"/>
          <p:cNvGrpSpPr/>
          <p:nvPr/>
        </p:nvGrpSpPr>
        <p:grpSpPr>
          <a:xfrm rot="5400000">
            <a:off x="1224595" y="5347922"/>
            <a:ext cx="258744" cy="258744"/>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0DD"/>
            </a:solidFill>
          </p:spPr>
        </p:sp>
      </p:grpSp>
      <p:grpSp>
        <p:nvGrpSpPr>
          <p:cNvPr name="Group 14" id="14"/>
          <p:cNvGrpSpPr/>
          <p:nvPr/>
        </p:nvGrpSpPr>
        <p:grpSpPr>
          <a:xfrm rot="5400000">
            <a:off x="1224595" y="6531846"/>
            <a:ext cx="258744" cy="258744"/>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0DD"/>
            </a:solidFill>
          </p:spPr>
        </p:sp>
      </p:grpSp>
      <p:grpSp>
        <p:nvGrpSpPr>
          <p:cNvPr name="Group 16" id="16"/>
          <p:cNvGrpSpPr/>
          <p:nvPr/>
        </p:nvGrpSpPr>
        <p:grpSpPr>
          <a:xfrm rot="5400000">
            <a:off x="1224595" y="7715769"/>
            <a:ext cx="258744" cy="258744"/>
            <a:chOff x="0" y="0"/>
            <a:chExt cx="6350000" cy="6350000"/>
          </a:xfrm>
        </p:grpSpPr>
        <p:sp>
          <p:nvSpPr>
            <p:cNvPr name="Freeform 17" id="1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0DD"/>
            </a:solidFill>
          </p:spPr>
        </p:sp>
      </p:grpSp>
      <p:grpSp>
        <p:nvGrpSpPr>
          <p:cNvPr name="Group 18" id="18"/>
          <p:cNvGrpSpPr/>
          <p:nvPr/>
        </p:nvGrpSpPr>
        <p:grpSpPr>
          <a:xfrm rot="5400000">
            <a:off x="1224595" y="8899693"/>
            <a:ext cx="258744" cy="258744"/>
            <a:chOff x="0" y="0"/>
            <a:chExt cx="6350000" cy="6350000"/>
          </a:xfrm>
        </p:grpSpPr>
        <p:sp>
          <p:nvSpPr>
            <p:cNvPr name="Freeform 19" id="1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4A60DD"/>
            </a:solidFill>
          </p:spPr>
        </p:sp>
      </p:grpSp>
      <p:sp>
        <p:nvSpPr>
          <p:cNvPr name="Freeform 20" id="20"/>
          <p:cNvSpPr/>
          <p:nvPr/>
        </p:nvSpPr>
        <p:spPr>
          <a:xfrm flipH="false" flipV="false" rot="0">
            <a:off x="14009596" y="5767804"/>
            <a:ext cx="3249704" cy="3417471"/>
          </a:xfrm>
          <a:custGeom>
            <a:avLst/>
            <a:gdLst/>
            <a:ahLst/>
            <a:cxnLst/>
            <a:rect r="r" b="b" t="t" l="l"/>
            <a:pathLst>
              <a:path h="3417471" w="3249704">
                <a:moveTo>
                  <a:pt x="0" y="0"/>
                </a:moveTo>
                <a:lnTo>
                  <a:pt x="3249704" y="0"/>
                </a:lnTo>
                <a:lnTo>
                  <a:pt x="3249704" y="3417471"/>
                </a:lnTo>
                <a:lnTo>
                  <a:pt x="0" y="34174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925061" y="1076128"/>
            <a:ext cx="15334239"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주요 마일스톤 및 일정</a:t>
            </a:r>
          </a:p>
        </p:txBody>
      </p:sp>
      <p:sp>
        <p:nvSpPr>
          <p:cNvPr name="TextBox 22" id="22"/>
          <p:cNvSpPr txBox="true"/>
          <p:nvPr/>
        </p:nvSpPr>
        <p:spPr>
          <a:xfrm rot="0">
            <a:off x="1679234" y="2843383"/>
            <a:ext cx="5318915" cy="422275"/>
          </a:xfrm>
          <a:prstGeom prst="rect">
            <a:avLst/>
          </a:prstGeom>
        </p:spPr>
        <p:txBody>
          <a:bodyPr anchor="t" rtlCol="false" tIns="0" lIns="0" bIns="0" rIns="0">
            <a:spAutoFit/>
          </a:bodyPr>
          <a:lstStyle/>
          <a:p>
            <a:pPr algn="l" marL="0" indent="0" lvl="0">
              <a:lnSpc>
                <a:spcPts val="3500"/>
              </a:lnSpc>
            </a:pPr>
            <a:r>
              <a:rPr lang="en-US" b="true" sz="2500" spc="-25">
                <a:solidFill>
                  <a:srgbClr val="4A60DD"/>
                </a:solidFill>
                <a:latin typeface="Tlab 돋움 레귤러 Bold"/>
                <a:ea typeface="Tlab 돋움 레귤러 Bold"/>
                <a:cs typeface="Tlab 돋움 레귤러 Bold"/>
                <a:sym typeface="Tlab 돋움 레귤러 Bold"/>
              </a:rPr>
              <a:t>1주차: 디지털 마케팅 전략 수립 완료</a:t>
            </a:r>
          </a:p>
        </p:txBody>
      </p:sp>
      <p:sp>
        <p:nvSpPr>
          <p:cNvPr name="TextBox 23" id="23"/>
          <p:cNvSpPr txBox="true"/>
          <p:nvPr/>
        </p:nvSpPr>
        <p:spPr>
          <a:xfrm rot="0">
            <a:off x="6700551" y="2843030"/>
            <a:ext cx="6387866" cy="422275"/>
          </a:xfrm>
          <a:prstGeom prst="rect">
            <a:avLst/>
          </a:prstGeom>
        </p:spPr>
        <p:txBody>
          <a:bodyPr anchor="t" rtlCol="false" tIns="0" lIns="0" bIns="0" rIns="0">
            <a:spAutoFit/>
          </a:bodyPr>
          <a:lstStyle/>
          <a:p>
            <a:pPr algn="l" marL="0" indent="0" lvl="0">
              <a:lnSpc>
                <a:spcPts val="3499"/>
              </a:lnSpc>
            </a:pPr>
            <a:r>
              <a:rPr lang="en-US" sz="2499">
                <a:solidFill>
                  <a:srgbClr val="424242"/>
                </a:solidFill>
                <a:latin typeface="Tlab 돋움 레귤러"/>
                <a:ea typeface="Tlab 돋움 레귤러"/>
                <a:cs typeface="Tlab 돋움 레귤러"/>
                <a:sym typeface="Tlab 돋움 레귤러"/>
              </a:rPr>
              <a:t>목표 시장 및 타겟 고객 분석, 광고 채널 결정</a:t>
            </a:r>
          </a:p>
        </p:txBody>
      </p:sp>
      <p:sp>
        <p:nvSpPr>
          <p:cNvPr name="TextBox 24" id="24"/>
          <p:cNvSpPr txBox="true"/>
          <p:nvPr/>
        </p:nvSpPr>
        <p:spPr>
          <a:xfrm rot="0">
            <a:off x="1679234" y="4027306"/>
            <a:ext cx="5318915" cy="422275"/>
          </a:xfrm>
          <a:prstGeom prst="rect">
            <a:avLst/>
          </a:prstGeom>
        </p:spPr>
        <p:txBody>
          <a:bodyPr anchor="t" rtlCol="false" tIns="0" lIns="0" bIns="0" rIns="0">
            <a:spAutoFit/>
          </a:bodyPr>
          <a:lstStyle/>
          <a:p>
            <a:pPr algn="l" marL="0" indent="0" lvl="0">
              <a:lnSpc>
                <a:spcPts val="3500"/>
              </a:lnSpc>
            </a:pPr>
            <a:r>
              <a:rPr lang="en-US" b="true" sz="2500" spc="-25">
                <a:solidFill>
                  <a:srgbClr val="4A60DD"/>
                </a:solidFill>
                <a:latin typeface="Tlab 돋움 레귤러 Bold"/>
                <a:ea typeface="Tlab 돋움 레귤러 Bold"/>
                <a:cs typeface="Tlab 돋움 레귤러 Bold"/>
                <a:sym typeface="Tlab 돋움 레귤러 Bold"/>
              </a:rPr>
              <a:t>2~3주차: 광고 캠페인 준비</a:t>
            </a:r>
          </a:p>
        </p:txBody>
      </p:sp>
      <p:sp>
        <p:nvSpPr>
          <p:cNvPr name="TextBox 25" id="25"/>
          <p:cNvSpPr txBox="true"/>
          <p:nvPr/>
        </p:nvSpPr>
        <p:spPr>
          <a:xfrm rot="0">
            <a:off x="6700551" y="4027306"/>
            <a:ext cx="6387866" cy="860425"/>
          </a:xfrm>
          <a:prstGeom prst="rect">
            <a:avLst/>
          </a:prstGeom>
        </p:spPr>
        <p:txBody>
          <a:bodyPr anchor="t" rtlCol="false" tIns="0" lIns="0" bIns="0" rIns="0">
            <a:spAutoFit/>
          </a:bodyPr>
          <a:lstStyle/>
          <a:p>
            <a:pPr algn="l" marL="0" indent="0" lvl="0">
              <a:lnSpc>
                <a:spcPts val="3499"/>
              </a:lnSpc>
            </a:pPr>
            <a:r>
              <a:rPr lang="en-US" sz="2499">
                <a:solidFill>
                  <a:srgbClr val="424242"/>
                </a:solidFill>
                <a:latin typeface="Tlab 돋움 레귤러"/>
                <a:ea typeface="Tlab 돋움 레귤러"/>
                <a:cs typeface="Tlab 돋움 레귤러"/>
                <a:sym typeface="Tlab 돋움 레귤러"/>
              </a:rPr>
              <a:t>광고 크리에이티브 제작, 키워드 및 타겟팅 설정, 광고 예산 책정</a:t>
            </a:r>
          </a:p>
        </p:txBody>
      </p:sp>
      <p:sp>
        <p:nvSpPr>
          <p:cNvPr name="TextBox 26" id="26"/>
          <p:cNvSpPr txBox="true"/>
          <p:nvPr/>
        </p:nvSpPr>
        <p:spPr>
          <a:xfrm rot="0">
            <a:off x="1679234" y="5211229"/>
            <a:ext cx="5318915" cy="422275"/>
          </a:xfrm>
          <a:prstGeom prst="rect">
            <a:avLst/>
          </a:prstGeom>
        </p:spPr>
        <p:txBody>
          <a:bodyPr anchor="t" rtlCol="false" tIns="0" lIns="0" bIns="0" rIns="0">
            <a:spAutoFit/>
          </a:bodyPr>
          <a:lstStyle/>
          <a:p>
            <a:pPr algn="l" marL="0" indent="0" lvl="0">
              <a:lnSpc>
                <a:spcPts val="3500"/>
              </a:lnSpc>
            </a:pPr>
            <a:r>
              <a:rPr lang="en-US" b="true" sz="2500" spc="-25">
                <a:solidFill>
                  <a:srgbClr val="4A60DD"/>
                </a:solidFill>
                <a:latin typeface="Tlab 돋움 레귤러 Bold"/>
                <a:ea typeface="Tlab 돋움 레귤러 Bold"/>
                <a:cs typeface="Tlab 돋움 레귤러 Bold"/>
                <a:sym typeface="Tlab 돋움 레귤러 Bold"/>
              </a:rPr>
              <a:t>4주차: 광고 캠페인 실행 시작</a:t>
            </a:r>
          </a:p>
        </p:txBody>
      </p:sp>
      <p:sp>
        <p:nvSpPr>
          <p:cNvPr name="TextBox 27" id="27"/>
          <p:cNvSpPr txBox="true"/>
          <p:nvPr/>
        </p:nvSpPr>
        <p:spPr>
          <a:xfrm rot="0">
            <a:off x="6700551" y="5234089"/>
            <a:ext cx="6387866" cy="422275"/>
          </a:xfrm>
          <a:prstGeom prst="rect">
            <a:avLst/>
          </a:prstGeom>
        </p:spPr>
        <p:txBody>
          <a:bodyPr anchor="t" rtlCol="false" tIns="0" lIns="0" bIns="0" rIns="0">
            <a:spAutoFit/>
          </a:bodyPr>
          <a:lstStyle/>
          <a:p>
            <a:pPr algn="l" marL="0" indent="0" lvl="0">
              <a:lnSpc>
                <a:spcPts val="3499"/>
              </a:lnSpc>
            </a:pPr>
            <a:r>
              <a:rPr lang="en-US" sz="2499">
                <a:solidFill>
                  <a:srgbClr val="424242"/>
                </a:solidFill>
                <a:latin typeface="Tlab 돋움 레귤러"/>
                <a:ea typeface="Tlab 돋움 레귤러"/>
                <a:cs typeface="Tlab 돋움 레귤러"/>
                <a:sym typeface="Tlab 돋움 레귤러"/>
              </a:rPr>
              <a:t>주요 플랫폼에서 광고 집행 시작</a:t>
            </a:r>
          </a:p>
        </p:txBody>
      </p:sp>
      <p:sp>
        <p:nvSpPr>
          <p:cNvPr name="TextBox 28" id="28"/>
          <p:cNvSpPr txBox="true"/>
          <p:nvPr/>
        </p:nvSpPr>
        <p:spPr>
          <a:xfrm rot="0">
            <a:off x="1679234" y="6395153"/>
            <a:ext cx="5318915" cy="422275"/>
          </a:xfrm>
          <a:prstGeom prst="rect">
            <a:avLst/>
          </a:prstGeom>
        </p:spPr>
        <p:txBody>
          <a:bodyPr anchor="t" rtlCol="false" tIns="0" lIns="0" bIns="0" rIns="0">
            <a:spAutoFit/>
          </a:bodyPr>
          <a:lstStyle/>
          <a:p>
            <a:pPr algn="l" marL="0" indent="0" lvl="0">
              <a:lnSpc>
                <a:spcPts val="3500"/>
              </a:lnSpc>
            </a:pPr>
            <a:r>
              <a:rPr lang="en-US" b="true" sz="2500" spc="-25">
                <a:solidFill>
                  <a:srgbClr val="4A60DD"/>
                </a:solidFill>
                <a:latin typeface="Tlab 돋움 레귤러 Bold"/>
                <a:ea typeface="Tlab 돋움 레귤러 Bold"/>
                <a:cs typeface="Tlab 돋움 레귤러 Bold"/>
                <a:sym typeface="Tlab 돋움 레귤러 Bold"/>
              </a:rPr>
              <a:t>5~8주차: 실시간 모니터링 및 최적화</a:t>
            </a:r>
          </a:p>
        </p:txBody>
      </p:sp>
      <p:sp>
        <p:nvSpPr>
          <p:cNvPr name="TextBox 29" id="29"/>
          <p:cNvSpPr txBox="true"/>
          <p:nvPr/>
        </p:nvSpPr>
        <p:spPr>
          <a:xfrm rot="0">
            <a:off x="6700551" y="6397341"/>
            <a:ext cx="6387866" cy="422275"/>
          </a:xfrm>
          <a:prstGeom prst="rect">
            <a:avLst/>
          </a:prstGeom>
        </p:spPr>
        <p:txBody>
          <a:bodyPr anchor="t" rtlCol="false" tIns="0" lIns="0" bIns="0" rIns="0">
            <a:spAutoFit/>
          </a:bodyPr>
          <a:lstStyle/>
          <a:p>
            <a:pPr algn="l" marL="0" indent="0" lvl="0">
              <a:lnSpc>
                <a:spcPts val="3499"/>
              </a:lnSpc>
            </a:pPr>
            <a:r>
              <a:rPr lang="en-US" sz="2499">
                <a:solidFill>
                  <a:srgbClr val="424242"/>
                </a:solidFill>
                <a:latin typeface="Tlab 돋움 레귤러"/>
                <a:ea typeface="Tlab 돋움 레귤러"/>
                <a:cs typeface="Tlab 돋움 레귤러"/>
                <a:sym typeface="Tlab 돋움 레귤러"/>
              </a:rPr>
              <a:t>실시간 데이터 분석을 통해 캠페인 최적화</a:t>
            </a:r>
          </a:p>
        </p:txBody>
      </p:sp>
      <p:sp>
        <p:nvSpPr>
          <p:cNvPr name="TextBox 30" id="30"/>
          <p:cNvSpPr txBox="true"/>
          <p:nvPr/>
        </p:nvSpPr>
        <p:spPr>
          <a:xfrm rot="0">
            <a:off x="1679234" y="7579076"/>
            <a:ext cx="5318915" cy="422275"/>
          </a:xfrm>
          <a:prstGeom prst="rect">
            <a:avLst/>
          </a:prstGeom>
        </p:spPr>
        <p:txBody>
          <a:bodyPr anchor="t" rtlCol="false" tIns="0" lIns="0" bIns="0" rIns="0">
            <a:spAutoFit/>
          </a:bodyPr>
          <a:lstStyle/>
          <a:p>
            <a:pPr algn="l" marL="0" indent="0" lvl="0">
              <a:lnSpc>
                <a:spcPts val="3500"/>
              </a:lnSpc>
            </a:pPr>
            <a:r>
              <a:rPr lang="en-US" b="true" sz="2500" spc="-25">
                <a:solidFill>
                  <a:srgbClr val="4A60DD"/>
                </a:solidFill>
                <a:latin typeface="Tlab 돋움 레귤러 Bold"/>
                <a:ea typeface="Tlab 돋움 레귤러 Bold"/>
                <a:cs typeface="Tlab 돋움 레귤러 Bold"/>
                <a:sym typeface="Tlab 돋움 레귤러 Bold"/>
              </a:rPr>
              <a:t>9주차: 성과 분석 및 보고서 작성</a:t>
            </a:r>
          </a:p>
        </p:txBody>
      </p:sp>
      <p:sp>
        <p:nvSpPr>
          <p:cNvPr name="TextBox 31" id="31"/>
          <p:cNvSpPr txBox="true"/>
          <p:nvPr/>
        </p:nvSpPr>
        <p:spPr>
          <a:xfrm rot="0">
            <a:off x="6700551" y="7579076"/>
            <a:ext cx="5885010" cy="422275"/>
          </a:xfrm>
          <a:prstGeom prst="rect">
            <a:avLst/>
          </a:prstGeom>
        </p:spPr>
        <p:txBody>
          <a:bodyPr anchor="t" rtlCol="false" tIns="0" lIns="0" bIns="0" rIns="0">
            <a:spAutoFit/>
          </a:bodyPr>
          <a:lstStyle/>
          <a:p>
            <a:pPr algn="l" marL="0" indent="0" lvl="0">
              <a:lnSpc>
                <a:spcPts val="3499"/>
              </a:lnSpc>
            </a:pPr>
            <a:r>
              <a:rPr lang="en-US" sz="2499">
                <a:solidFill>
                  <a:srgbClr val="424242"/>
                </a:solidFill>
                <a:latin typeface="Tlab 돋움 레귤러"/>
                <a:ea typeface="Tlab 돋움 레귤러"/>
                <a:cs typeface="Tlab 돋움 레귤러"/>
                <a:sym typeface="Tlab 돋움 레귤러"/>
              </a:rPr>
              <a:t>트래픽, 전환율 및 고객 획득 비용(CAC) 분석</a:t>
            </a:r>
          </a:p>
        </p:txBody>
      </p:sp>
      <p:sp>
        <p:nvSpPr>
          <p:cNvPr name="TextBox 32" id="32"/>
          <p:cNvSpPr txBox="true"/>
          <p:nvPr/>
        </p:nvSpPr>
        <p:spPr>
          <a:xfrm rot="0">
            <a:off x="1679234" y="8763000"/>
            <a:ext cx="5318915" cy="422275"/>
          </a:xfrm>
          <a:prstGeom prst="rect">
            <a:avLst/>
          </a:prstGeom>
        </p:spPr>
        <p:txBody>
          <a:bodyPr anchor="t" rtlCol="false" tIns="0" lIns="0" bIns="0" rIns="0">
            <a:spAutoFit/>
          </a:bodyPr>
          <a:lstStyle/>
          <a:p>
            <a:pPr algn="l" marL="0" indent="0" lvl="0">
              <a:lnSpc>
                <a:spcPts val="3500"/>
              </a:lnSpc>
            </a:pPr>
            <a:r>
              <a:rPr lang="en-US" b="true" sz="2500" spc="-25">
                <a:solidFill>
                  <a:srgbClr val="4A60DD"/>
                </a:solidFill>
                <a:latin typeface="Tlab 돋움 레귤러 Bold"/>
                <a:ea typeface="Tlab 돋움 레귤러 Bold"/>
                <a:cs typeface="Tlab 돋움 레귤러 Bold"/>
                <a:sym typeface="Tlab 돋움 레귤러 Bold"/>
              </a:rPr>
              <a:t>10주차: 최종 보고 및 피드백 수렴</a:t>
            </a:r>
          </a:p>
        </p:txBody>
      </p:sp>
      <p:sp>
        <p:nvSpPr>
          <p:cNvPr name="TextBox 33" id="33"/>
          <p:cNvSpPr txBox="true"/>
          <p:nvPr/>
        </p:nvSpPr>
        <p:spPr>
          <a:xfrm rot="0">
            <a:off x="6700551" y="8763000"/>
            <a:ext cx="5885010" cy="422275"/>
          </a:xfrm>
          <a:prstGeom prst="rect">
            <a:avLst/>
          </a:prstGeom>
        </p:spPr>
        <p:txBody>
          <a:bodyPr anchor="t" rtlCol="false" tIns="0" lIns="0" bIns="0" rIns="0">
            <a:spAutoFit/>
          </a:bodyPr>
          <a:lstStyle/>
          <a:p>
            <a:pPr algn="l" marL="0" indent="0" lvl="0">
              <a:lnSpc>
                <a:spcPts val="3499"/>
              </a:lnSpc>
            </a:pPr>
            <a:r>
              <a:rPr lang="en-US" sz="2499">
                <a:solidFill>
                  <a:srgbClr val="424242"/>
                </a:solidFill>
                <a:latin typeface="Tlab 돋움 레귤러"/>
                <a:ea typeface="Tlab 돋움 레귤러"/>
                <a:cs typeface="Tlab 돋움 레귤러"/>
                <a:sym typeface="Tlab 돋움 레귤러"/>
              </a:rPr>
              <a:t>최종 성과 보고서 작성 및 경영진과의 논의</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30298"/>
            <a:ext cx="650534" cy="650534"/>
            <a:chOff x="0" y="0"/>
            <a:chExt cx="867378" cy="867378"/>
          </a:xfrm>
        </p:grpSpPr>
        <p:sp>
          <p:nvSpPr>
            <p:cNvPr name="AutoShape 3" id="3"/>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graphicFrame>
        <p:nvGraphicFramePr>
          <p:cNvPr name="Table 7" id="7"/>
          <p:cNvGraphicFramePr>
            <a:graphicFrameLocks noGrp="true"/>
          </p:cNvGraphicFramePr>
          <p:nvPr/>
        </p:nvGraphicFramePr>
        <p:xfrm>
          <a:off x="1028700" y="2911894"/>
          <a:ext cx="16058309" cy="6196584"/>
        </p:xfrm>
        <a:graphic>
          <a:graphicData uri="http://schemas.openxmlformats.org/drawingml/2006/table">
            <a:tbl>
              <a:tblPr/>
              <a:tblGrid>
                <a:gridCol w="7295187"/>
                <a:gridCol w="4582395"/>
                <a:gridCol w="4180727"/>
              </a:tblGrid>
              <a:tr h="1023897">
                <a:tc>
                  <a:txBody>
                    <a:bodyPr anchor="t" rtlCol="false"/>
                    <a:lstStyle/>
                    <a:p>
                      <a:pPr algn="l">
                        <a:lnSpc>
                          <a:spcPts val="3920"/>
                        </a:lnSpc>
                        <a:defRPr/>
                      </a:pPr>
                      <a:r>
                        <a:rPr lang="en-US" sz="2800" b="true">
                          <a:solidFill>
                            <a:srgbClr val="FFFFFF"/>
                          </a:solidFill>
                          <a:latin typeface="Tlab 돋움 레귤러 Bold"/>
                          <a:ea typeface="Tlab 돋움 레귤러 Bold"/>
                          <a:cs typeface="Tlab 돋움 레귤러 Bold"/>
                          <a:sym typeface="Tlab 돋움 레귤러 Bold"/>
                        </a:rPr>
                        <a:t>단계</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solidFill>
                      <a:srgbClr val="4A60DD"/>
                    </a:solidFill>
                  </a:tcPr>
                </a:tc>
                <a:tc>
                  <a:txBody>
                    <a:bodyPr anchor="t" rtlCol="false"/>
                    <a:lstStyle/>
                    <a:p>
                      <a:pPr algn="l">
                        <a:lnSpc>
                          <a:spcPts val="3920"/>
                        </a:lnSpc>
                        <a:defRPr/>
                      </a:pPr>
                      <a:r>
                        <a:rPr lang="en-US" sz="2800" b="true">
                          <a:solidFill>
                            <a:srgbClr val="FFFFFF"/>
                          </a:solidFill>
                          <a:latin typeface="Tlab 돋움 레귤러 Bold"/>
                          <a:ea typeface="Tlab 돋움 레귤러 Bold"/>
                          <a:cs typeface="Tlab 돋움 레귤러 Bold"/>
                          <a:sym typeface="Tlab 돋움 레귤러 Bold"/>
                        </a:rPr>
                        <a:t>시작일</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solidFill>
                      <a:srgbClr val="4A60DD"/>
                    </a:solidFill>
                  </a:tcPr>
                </a:tc>
                <a:tc>
                  <a:txBody>
                    <a:bodyPr anchor="t" rtlCol="false"/>
                    <a:lstStyle/>
                    <a:p>
                      <a:pPr algn="l">
                        <a:lnSpc>
                          <a:spcPts val="3920"/>
                        </a:lnSpc>
                        <a:defRPr/>
                      </a:pPr>
                      <a:r>
                        <a:rPr lang="en-US" sz="2800" b="true">
                          <a:solidFill>
                            <a:srgbClr val="FFFFFF"/>
                          </a:solidFill>
                          <a:latin typeface="Tlab 돋움 레귤러 Bold"/>
                          <a:ea typeface="Tlab 돋움 레귤러 Bold"/>
                          <a:cs typeface="Tlab 돋움 레귤러 Bold"/>
                          <a:sym typeface="Tlab 돋움 레귤러 Bold"/>
                        </a:rPr>
                        <a:t>종료일</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solidFill>
                      <a:srgbClr val="4A60DD"/>
                    </a:solidFill>
                  </a:tcPr>
                </a:tc>
              </a:tr>
              <a:tr h="1041631">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마케팅 전략 수립</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1주차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1주차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r>
              <a:tr h="1025279">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광고 크리에이티브 준비</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2주차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3주차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r>
              <a:tr h="1057983">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광고 집행</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4주차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8주차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r>
              <a:tr h="1023897">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성과 분석</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9주차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9주차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r>
              <a:tr h="1023897">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최종 보고 및 피드백</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10주차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c>
                  <a:txBody>
                    <a:bodyPr anchor="t" rtlCol="false"/>
                    <a:lstStyle/>
                    <a:p>
                      <a:pPr algn="l">
                        <a:lnSpc>
                          <a:spcPts val="3920"/>
                        </a:lnSpc>
                        <a:defRPr/>
                      </a:pPr>
                      <a:r>
                        <a:rPr lang="en-US" sz="2800" b="true">
                          <a:solidFill>
                            <a:srgbClr val="000000"/>
                          </a:solidFill>
                          <a:latin typeface="Tlab 돋움 레귤러 Bold"/>
                          <a:ea typeface="Tlab 돋움 레귤러 Bold"/>
                          <a:cs typeface="Tlab 돋움 레귤러 Bold"/>
                          <a:sym typeface="Tlab 돋움 레귤러 Bold"/>
                        </a:rPr>
                        <a:t>10주차</a:t>
                      </a:r>
                      <a:endParaRPr lang="en-US" sz="1100"/>
                    </a:p>
                  </a:txBody>
                  <a:tcPr marL="190500" marR="190500" marT="190500" marB="190500" anchor="ctr">
                    <a:lnL cmpd="sng" algn="ctr" cap="flat" w="28575">
                      <a:solidFill>
                        <a:srgbClr val="424242"/>
                      </a:solidFill>
                      <a:prstDash val="solid"/>
                      <a:round/>
                      <a:headEnd type="none" w="med" len="med"/>
                      <a:tailEnd type="none" w="med" len="med"/>
                    </a:lnL>
                    <a:lnR cmpd="sng" algn="ctr" cap="flat" w="28575">
                      <a:solidFill>
                        <a:srgbClr val="424242"/>
                      </a:solidFill>
                      <a:prstDash val="solid"/>
                      <a:round/>
                      <a:headEnd type="none" w="med" len="med"/>
                      <a:tailEnd type="none" w="med" len="med"/>
                    </a:lnR>
                    <a:lnT cmpd="sng" algn="ctr" cap="flat" w="28575">
                      <a:solidFill>
                        <a:srgbClr val="424242"/>
                      </a:solidFill>
                      <a:prstDash val="solid"/>
                      <a:round/>
                      <a:headEnd type="none" w="med" len="med"/>
                      <a:tailEnd type="none" w="med" len="med"/>
                    </a:lnT>
                    <a:lnB cmpd="sng" algn="ctr" cap="flat" w="28575">
                      <a:solidFill>
                        <a:srgbClr val="424242"/>
                      </a:solidFill>
                      <a:prstDash val="solid"/>
                      <a:round/>
                      <a:headEnd type="none" w="med" len="med"/>
                      <a:tailEnd type="none" w="med" len="med"/>
                    </a:lnB>
                  </a:tcPr>
                </a:tc>
              </a:tr>
            </a:tbl>
          </a:graphicData>
        </a:graphic>
      </p:graphicFrame>
      <p:sp>
        <p:nvSpPr>
          <p:cNvPr name="TextBox 8" id="8"/>
          <p:cNvSpPr txBox="true"/>
          <p:nvPr/>
        </p:nvSpPr>
        <p:spPr>
          <a:xfrm rot="0">
            <a:off x="1925061" y="1076128"/>
            <a:ext cx="15161948"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프로젝트 일정</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30298"/>
            <a:ext cx="650534" cy="650534"/>
            <a:chOff x="0" y="0"/>
            <a:chExt cx="867378" cy="867378"/>
          </a:xfrm>
        </p:grpSpPr>
        <p:sp>
          <p:nvSpPr>
            <p:cNvPr name="AutoShape 3" id="3"/>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sp>
        <p:nvSpPr>
          <p:cNvPr name="Freeform 7" id="7"/>
          <p:cNvSpPr/>
          <p:nvPr/>
        </p:nvSpPr>
        <p:spPr>
          <a:xfrm flipH="false" flipV="false" rot="0">
            <a:off x="13329409" y="6643136"/>
            <a:ext cx="3929891" cy="2615164"/>
          </a:xfrm>
          <a:custGeom>
            <a:avLst/>
            <a:gdLst/>
            <a:ahLst/>
            <a:cxnLst/>
            <a:rect r="r" b="b" t="t" l="l"/>
            <a:pathLst>
              <a:path h="2615164" w="3929891">
                <a:moveTo>
                  <a:pt x="0" y="0"/>
                </a:moveTo>
                <a:lnTo>
                  <a:pt x="3929891" y="0"/>
                </a:lnTo>
                <a:lnTo>
                  <a:pt x="3929891" y="2615164"/>
                </a:lnTo>
                <a:lnTo>
                  <a:pt x="0" y="26151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925061" y="1076128"/>
            <a:ext cx="15334239"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기대 효과</a:t>
            </a:r>
          </a:p>
        </p:txBody>
      </p:sp>
      <p:sp>
        <p:nvSpPr>
          <p:cNvPr name="TextBox 9" id="9"/>
          <p:cNvSpPr txBox="true"/>
          <p:nvPr/>
        </p:nvSpPr>
        <p:spPr>
          <a:xfrm rot="0">
            <a:off x="1317138" y="2621029"/>
            <a:ext cx="13495859"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비용 절감</a:t>
            </a:r>
          </a:p>
        </p:txBody>
      </p:sp>
      <p:sp>
        <p:nvSpPr>
          <p:cNvPr name="TextBox 10" id="10"/>
          <p:cNvSpPr txBox="true"/>
          <p:nvPr/>
        </p:nvSpPr>
        <p:spPr>
          <a:xfrm rot="0">
            <a:off x="1317138" y="4731593"/>
            <a:ext cx="13495859"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매출 증가</a:t>
            </a:r>
          </a:p>
        </p:txBody>
      </p:sp>
      <p:sp>
        <p:nvSpPr>
          <p:cNvPr name="TextBox 11" id="11"/>
          <p:cNvSpPr txBox="true"/>
          <p:nvPr/>
        </p:nvSpPr>
        <p:spPr>
          <a:xfrm rot="0">
            <a:off x="1317138" y="7187773"/>
            <a:ext cx="13495859" cy="414655"/>
          </a:xfrm>
          <a:prstGeom prst="rect">
            <a:avLst/>
          </a:prstGeom>
        </p:spPr>
        <p:txBody>
          <a:bodyPr anchor="t" rtlCol="false" tIns="0" lIns="0" bIns="0" rIns="0">
            <a:spAutoFit/>
          </a:bodyPr>
          <a:lstStyle/>
          <a:p>
            <a:pPr algn="l">
              <a:lnSpc>
                <a:spcPts val="3380"/>
              </a:lnSpc>
            </a:pPr>
            <a:r>
              <a:rPr lang="en-US" sz="2600" spc="-26" b="true">
                <a:solidFill>
                  <a:srgbClr val="4A60DD"/>
                </a:solidFill>
                <a:latin typeface="Tlab 돋움 레귤러 Bold"/>
                <a:ea typeface="Tlab 돋움 레귤러 Bold"/>
                <a:cs typeface="Tlab 돋움 레귤러 Bold"/>
                <a:sym typeface="Tlab 돋움 레귤러 Bold"/>
              </a:rPr>
              <a:t>브랜드 인지도 향상</a:t>
            </a:r>
          </a:p>
        </p:txBody>
      </p:sp>
      <p:sp>
        <p:nvSpPr>
          <p:cNvPr name="TextBox 12" id="12"/>
          <p:cNvSpPr txBox="true"/>
          <p:nvPr/>
        </p:nvSpPr>
        <p:spPr>
          <a:xfrm rot="0">
            <a:off x="1353967" y="3137743"/>
            <a:ext cx="11201404" cy="914400"/>
          </a:xfrm>
          <a:prstGeom prst="rect">
            <a:avLst/>
          </a:prstGeom>
        </p:spPr>
        <p:txBody>
          <a:bodyPr anchor="t" rtlCol="false" tIns="0" lIns="0" bIns="0" rIns="0">
            <a:spAutoFit/>
          </a:bodyPr>
          <a:lstStyle/>
          <a:p>
            <a:pPr algn="l" marL="539748" indent="-269874" lvl="1">
              <a:lnSpc>
                <a:spcPts val="3749"/>
              </a:lnSpc>
              <a:buFont typeface="Arial"/>
              <a:buChar char="•"/>
            </a:pPr>
            <a:r>
              <a:rPr lang="en-US" sz="2499">
                <a:solidFill>
                  <a:srgbClr val="424242"/>
                </a:solidFill>
                <a:latin typeface="Tlab 돋움 레귤러"/>
                <a:ea typeface="Tlab 돋움 레귤러"/>
                <a:cs typeface="Tlab 돋움 레귤러"/>
                <a:sym typeface="Tlab 돋움 레귤러"/>
              </a:rPr>
              <a:t>고객 획득 비용 10% 절감: 온라인 광고 전략을 최적화하여 고객 획득 비용 감소</a:t>
            </a:r>
          </a:p>
          <a:p>
            <a:pPr algn="l" marL="539748" indent="-269874" lvl="1">
              <a:lnSpc>
                <a:spcPts val="3749"/>
              </a:lnSpc>
              <a:buFont typeface="Arial"/>
              <a:buChar char="•"/>
            </a:pPr>
            <a:r>
              <a:rPr lang="en-US" sz="2499">
                <a:solidFill>
                  <a:srgbClr val="424242"/>
                </a:solidFill>
                <a:latin typeface="Tlab 돋움 레귤러"/>
                <a:ea typeface="Tlab 돋움 레귤러"/>
                <a:cs typeface="Tlab 돋움 레귤러"/>
                <a:sym typeface="Tlab 돋움 레귤러"/>
              </a:rPr>
              <a:t>광고 효율성 향상: 정확한 타겟팅을 통해 불필요한 광고 지출을 줄임</a:t>
            </a:r>
          </a:p>
        </p:txBody>
      </p:sp>
      <p:sp>
        <p:nvSpPr>
          <p:cNvPr name="TextBox 13" id="13"/>
          <p:cNvSpPr txBox="true"/>
          <p:nvPr/>
        </p:nvSpPr>
        <p:spPr>
          <a:xfrm rot="0">
            <a:off x="1353967" y="5251023"/>
            <a:ext cx="11201404" cy="1381125"/>
          </a:xfrm>
          <a:prstGeom prst="rect">
            <a:avLst/>
          </a:prstGeom>
        </p:spPr>
        <p:txBody>
          <a:bodyPr anchor="t" rtlCol="false" tIns="0" lIns="0" bIns="0" rIns="0">
            <a:spAutoFit/>
          </a:bodyPr>
          <a:lstStyle/>
          <a:p>
            <a:pPr algn="l" marL="539748" indent="-269874" lvl="1">
              <a:lnSpc>
                <a:spcPts val="3749"/>
              </a:lnSpc>
              <a:buFont typeface="Arial"/>
              <a:buChar char="•"/>
            </a:pPr>
            <a:r>
              <a:rPr lang="en-US" sz="2499">
                <a:solidFill>
                  <a:srgbClr val="424242"/>
                </a:solidFill>
                <a:latin typeface="Tlab 돋움 레귤러"/>
                <a:ea typeface="Tlab 돋움 레귤러"/>
                <a:cs typeface="Tlab 돋움 레귤러"/>
                <a:sym typeface="Tlab 돋움 레귤러"/>
              </a:rPr>
              <a:t>전환율(Conversion Rate) 증가: </a:t>
            </a:r>
            <a:r>
              <a:rPr lang="en-US" sz="2499">
                <a:solidFill>
                  <a:srgbClr val="424242"/>
                </a:solidFill>
                <a:latin typeface="Tlab 돋움 레귤러"/>
                <a:ea typeface="Tlab 돋움 레귤러"/>
                <a:cs typeface="Tlab 돋움 레귤러"/>
                <a:sym typeface="Tlab 돋움 레귤러"/>
              </a:rPr>
              <a:t>웹사이트 방문자가 실제 구매로 이어지는 비율 5% → 7%로 증가</a:t>
            </a:r>
          </a:p>
          <a:p>
            <a:pPr algn="l" marL="539748" indent="-269874" lvl="1">
              <a:lnSpc>
                <a:spcPts val="3749"/>
              </a:lnSpc>
              <a:buFont typeface="Arial"/>
              <a:buChar char="•"/>
            </a:pPr>
            <a:r>
              <a:rPr lang="en-US" sz="2499">
                <a:solidFill>
                  <a:srgbClr val="424242"/>
                </a:solidFill>
                <a:latin typeface="Tlab 돋움 레귤러"/>
                <a:ea typeface="Tlab 돋움 레귤러"/>
                <a:cs typeface="Tlab 돋움 레귤러"/>
                <a:sym typeface="Tlab 돋움 레귤러"/>
              </a:rPr>
              <a:t>신규 고객 확보: 타겟팅 캠페인을 통해 20% 이상의 신규 고객 확보 기대</a:t>
            </a:r>
          </a:p>
        </p:txBody>
      </p:sp>
      <p:sp>
        <p:nvSpPr>
          <p:cNvPr name="TextBox 14" id="14"/>
          <p:cNvSpPr txBox="true"/>
          <p:nvPr/>
        </p:nvSpPr>
        <p:spPr>
          <a:xfrm rot="0">
            <a:off x="1353967" y="7707203"/>
            <a:ext cx="10949773" cy="1381125"/>
          </a:xfrm>
          <a:prstGeom prst="rect">
            <a:avLst/>
          </a:prstGeom>
        </p:spPr>
        <p:txBody>
          <a:bodyPr anchor="t" rtlCol="false" tIns="0" lIns="0" bIns="0" rIns="0">
            <a:spAutoFit/>
          </a:bodyPr>
          <a:lstStyle/>
          <a:p>
            <a:pPr algn="l" marL="539748" indent="-269874" lvl="1">
              <a:lnSpc>
                <a:spcPts val="3749"/>
              </a:lnSpc>
              <a:buFont typeface="Arial"/>
              <a:buChar char="•"/>
            </a:pPr>
            <a:r>
              <a:rPr lang="en-US" sz="2499">
                <a:solidFill>
                  <a:srgbClr val="424242"/>
                </a:solidFill>
                <a:latin typeface="Tlab 돋움 레귤러"/>
                <a:ea typeface="Tlab 돋움 레귤러"/>
                <a:cs typeface="Tlab 돋움 레귤러"/>
                <a:sym typeface="Tlab 돋움 레귤러"/>
              </a:rPr>
              <a:t>소셜 미디어 참여율 20% 증가: </a:t>
            </a:r>
            <a:r>
              <a:rPr lang="en-US" sz="2499">
                <a:solidFill>
                  <a:srgbClr val="424242"/>
                </a:solidFill>
                <a:latin typeface="Tlab 돋움 레귤러"/>
                <a:ea typeface="Tlab 돋움 레귤러"/>
                <a:cs typeface="Tlab 돋움 레귤러"/>
                <a:sym typeface="Tlab 돋움 레귤러"/>
              </a:rPr>
              <a:t>소셜 미디어 광고와 콘텐츠 전략을 통해 브랜드 인지도를 높임</a:t>
            </a:r>
          </a:p>
          <a:p>
            <a:pPr algn="l" marL="539748" indent="-269874" lvl="1">
              <a:lnSpc>
                <a:spcPts val="3749"/>
              </a:lnSpc>
              <a:buFont typeface="Arial"/>
              <a:buChar char="•"/>
            </a:pPr>
            <a:r>
              <a:rPr lang="en-US" sz="2499">
                <a:solidFill>
                  <a:srgbClr val="424242"/>
                </a:solidFill>
                <a:latin typeface="Tlab 돋움 레귤러"/>
                <a:ea typeface="Tlab 돋움 레귤러"/>
                <a:cs typeface="Tlab 돋움 레귤러"/>
                <a:sym typeface="Tlab 돋움 레귤러"/>
              </a:rPr>
              <a:t>인플루언서 협업을 통한 브랜드 확산 효과 극대화</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DEDEE"/>
        </a:solidFill>
      </p:bgPr>
    </p:bg>
    <p:spTree>
      <p:nvGrpSpPr>
        <p:cNvPr id="1" name=""/>
        <p:cNvGrpSpPr/>
        <p:nvPr/>
      </p:nvGrpSpPr>
      <p:grpSpPr>
        <a:xfrm>
          <a:off x="0" y="0"/>
          <a:ext cx="0" cy="0"/>
          <a:chOff x="0" y="0"/>
          <a:chExt cx="0" cy="0"/>
        </a:xfrm>
      </p:grpSpPr>
      <p:grpSp>
        <p:nvGrpSpPr>
          <p:cNvPr name="Group 2" id="2"/>
          <p:cNvGrpSpPr/>
          <p:nvPr/>
        </p:nvGrpSpPr>
        <p:grpSpPr>
          <a:xfrm rot="0">
            <a:off x="1028700" y="1330298"/>
            <a:ext cx="650534" cy="650534"/>
            <a:chOff x="0" y="0"/>
            <a:chExt cx="867378" cy="867378"/>
          </a:xfrm>
        </p:grpSpPr>
        <p:sp>
          <p:nvSpPr>
            <p:cNvPr name="AutoShape 3" id="3"/>
            <p:cNvSpPr/>
            <p:nvPr/>
          </p:nvSpPr>
          <p:spPr>
            <a:xfrm>
              <a:off x="0" y="433689"/>
              <a:ext cx="867378" cy="0"/>
            </a:xfrm>
            <a:prstGeom prst="line">
              <a:avLst/>
            </a:prstGeom>
            <a:ln cap="flat" w="139700">
              <a:solidFill>
                <a:srgbClr val="4A60DD"/>
              </a:solidFill>
              <a:prstDash val="solid"/>
              <a:headEnd type="none" len="sm" w="sm"/>
              <a:tailEnd type="none" len="sm" w="sm"/>
            </a:ln>
          </p:spPr>
        </p:sp>
        <p:sp>
          <p:nvSpPr>
            <p:cNvPr name="AutoShape 4" id="4"/>
            <p:cNvSpPr/>
            <p:nvPr/>
          </p:nvSpPr>
          <p:spPr>
            <a:xfrm flipV="true">
              <a:off x="433689" y="0"/>
              <a:ext cx="0" cy="867378"/>
            </a:xfrm>
            <a:prstGeom prst="line">
              <a:avLst/>
            </a:prstGeom>
            <a:ln cap="flat" w="139700">
              <a:solidFill>
                <a:srgbClr val="4A60DD"/>
              </a:solidFill>
              <a:prstDash val="solid"/>
              <a:headEnd type="none" len="sm" w="sm"/>
              <a:tailEnd type="none" len="sm" w="sm"/>
            </a:ln>
          </p:spPr>
        </p:sp>
        <p:sp>
          <p:nvSpPr>
            <p:cNvPr name="AutoShape 5" id="5"/>
            <p:cNvSpPr/>
            <p:nvPr/>
          </p:nvSpPr>
          <p:spPr>
            <a:xfrm flipV="true">
              <a:off x="127025" y="127025"/>
              <a:ext cx="613329" cy="613329"/>
            </a:xfrm>
            <a:prstGeom prst="line">
              <a:avLst/>
            </a:prstGeom>
            <a:ln cap="flat" w="139700">
              <a:solidFill>
                <a:srgbClr val="4A60DD"/>
              </a:solidFill>
              <a:prstDash val="solid"/>
              <a:headEnd type="none" len="sm" w="sm"/>
              <a:tailEnd type="none" len="sm" w="sm"/>
            </a:ln>
          </p:spPr>
        </p:sp>
        <p:sp>
          <p:nvSpPr>
            <p:cNvPr name="AutoShape 6" id="6"/>
            <p:cNvSpPr/>
            <p:nvPr/>
          </p:nvSpPr>
          <p:spPr>
            <a:xfrm flipH="true" flipV="true">
              <a:off x="127025" y="127025"/>
              <a:ext cx="613329" cy="613329"/>
            </a:xfrm>
            <a:prstGeom prst="line">
              <a:avLst/>
            </a:prstGeom>
            <a:ln cap="flat" w="139700">
              <a:solidFill>
                <a:srgbClr val="4A60DD"/>
              </a:solidFill>
              <a:prstDash val="solid"/>
              <a:headEnd type="none" len="sm" w="sm"/>
              <a:tailEnd type="none" len="sm" w="sm"/>
            </a:ln>
          </p:spPr>
        </p:sp>
      </p:grpSp>
      <p:grpSp>
        <p:nvGrpSpPr>
          <p:cNvPr name="Group 7" id="7"/>
          <p:cNvGrpSpPr/>
          <p:nvPr/>
        </p:nvGrpSpPr>
        <p:grpSpPr>
          <a:xfrm rot="0">
            <a:off x="2030399" y="3139888"/>
            <a:ext cx="3223445" cy="322344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solidFill>
                <a:srgbClr val="4A60DD"/>
              </a:solid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7431710" y="3139888"/>
            <a:ext cx="3223445" cy="322344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solidFill>
                <a:srgbClr val="4A60DD"/>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3153071" y="3139888"/>
            <a:ext cx="3223445" cy="322344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7150" cap="sq">
              <a:solidFill>
                <a:srgbClr val="4A60DD"/>
              </a:soli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925061" y="1076128"/>
            <a:ext cx="15334239" cy="1108710"/>
          </a:xfrm>
          <a:prstGeom prst="rect">
            <a:avLst/>
          </a:prstGeom>
        </p:spPr>
        <p:txBody>
          <a:bodyPr anchor="t" rtlCol="false" tIns="0" lIns="0" bIns="0" rIns="0">
            <a:spAutoFit/>
          </a:bodyPr>
          <a:lstStyle/>
          <a:p>
            <a:pPr algn="l">
              <a:lnSpc>
                <a:spcPts val="8819"/>
              </a:lnSpc>
            </a:pPr>
            <a:r>
              <a:rPr lang="en-US" b="true" sz="6999" spc="-209">
                <a:solidFill>
                  <a:srgbClr val="4A60DD"/>
                </a:solidFill>
                <a:latin typeface="Tlab 돋움 레귤러 Bold"/>
                <a:ea typeface="Tlab 돋움 레귤러 Bold"/>
                <a:cs typeface="Tlab 돋움 레귤러 Bold"/>
                <a:sym typeface="Tlab 돋움 레귤러 Bold"/>
              </a:rPr>
              <a:t>결론</a:t>
            </a:r>
          </a:p>
        </p:txBody>
      </p:sp>
      <p:sp>
        <p:nvSpPr>
          <p:cNvPr name="TextBox 17" id="17"/>
          <p:cNvSpPr txBox="true"/>
          <p:nvPr/>
        </p:nvSpPr>
        <p:spPr>
          <a:xfrm rot="0">
            <a:off x="1793441" y="4274090"/>
            <a:ext cx="3697363" cy="916940"/>
          </a:xfrm>
          <a:prstGeom prst="rect">
            <a:avLst/>
          </a:prstGeom>
        </p:spPr>
        <p:txBody>
          <a:bodyPr anchor="t" rtlCol="false" tIns="0" lIns="0" bIns="0" rIns="0">
            <a:spAutoFit/>
          </a:bodyPr>
          <a:lstStyle/>
          <a:p>
            <a:pPr algn="ctr">
              <a:lnSpc>
                <a:spcPts val="3640"/>
              </a:lnSpc>
            </a:pPr>
            <a:r>
              <a:rPr lang="en-US" b="true" sz="2800" spc="-28">
                <a:solidFill>
                  <a:srgbClr val="4A60DD"/>
                </a:solidFill>
                <a:latin typeface="Tlab 돋움 레귤러 Bold"/>
                <a:ea typeface="Tlab 돋움 레귤러 Bold"/>
                <a:cs typeface="Tlab 돋움 레귤러 Bold"/>
                <a:sym typeface="Tlab 돋움 레귤러 Bold"/>
              </a:rPr>
              <a:t>효과적인</a:t>
            </a:r>
          </a:p>
          <a:p>
            <a:pPr algn="ctr">
              <a:lnSpc>
                <a:spcPts val="3640"/>
              </a:lnSpc>
            </a:pPr>
            <a:r>
              <a:rPr lang="en-US" b="true" sz="2800" spc="-28">
                <a:solidFill>
                  <a:srgbClr val="4A60DD"/>
                </a:solidFill>
                <a:latin typeface="Tlab 돋움 레귤러 Bold"/>
                <a:ea typeface="Tlab 돋움 레귤러 Bold"/>
                <a:cs typeface="Tlab 돋움 레귤러 Bold"/>
                <a:sym typeface="Tlab 돋움 레귤러 Bold"/>
              </a:rPr>
              <a:t>디지털 마케팅</a:t>
            </a:r>
          </a:p>
        </p:txBody>
      </p:sp>
      <p:sp>
        <p:nvSpPr>
          <p:cNvPr name="TextBox 18" id="18"/>
          <p:cNvSpPr txBox="true"/>
          <p:nvPr/>
        </p:nvSpPr>
        <p:spPr>
          <a:xfrm rot="0">
            <a:off x="7236973" y="4274090"/>
            <a:ext cx="3697363" cy="916940"/>
          </a:xfrm>
          <a:prstGeom prst="rect">
            <a:avLst/>
          </a:prstGeom>
        </p:spPr>
        <p:txBody>
          <a:bodyPr anchor="t" rtlCol="false" tIns="0" lIns="0" bIns="0" rIns="0">
            <a:spAutoFit/>
          </a:bodyPr>
          <a:lstStyle/>
          <a:p>
            <a:pPr algn="ctr">
              <a:lnSpc>
                <a:spcPts val="3640"/>
              </a:lnSpc>
            </a:pPr>
            <a:r>
              <a:rPr lang="en-US" b="true" sz="2800" spc="-28">
                <a:solidFill>
                  <a:srgbClr val="4A60DD"/>
                </a:solidFill>
                <a:latin typeface="Tlab 돋움 레귤러 Bold"/>
                <a:ea typeface="Tlab 돋움 레귤러 Bold"/>
                <a:cs typeface="Tlab 돋움 레귤러 Bold"/>
                <a:sym typeface="Tlab 돋움 레귤러 Bold"/>
              </a:rPr>
              <a:t>매출 성장과</a:t>
            </a:r>
          </a:p>
          <a:p>
            <a:pPr algn="ctr">
              <a:lnSpc>
                <a:spcPts val="3640"/>
              </a:lnSpc>
            </a:pPr>
            <a:r>
              <a:rPr lang="en-US" b="true" sz="2800" spc="-28">
                <a:solidFill>
                  <a:srgbClr val="4A60DD"/>
                </a:solidFill>
                <a:latin typeface="Tlab 돋움 레귤러 Bold"/>
                <a:ea typeface="Tlab 돋움 레귤러 Bold"/>
                <a:cs typeface="Tlab 돋움 레귤러 Bold"/>
                <a:sym typeface="Tlab 돋움 레귤러 Bold"/>
              </a:rPr>
              <a:t>비용 절감</a:t>
            </a:r>
          </a:p>
        </p:txBody>
      </p:sp>
      <p:sp>
        <p:nvSpPr>
          <p:cNvPr name="TextBox 19" id="19"/>
          <p:cNvSpPr txBox="true"/>
          <p:nvPr/>
        </p:nvSpPr>
        <p:spPr>
          <a:xfrm rot="0">
            <a:off x="12917465" y="4274090"/>
            <a:ext cx="3697363" cy="916940"/>
          </a:xfrm>
          <a:prstGeom prst="rect">
            <a:avLst/>
          </a:prstGeom>
        </p:spPr>
        <p:txBody>
          <a:bodyPr anchor="t" rtlCol="false" tIns="0" lIns="0" bIns="0" rIns="0">
            <a:spAutoFit/>
          </a:bodyPr>
          <a:lstStyle/>
          <a:p>
            <a:pPr algn="ctr">
              <a:lnSpc>
                <a:spcPts val="3640"/>
              </a:lnSpc>
            </a:pPr>
            <a:r>
              <a:rPr lang="en-US" b="true" sz="2800" spc="-28">
                <a:solidFill>
                  <a:srgbClr val="4A60DD"/>
                </a:solidFill>
                <a:latin typeface="Tlab 돋움 레귤러 Bold"/>
                <a:ea typeface="Tlab 돋움 레귤러 Bold"/>
                <a:cs typeface="Tlab 돋움 레귤러 Bold"/>
                <a:sym typeface="Tlab 돋움 레귤러 Bold"/>
              </a:rPr>
              <a:t>브랜드 </a:t>
            </a:r>
          </a:p>
          <a:p>
            <a:pPr algn="ctr">
              <a:lnSpc>
                <a:spcPts val="3640"/>
              </a:lnSpc>
            </a:pPr>
            <a:r>
              <a:rPr lang="en-US" b="true" sz="2800" spc="-28">
                <a:solidFill>
                  <a:srgbClr val="4A60DD"/>
                </a:solidFill>
                <a:latin typeface="Tlab 돋움 레귤러 Bold"/>
                <a:ea typeface="Tlab 돋움 레귤러 Bold"/>
                <a:cs typeface="Tlab 돋움 레귤러 Bold"/>
                <a:sym typeface="Tlab 돋움 레귤러 Bold"/>
              </a:rPr>
              <a:t>인지도 향상</a:t>
            </a:r>
          </a:p>
        </p:txBody>
      </p:sp>
      <p:sp>
        <p:nvSpPr>
          <p:cNvPr name="TextBox 20" id="20"/>
          <p:cNvSpPr txBox="true"/>
          <p:nvPr/>
        </p:nvSpPr>
        <p:spPr>
          <a:xfrm rot="0">
            <a:off x="1679234" y="7811039"/>
            <a:ext cx="3925776" cy="860425"/>
          </a:xfrm>
          <a:prstGeom prst="rect">
            <a:avLst/>
          </a:prstGeom>
        </p:spPr>
        <p:txBody>
          <a:bodyPr anchor="t" rtlCol="false" tIns="0" lIns="0" bIns="0" rIns="0">
            <a:spAutoFit/>
          </a:bodyPr>
          <a:lstStyle/>
          <a:p>
            <a:pPr algn="ctr">
              <a:lnSpc>
                <a:spcPts val="3499"/>
              </a:lnSpc>
            </a:pPr>
            <a:r>
              <a:rPr lang="en-US" sz="2499" b="true">
                <a:solidFill>
                  <a:srgbClr val="4A60DD"/>
                </a:solidFill>
                <a:latin typeface="Tlab 돋움 레귤러 Bold"/>
                <a:ea typeface="Tlab 돋움 레귤러 Bold"/>
                <a:cs typeface="Tlab 돋움 레귤러 Bold"/>
                <a:sym typeface="Tlab 돋움 레귤러 Bold"/>
              </a:rPr>
              <a:t>타겟팅과 데이터 분석을 통한 </a:t>
            </a:r>
          </a:p>
          <a:p>
            <a:pPr algn="ctr">
              <a:lnSpc>
                <a:spcPts val="3499"/>
              </a:lnSpc>
            </a:pPr>
            <a:r>
              <a:rPr lang="en-US" b="true" sz="2499">
                <a:solidFill>
                  <a:srgbClr val="4A60DD"/>
                </a:solidFill>
                <a:latin typeface="Tlab 돋움 레귤러 Bold"/>
                <a:ea typeface="Tlab 돋움 레귤러 Bold"/>
                <a:cs typeface="Tlab 돋움 레귤러 Bold"/>
                <a:sym typeface="Tlab 돋움 레귤러 Bold"/>
              </a:rPr>
              <a:t>효율적인 광고 집행</a:t>
            </a:r>
          </a:p>
        </p:txBody>
      </p:sp>
      <p:sp>
        <p:nvSpPr>
          <p:cNvPr name="TextBox 21" id="21"/>
          <p:cNvSpPr txBox="true"/>
          <p:nvPr/>
        </p:nvSpPr>
        <p:spPr>
          <a:xfrm rot="0">
            <a:off x="7080545" y="7811039"/>
            <a:ext cx="3925776" cy="860425"/>
          </a:xfrm>
          <a:prstGeom prst="rect">
            <a:avLst/>
          </a:prstGeom>
        </p:spPr>
        <p:txBody>
          <a:bodyPr anchor="t" rtlCol="false" tIns="0" lIns="0" bIns="0" rIns="0">
            <a:spAutoFit/>
          </a:bodyPr>
          <a:lstStyle/>
          <a:p>
            <a:pPr algn="ctr">
              <a:lnSpc>
                <a:spcPts val="3499"/>
              </a:lnSpc>
            </a:pPr>
            <a:r>
              <a:rPr lang="en-US" sz="2499" b="true">
                <a:solidFill>
                  <a:srgbClr val="4A60DD"/>
                </a:solidFill>
                <a:latin typeface="Tlab 돋움 레귤러 Bold"/>
                <a:ea typeface="Tlab 돋움 레귤러 Bold"/>
                <a:cs typeface="Tlab 돋움 레귤러 Bold"/>
                <a:sym typeface="Tlab 돋움 레귤러 Bold"/>
              </a:rPr>
              <a:t>전환율 증가와 고객 획득</a:t>
            </a:r>
          </a:p>
          <a:p>
            <a:pPr algn="ctr">
              <a:lnSpc>
                <a:spcPts val="3499"/>
              </a:lnSpc>
            </a:pPr>
            <a:r>
              <a:rPr lang="en-US" b="true" sz="2499">
                <a:solidFill>
                  <a:srgbClr val="4A60DD"/>
                </a:solidFill>
                <a:latin typeface="Tlab 돋움 레귤러 Bold"/>
                <a:ea typeface="Tlab 돋움 레귤러 Bold"/>
                <a:cs typeface="Tlab 돋움 레귤러 Bold"/>
                <a:sym typeface="Tlab 돋움 레귤러 Bold"/>
              </a:rPr>
              <a:t>비용 절감을 통한 수익성 강화</a:t>
            </a:r>
          </a:p>
        </p:txBody>
      </p:sp>
      <p:sp>
        <p:nvSpPr>
          <p:cNvPr name="TextBox 22" id="22"/>
          <p:cNvSpPr txBox="true"/>
          <p:nvPr/>
        </p:nvSpPr>
        <p:spPr>
          <a:xfrm rot="0">
            <a:off x="12803258" y="7811039"/>
            <a:ext cx="3925776" cy="860425"/>
          </a:xfrm>
          <a:prstGeom prst="rect">
            <a:avLst/>
          </a:prstGeom>
        </p:spPr>
        <p:txBody>
          <a:bodyPr anchor="t" rtlCol="false" tIns="0" lIns="0" bIns="0" rIns="0">
            <a:spAutoFit/>
          </a:bodyPr>
          <a:lstStyle/>
          <a:p>
            <a:pPr algn="ctr">
              <a:lnSpc>
                <a:spcPts val="3499"/>
              </a:lnSpc>
            </a:pPr>
            <a:r>
              <a:rPr lang="en-US" b="true" sz="2499">
                <a:solidFill>
                  <a:srgbClr val="4A60DD"/>
                </a:solidFill>
                <a:latin typeface="Tlab 돋움 레귤러 Bold"/>
                <a:ea typeface="Tlab 돋움 레귤러 Bold"/>
                <a:cs typeface="Tlab 돋움 레귤러 Bold"/>
                <a:sym typeface="Tlab 돋움 레귤러 Bold"/>
              </a:rPr>
              <a:t>소셜 미디어 및 인플루언서를 통한 브랜드 확장</a:t>
            </a:r>
          </a:p>
        </p:txBody>
      </p:sp>
      <p:grpSp>
        <p:nvGrpSpPr>
          <p:cNvPr name="Group 23" id="23"/>
          <p:cNvGrpSpPr/>
          <p:nvPr/>
        </p:nvGrpSpPr>
        <p:grpSpPr>
          <a:xfrm rot="0">
            <a:off x="8799287" y="6683280"/>
            <a:ext cx="488291" cy="855436"/>
            <a:chOff x="0" y="0"/>
            <a:chExt cx="651054" cy="1140581"/>
          </a:xfrm>
        </p:grpSpPr>
        <p:sp>
          <p:nvSpPr>
            <p:cNvPr name="Freeform 24" id="24"/>
            <p:cNvSpPr/>
            <p:nvPr/>
          </p:nvSpPr>
          <p:spPr>
            <a:xfrm flipH="false" flipV="false" rot="5400000">
              <a:off x="107788" y="597315"/>
              <a:ext cx="435479" cy="651054"/>
            </a:xfrm>
            <a:custGeom>
              <a:avLst/>
              <a:gdLst/>
              <a:ahLst/>
              <a:cxnLst/>
              <a:rect r="r" b="b" t="t" l="l"/>
              <a:pathLst>
                <a:path h="651054" w="435479">
                  <a:moveTo>
                    <a:pt x="0" y="0"/>
                  </a:moveTo>
                  <a:lnTo>
                    <a:pt x="435479" y="0"/>
                  </a:lnTo>
                  <a:lnTo>
                    <a:pt x="435479" y="651054"/>
                  </a:lnTo>
                  <a:lnTo>
                    <a:pt x="0" y="651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5400000">
              <a:off x="107788" y="242837"/>
              <a:ext cx="435479" cy="651054"/>
            </a:xfrm>
            <a:custGeom>
              <a:avLst/>
              <a:gdLst/>
              <a:ahLst/>
              <a:cxnLst/>
              <a:rect r="r" b="b" t="t" l="l"/>
              <a:pathLst>
                <a:path h="651054" w="435479">
                  <a:moveTo>
                    <a:pt x="0" y="0"/>
                  </a:moveTo>
                  <a:lnTo>
                    <a:pt x="435479" y="0"/>
                  </a:lnTo>
                  <a:lnTo>
                    <a:pt x="435479" y="651055"/>
                  </a:lnTo>
                  <a:lnTo>
                    <a:pt x="0" y="6510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5400000">
              <a:off x="107788" y="-107788"/>
              <a:ext cx="435479" cy="651054"/>
            </a:xfrm>
            <a:custGeom>
              <a:avLst/>
              <a:gdLst/>
              <a:ahLst/>
              <a:cxnLst/>
              <a:rect r="r" b="b" t="t" l="l"/>
              <a:pathLst>
                <a:path h="651054" w="435479">
                  <a:moveTo>
                    <a:pt x="0" y="0"/>
                  </a:moveTo>
                  <a:lnTo>
                    <a:pt x="435479" y="0"/>
                  </a:lnTo>
                  <a:lnTo>
                    <a:pt x="435479" y="651055"/>
                  </a:lnTo>
                  <a:lnTo>
                    <a:pt x="0" y="6510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27" id="27"/>
          <p:cNvGrpSpPr/>
          <p:nvPr/>
        </p:nvGrpSpPr>
        <p:grpSpPr>
          <a:xfrm rot="0">
            <a:off x="14522001" y="6683280"/>
            <a:ext cx="488291" cy="855436"/>
            <a:chOff x="0" y="0"/>
            <a:chExt cx="651054" cy="1140581"/>
          </a:xfrm>
        </p:grpSpPr>
        <p:sp>
          <p:nvSpPr>
            <p:cNvPr name="Freeform 28" id="28"/>
            <p:cNvSpPr/>
            <p:nvPr/>
          </p:nvSpPr>
          <p:spPr>
            <a:xfrm flipH="false" flipV="false" rot="5400000">
              <a:off x="107788" y="597315"/>
              <a:ext cx="435479" cy="651054"/>
            </a:xfrm>
            <a:custGeom>
              <a:avLst/>
              <a:gdLst/>
              <a:ahLst/>
              <a:cxnLst/>
              <a:rect r="r" b="b" t="t" l="l"/>
              <a:pathLst>
                <a:path h="651054" w="435479">
                  <a:moveTo>
                    <a:pt x="0" y="0"/>
                  </a:moveTo>
                  <a:lnTo>
                    <a:pt x="435479" y="0"/>
                  </a:lnTo>
                  <a:lnTo>
                    <a:pt x="435479" y="651054"/>
                  </a:lnTo>
                  <a:lnTo>
                    <a:pt x="0" y="651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9" id="29"/>
            <p:cNvSpPr/>
            <p:nvPr/>
          </p:nvSpPr>
          <p:spPr>
            <a:xfrm flipH="false" flipV="false" rot="5400000">
              <a:off x="107788" y="242837"/>
              <a:ext cx="435479" cy="651054"/>
            </a:xfrm>
            <a:custGeom>
              <a:avLst/>
              <a:gdLst/>
              <a:ahLst/>
              <a:cxnLst/>
              <a:rect r="r" b="b" t="t" l="l"/>
              <a:pathLst>
                <a:path h="651054" w="435479">
                  <a:moveTo>
                    <a:pt x="0" y="0"/>
                  </a:moveTo>
                  <a:lnTo>
                    <a:pt x="435479" y="0"/>
                  </a:lnTo>
                  <a:lnTo>
                    <a:pt x="435479" y="651055"/>
                  </a:lnTo>
                  <a:lnTo>
                    <a:pt x="0" y="6510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5400000">
              <a:off x="107788" y="-107788"/>
              <a:ext cx="435479" cy="651054"/>
            </a:xfrm>
            <a:custGeom>
              <a:avLst/>
              <a:gdLst/>
              <a:ahLst/>
              <a:cxnLst/>
              <a:rect r="r" b="b" t="t" l="l"/>
              <a:pathLst>
                <a:path h="651054" w="435479">
                  <a:moveTo>
                    <a:pt x="0" y="0"/>
                  </a:moveTo>
                  <a:lnTo>
                    <a:pt x="435479" y="0"/>
                  </a:lnTo>
                  <a:lnTo>
                    <a:pt x="435479" y="651055"/>
                  </a:lnTo>
                  <a:lnTo>
                    <a:pt x="0" y="6510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31" id="31"/>
          <p:cNvGrpSpPr/>
          <p:nvPr/>
        </p:nvGrpSpPr>
        <p:grpSpPr>
          <a:xfrm rot="0">
            <a:off x="3374092" y="6683280"/>
            <a:ext cx="488291" cy="855436"/>
            <a:chOff x="0" y="0"/>
            <a:chExt cx="651054" cy="1140581"/>
          </a:xfrm>
        </p:grpSpPr>
        <p:sp>
          <p:nvSpPr>
            <p:cNvPr name="Freeform 32" id="32"/>
            <p:cNvSpPr/>
            <p:nvPr/>
          </p:nvSpPr>
          <p:spPr>
            <a:xfrm flipH="false" flipV="false" rot="5400000">
              <a:off x="107788" y="597315"/>
              <a:ext cx="435479" cy="651054"/>
            </a:xfrm>
            <a:custGeom>
              <a:avLst/>
              <a:gdLst/>
              <a:ahLst/>
              <a:cxnLst/>
              <a:rect r="r" b="b" t="t" l="l"/>
              <a:pathLst>
                <a:path h="651054" w="435479">
                  <a:moveTo>
                    <a:pt x="0" y="0"/>
                  </a:moveTo>
                  <a:lnTo>
                    <a:pt x="435479" y="0"/>
                  </a:lnTo>
                  <a:lnTo>
                    <a:pt x="435479" y="651054"/>
                  </a:lnTo>
                  <a:lnTo>
                    <a:pt x="0" y="651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3" id="33"/>
            <p:cNvSpPr/>
            <p:nvPr/>
          </p:nvSpPr>
          <p:spPr>
            <a:xfrm flipH="false" flipV="false" rot="5400000">
              <a:off x="107788" y="242837"/>
              <a:ext cx="435479" cy="651054"/>
            </a:xfrm>
            <a:custGeom>
              <a:avLst/>
              <a:gdLst/>
              <a:ahLst/>
              <a:cxnLst/>
              <a:rect r="r" b="b" t="t" l="l"/>
              <a:pathLst>
                <a:path h="651054" w="435479">
                  <a:moveTo>
                    <a:pt x="0" y="0"/>
                  </a:moveTo>
                  <a:lnTo>
                    <a:pt x="435479" y="0"/>
                  </a:lnTo>
                  <a:lnTo>
                    <a:pt x="435479" y="651055"/>
                  </a:lnTo>
                  <a:lnTo>
                    <a:pt x="0" y="6510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4" id="34"/>
            <p:cNvSpPr/>
            <p:nvPr/>
          </p:nvSpPr>
          <p:spPr>
            <a:xfrm flipH="false" flipV="false" rot="5400000">
              <a:off x="107788" y="-107788"/>
              <a:ext cx="435479" cy="651054"/>
            </a:xfrm>
            <a:custGeom>
              <a:avLst/>
              <a:gdLst/>
              <a:ahLst/>
              <a:cxnLst/>
              <a:rect r="r" b="b" t="t" l="l"/>
              <a:pathLst>
                <a:path h="651054" w="435479">
                  <a:moveTo>
                    <a:pt x="0" y="0"/>
                  </a:moveTo>
                  <a:lnTo>
                    <a:pt x="435479" y="0"/>
                  </a:lnTo>
                  <a:lnTo>
                    <a:pt x="435479" y="651055"/>
                  </a:lnTo>
                  <a:lnTo>
                    <a:pt x="0" y="65105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EDEDEE"/>
        </a:solidFill>
      </p:bgPr>
    </p:bg>
    <p:spTree>
      <p:nvGrpSpPr>
        <p:cNvPr id="1" name=""/>
        <p:cNvGrpSpPr/>
        <p:nvPr/>
      </p:nvGrpSpPr>
      <p:grpSpPr>
        <a:xfrm>
          <a:off x="0" y="0"/>
          <a:ext cx="0" cy="0"/>
          <a:chOff x="0" y="0"/>
          <a:chExt cx="0" cy="0"/>
        </a:xfrm>
      </p:grpSpPr>
      <p:sp>
        <p:nvSpPr>
          <p:cNvPr name="TextBox 2" id="2"/>
          <p:cNvSpPr txBox="true"/>
          <p:nvPr/>
        </p:nvSpPr>
        <p:spPr>
          <a:xfrm rot="0">
            <a:off x="1541389" y="4092832"/>
            <a:ext cx="9138809" cy="1263013"/>
          </a:xfrm>
          <a:prstGeom prst="rect">
            <a:avLst/>
          </a:prstGeom>
        </p:spPr>
        <p:txBody>
          <a:bodyPr anchor="t" rtlCol="false" tIns="0" lIns="0" bIns="0" rIns="0">
            <a:spAutoFit/>
          </a:bodyPr>
          <a:lstStyle/>
          <a:p>
            <a:pPr algn="l">
              <a:lnSpc>
                <a:spcPts val="10080"/>
              </a:lnSpc>
            </a:pPr>
            <a:r>
              <a:rPr lang="en-US" b="true" sz="8000" spc="-240">
                <a:solidFill>
                  <a:srgbClr val="4A60DD"/>
                </a:solidFill>
                <a:latin typeface="Tlab 돋움 레귤러 Bold"/>
                <a:ea typeface="Tlab 돋움 레귤러 Bold"/>
                <a:cs typeface="Tlab 돋움 레귤러 Bold"/>
                <a:sym typeface="Tlab 돋움 레귤러 Bold"/>
              </a:rPr>
              <a:t>감사합니다.</a:t>
            </a:r>
          </a:p>
        </p:txBody>
      </p:sp>
      <p:sp>
        <p:nvSpPr>
          <p:cNvPr name="TextBox 3" id="3"/>
          <p:cNvSpPr txBox="true"/>
          <p:nvPr/>
        </p:nvSpPr>
        <p:spPr>
          <a:xfrm rot="1877031">
            <a:off x="14763912" y="1412784"/>
            <a:ext cx="2534826" cy="1080599"/>
          </a:xfrm>
          <a:prstGeom prst="rect">
            <a:avLst/>
          </a:prstGeom>
        </p:spPr>
        <p:txBody>
          <a:bodyPr anchor="t" rtlCol="false" tIns="0" lIns="0" bIns="0" rIns="0">
            <a:spAutoFit/>
          </a:bodyPr>
          <a:lstStyle/>
          <a:p>
            <a:pPr algn="l">
              <a:lnSpc>
                <a:spcPts val="3455"/>
              </a:lnSpc>
            </a:pPr>
            <a:r>
              <a:rPr lang="en-US" b="true" sz="3455" spc="307">
                <a:solidFill>
                  <a:srgbClr val="4A60DD"/>
                </a:solidFill>
                <a:latin typeface="Cabin Bold"/>
                <a:ea typeface="Cabin Bold"/>
                <a:cs typeface="Cabin Bold"/>
                <a:sym typeface="Cabin Bold"/>
              </a:rPr>
              <a:t>THANK YOU</a:t>
            </a:r>
          </a:p>
        </p:txBody>
      </p:sp>
      <p:grpSp>
        <p:nvGrpSpPr>
          <p:cNvPr name="Group 4" id="4"/>
          <p:cNvGrpSpPr/>
          <p:nvPr/>
        </p:nvGrpSpPr>
        <p:grpSpPr>
          <a:xfrm rot="0">
            <a:off x="15336663" y="2179104"/>
            <a:ext cx="711974" cy="711974"/>
            <a:chOff x="0" y="0"/>
            <a:chExt cx="949298" cy="949298"/>
          </a:xfrm>
        </p:grpSpPr>
        <p:sp>
          <p:nvSpPr>
            <p:cNvPr name="AutoShape 5" id="5"/>
            <p:cNvSpPr/>
            <p:nvPr/>
          </p:nvSpPr>
          <p:spPr>
            <a:xfrm>
              <a:off x="0" y="474649"/>
              <a:ext cx="949298" cy="0"/>
            </a:xfrm>
            <a:prstGeom prst="line">
              <a:avLst/>
            </a:prstGeom>
            <a:ln cap="flat" w="152400">
              <a:solidFill>
                <a:srgbClr val="4A60DD"/>
              </a:solidFill>
              <a:prstDash val="solid"/>
              <a:headEnd type="none" len="sm" w="sm"/>
              <a:tailEnd type="none" len="sm" w="sm"/>
            </a:ln>
          </p:spPr>
        </p:sp>
        <p:sp>
          <p:nvSpPr>
            <p:cNvPr name="AutoShape 6" id="6"/>
            <p:cNvSpPr/>
            <p:nvPr/>
          </p:nvSpPr>
          <p:spPr>
            <a:xfrm flipV="true">
              <a:off x="474649" y="0"/>
              <a:ext cx="0" cy="949298"/>
            </a:xfrm>
            <a:prstGeom prst="line">
              <a:avLst/>
            </a:prstGeom>
            <a:ln cap="flat" w="152400">
              <a:solidFill>
                <a:srgbClr val="4A60DD"/>
              </a:solidFill>
              <a:prstDash val="solid"/>
              <a:headEnd type="none" len="sm" w="sm"/>
              <a:tailEnd type="none" len="sm" w="sm"/>
            </a:ln>
          </p:spPr>
        </p:sp>
        <p:sp>
          <p:nvSpPr>
            <p:cNvPr name="AutoShape 7" id="7"/>
            <p:cNvSpPr/>
            <p:nvPr/>
          </p:nvSpPr>
          <p:spPr>
            <a:xfrm flipV="true">
              <a:off x="139021" y="139021"/>
              <a:ext cx="671255" cy="671255"/>
            </a:xfrm>
            <a:prstGeom prst="line">
              <a:avLst/>
            </a:prstGeom>
            <a:ln cap="flat" w="152400">
              <a:solidFill>
                <a:srgbClr val="4A60DD"/>
              </a:solidFill>
              <a:prstDash val="solid"/>
              <a:headEnd type="none" len="sm" w="sm"/>
              <a:tailEnd type="none" len="sm" w="sm"/>
            </a:ln>
          </p:spPr>
        </p:sp>
        <p:sp>
          <p:nvSpPr>
            <p:cNvPr name="AutoShape 8" id="8"/>
            <p:cNvSpPr/>
            <p:nvPr/>
          </p:nvSpPr>
          <p:spPr>
            <a:xfrm flipH="true" flipV="true">
              <a:off x="139021" y="139021"/>
              <a:ext cx="671255" cy="671255"/>
            </a:xfrm>
            <a:prstGeom prst="line">
              <a:avLst/>
            </a:prstGeom>
            <a:ln cap="flat" w="152400">
              <a:solidFill>
                <a:srgbClr val="4A60DD"/>
              </a:solidFill>
              <a:prstDash val="solid"/>
              <a:headEnd type="none" len="sm" w="sm"/>
              <a:tailEnd type="none" len="sm" w="sm"/>
            </a:ln>
          </p:spPr>
        </p:sp>
      </p:grpSp>
      <p:sp>
        <p:nvSpPr>
          <p:cNvPr name="TextBox 9" id="9"/>
          <p:cNvSpPr txBox="true"/>
          <p:nvPr/>
        </p:nvSpPr>
        <p:spPr>
          <a:xfrm rot="0">
            <a:off x="1602495" y="6698458"/>
            <a:ext cx="8095966" cy="2196718"/>
          </a:xfrm>
          <a:prstGeom prst="rect">
            <a:avLst/>
          </a:prstGeom>
        </p:spPr>
        <p:txBody>
          <a:bodyPr anchor="t" rtlCol="false" tIns="0" lIns="0" bIns="0" rIns="0">
            <a:spAutoFit/>
          </a:bodyPr>
          <a:lstStyle/>
          <a:p>
            <a:pPr algn="l">
              <a:lnSpc>
                <a:spcPts val="4498"/>
              </a:lnSpc>
            </a:pPr>
            <a:r>
              <a:rPr lang="en-US" sz="2600" spc="343">
                <a:solidFill>
                  <a:srgbClr val="4A60DD"/>
                </a:solidFill>
                <a:latin typeface="Cabin"/>
                <a:ea typeface="Cabin"/>
                <a:cs typeface="Cabin"/>
                <a:sym typeface="Cabin"/>
              </a:rPr>
              <a:t>123 Anywhere St., Any City</a:t>
            </a:r>
          </a:p>
          <a:p>
            <a:pPr algn="l">
              <a:lnSpc>
                <a:spcPts val="4498"/>
              </a:lnSpc>
            </a:pPr>
            <a:r>
              <a:rPr lang="en-US" sz="2600" spc="343">
                <a:solidFill>
                  <a:srgbClr val="4A60DD"/>
                </a:solidFill>
                <a:latin typeface="Cabin"/>
                <a:ea typeface="Cabin"/>
                <a:cs typeface="Cabin"/>
                <a:sym typeface="Cabin"/>
              </a:rPr>
              <a:t>+123-456-7890</a:t>
            </a:r>
          </a:p>
          <a:p>
            <a:pPr algn="l">
              <a:lnSpc>
                <a:spcPts val="4498"/>
              </a:lnSpc>
            </a:pPr>
            <a:r>
              <a:rPr lang="en-US" sz="2600" spc="343">
                <a:solidFill>
                  <a:srgbClr val="4A60DD"/>
                </a:solidFill>
                <a:latin typeface="Cabin"/>
                <a:ea typeface="Cabin"/>
                <a:cs typeface="Cabin"/>
                <a:sym typeface="Cabin"/>
              </a:rPr>
              <a:t>hello@reallygreatsite.com</a:t>
            </a:r>
          </a:p>
          <a:p>
            <a:pPr algn="l">
              <a:lnSpc>
                <a:spcPts val="4498"/>
              </a:lnSpc>
            </a:pPr>
            <a:r>
              <a:rPr lang="en-US" sz="2600" spc="343">
                <a:solidFill>
                  <a:srgbClr val="4A60DD"/>
                </a:solidFill>
                <a:latin typeface="Cabin"/>
                <a:ea typeface="Cabin"/>
                <a:cs typeface="Cabin"/>
                <a:sym typeface="Cabin"/>
              </a:rPr>
              <a:t>@reallygreatsite</a:t>
            </a:r>
          </a:p>
        </p:txBody>
      </p:sp>
      <p:sp>
        <p:nvSpPr>
          <p:cNvPr name="TextBox 10" id="10"/>
          <p:cNvSpPr txBox="true"/>
          <p:nvPr/>
        </p:nvSpPr>
        <p:spPr>
          <a:xfrm rot="0">
            <a:off x="1602495" y="5610349"/>
            <a:ext cx="8095966" cy="983364"/>
          </a:xfrm>
          <a:prstGeom prst="rect">
            <a:avLst/>
          </a:prstGeom>
        </p:spPr>
        <p:txBody>
          <a:bodyPr anchor="t" rtlCol="false" tIns="0" lIns="0" bIns="0" rIns="0">
            <a:spAutoFit/>
          </a:bodyPr>
          <a:lstStyle/>
          <a:p>
            <a:pPr algn="l">
              <a:lnSpc>
                <a:spcPts val="8891"/>
              </a:lnSpc>
            </a:pPr>
            <a:r>
              <a:rPr lang="en-US" b="true" sz="3799" spc="216">
                <a:solidFill>
                  <a:srgbClr val="4A60DD"/>
                </a:solidFill>
                <a:latin typeface="Cabin Bold"/>
                <a:ea typeface="Cabin Bold"/>
                <a:cs typeface="Cabin Bold"/>
                <a:sym typeface="Cabin Bold"/>
              </a:rPr>
              <a:t>CONTACT.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DAHLaCfIgAg</dc:identifier>
  <dcterms:modified xsi:type="dcterms:W3CDTF">2011-08-01T06:04:30Z</dcterms:modified>
  <cp:revision>1</cp:revision>
  <dc:title>회색 남색 깔끔한 프로젝트 소개 프레젠테이션</dc:title>
</cp:coreProperties>
</file>